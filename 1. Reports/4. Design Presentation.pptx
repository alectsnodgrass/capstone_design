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3"/>
  </p:notesMasterIdLst>
  <p:sldIdLst>
    <p:sldId id="256" r:id="rId5"/>
    <p:sldId id="257" r:id="rId6"/>
    <p:sldId id="264" r:id="rId7"/>
    <p:sldId id="288" r:id="rId8"/>
    <p:sldId id="278" r:id="rId9"/>
    <p:sldId id="309" r:id="rId10"/>
    <p:sldId id="306" r:id="rId11"/>
    <p:sldId id="308" r:id="rId12"/>
    <p:sldId id="285" r:id="rId13"/>
    <p:sldId id="300" r:id="rId14"/>
    <p:sldId id="299" r:id="rId15"/>
    <p:sldId id="286" r:id="rId16"/>
    <p:sldId id="287" r:id="rId17"/>
    <p:sldId id="282" r:id="rId18"/>
    <p:sldId id="310" r:id="rId19"/>
    <p:sldId id="311" r:id="rId20"/>
    <p:sldId id="312" r:id="rId21"/>
    <p:sldId id="313" r:id="rId22"/>
    <p:sldId id="314" r:id="rId23"/>
    <p:sldId id="316" r:id="rId24"/>
    <p:sldId id="290" r:id="rId25"/>
    <p:sldId id="291" r:id="rId26"/>
    <p:sldId id="292" r:id="rId27"/>
    <p:sldId id="298" r:id="rId28"/>
    <p:sldId id="280" r:id="rId29"/>
    <p:sldId id="301" r:id="rId30"/>
    <p:sldId id="302" r:id="rId31"/>
    <p:sldId id="27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6063EC3-FDAE-4897-843B-C436E5174694}">
          <p14:sldIdLst>
            <p14:sldId id="256"/>
            <p14:sldId id="257"/>
            <p14:sldId id="264"/>
            <p14:sldId id="288"/>
            <p14:sldId id="278"/>
            <p14:sldId id="309"/>
            <p14:sldId id="306"/>
            <p14:sldId id="308"/>
            <p14:sldId id="285"/>
            <p14:sldId id="300"/>
            <p14:sldId id="299"/>
            <p14:sldId id="286"/>
            <p14:sldId id="287"/>
            <p14:sldId id="282"/>
            <p14:sldId id="310"/>
            <p14:sldId id="311"/>
            <p14:sldId id="312"/>
            <p14:sldId id="313"/>
            <p14:sldId id="314"/>
            <p14:sldId id="316"/>
            <p14:sldId id="290"/>
            <p14:sldId id="291"/>
            <p14:sldId id="292"/>
            <p14:sldId id="298"/>
            <p14:sldId id="280"/>
            <p14:sldId id="301"/>
            <p14:sldId id="302"/>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CF03"/>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6D988A-56D0-8045-1810-09B628890F78}" v="73" dt="2026-05-04T03:33:19.643"/>
    <p1510:client id="{0A74EE58-0871-90DE-9021-9A778D4344A3}" v="489" dt="2026-05-04T16:45:19.668"/>
    <p1510:client id="{2462709F-6DB8-88B5-77AC-89A61ACC5DFC}" v="355" dt="2026-05-03T23:01:53.999"/>
    <p1510:client id="{29FC9507-030B-CAE4-EB36-675A084AEA66}" v="2" dt="2026-05-04T17:02:12.429"/>
    <p1510:client id="{46596632-57F3-4490-4013-24996884D89E}" v="66" dt="2026-05-04T16:22:21.738"/>
    <p1510:client id="{4CA2C179-063D-3AB1-9036-8AFDF9B54B9C}" v="46" dt="2026-05-04T15:41:53.411"/>
    <p1510:client id="{4F897656-7788-C833-4049-3EE23C718616}" v="27" dt="2026-05-04T15:37:06.080"/>
    <p1510:client id="{6CDBD597-400B-564B-3F24-B73A9309650A}" v="11" dt="2026-05-04T03:35:38.244"/>
    <p1510:client id="{83274E0B-6765-D24E-295A-8730AA09A849}" v="721" dt="2026-05-03T17:45:23.427"/>
    <p1510:client id="{8ED9E2EE-C84B-9BF2-469F-BC5D454CD909}" v="114" dt="2026-05-04T16:13:28.342"/>
    <p1510:client id="{91A8FB98-F1A9-327E-7629-76F587B6066D}" v="27" dt="2026-05-04T17:05:04.207"/>
    <p1510:client id="{B0785126-B861-4F83-9689-D22D1E96F806}" v="920" dt="2026-05-04T15:17:24.883"/>
    <p1510:client id="{B13CAEF2-B136-9C91-F674-ED9A2C180264}" v="1" dt="2026-05-04T02:34:43.274"/>
    <p1510:client id="{B534D07B-D8DD-7452-111E-D037BC03A289}" v="370" dt="2026-05-04T14:38:34.041"/>
    <p1510:client id="{B5F8FD21-B8D7-61D6-357B-5B6461558A72}" v="1009" dt="2026-05-04T05:20:54.978"/>
    <p1510:client id="{C2B21E55-C8A0-4648-BB21-A5B23146BEF5}" v="394" dt="2026-05-04T16:57:02.495"/>
    <p1510:client id="{DF7EEE05-F83A-BAA5-118A-5B98A6AE7576}" v="7" dt="2026-05-04T14:34:34.429"/>
    <p1510:client id="{E104CD01-6AD2-4DB8-844D-32A5A6F7F4B8}" v="5664" dt="2026-05-04T03:28:15.465"/>
    <p1510:client id="{F925D7A8-5910-1A2F-6B96-C2F4720CC4D8}" v="64" dt="2026-05-04T01:16:05.211"/>
    <p1510:client id="{FF54B851-2E2C-A7D9-EF18-5429FB08B19F}" v="1" dt="2026-05-04T15:20:52.45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34430D6-C8C2-4E24-B969-FE1CAE6B3FFF}" type="doc">
      <dgm:prSet loTypeId="urn:microsoft.com/office/officeart/2005/8/layout/lProcess1" loCatId="process" qsTypeId="urn:microsoft.com/office/officeart/2005/8/quickstyle/simple1" qsCatId="simple" csTypeId="urn:microsoft.com/office/officeart/2005/8/colors/accent1_2" csCatId="accent1" phldr="1"/>
      <dgm:spPr/>
      <dgm:t>
        <a:bodyPr/>
        <a:lstStyle/>
        <a:p>
          <a:endParaRPr lang="en-US"/>
        </a:p>
      </dgm:t>
    </dgm:pt>
    <dgm:pt modelId="{AAA97A44-91A1-499C-B5A6-AA80BE419461}">
      <dgm:prSet phldrT="[Text]" custT="1"/>
      <dgm:spPr>
        <a:solidFill>
          <a:srgbClr val="7030A0"/>
        </a:solidFill>
      </dgm:spPr>
      <dgm:t>
        <a:bodyPr/>
        <a:lstStyle/>
        <a:p>
          <a:r>
            <a:rPr lang="en-US" sz="2400">
              <a:solidFill>
                <a:srgbClr val="FECF03"/>
              </a:solidFill>
            </a:rPr>
            <a:t>Initial Condition</a:t>
          </a:r>
        </a:p>
      </dgm:t>
    </dgm:pt>
    <dgm:pt modelId="{9ABB7C64-9E55-4A7A-94C3-AF66933CE629}" type="parTrans" cxnId="{752654B3-9546-412F-BF29-6CD6E365D292}">
      <dgm:prSet/>
      <dgm:spPr/>
      <dgm:t>
        <a:bodyPr/>
        <a:lstStyle/>
        <a:p>
          <a:endParaRPr lang="en-US"/>
        </a:p>
      </dgm:t>
    </dgm:pt>
    <dgm:pt modelId="{C40F3CE6-E6B9-4EBF-820D-3AED13DBA4BF}" type="sibTrans" cxnId="{752654B3-9546-412F-BF29-6CD6E365D292}">
      <dgm:prSet/>
      <dgm:spPr/>
      <dgm:t>
        <a:bodyPr/>
        <a:lstStyle/>
        <a:p>
          <a:endParaRPr lang="en-US"/>
        </a:p>
      </dgm:t>
    </dgm:pt>
    <dgm:pt modelId="{34D628F6-1D65-4A72-B79B-7F72AC867CAD}">
      <dgm:prSet phldrT="[Text]" custT="1"/>
      <dgm:spPr>
        <a:solidFill>
          <a:srgbClr val="7030A0"/>
        </a:solidFill>
      </dgm:spPr>
      <dgm:t>
        <a:bodyPr/>
        <a:lstStyle/>
        <a:p>
          <a:pPr algn="l"/>
          <a:r>
            <a:rPr lang="en-US" sz="2400">
              <a:solidFill>
                <a:srgbClr val="FECF03"/>
              </a:solidFill>
              <a:highlight>
                <a:srgbClr val="7030A0"/>
              </a:highlight>
            </a:rPr>
            <a:t>      Breakdown</a:t>
          </a:r>
        </a:p>
      </dgm:t>
    </dgm:pt>
    <dgm:pt modelId="{F9158D88-39A7-4017-A731-38C81E3E6E93}" type="parTrans" cxnId="{A97B60B6-5086-4EDB-AA96-64B75C5B5E3A}">
      <dgm:prSet/>
      <dgm:spPr>
        <a:solidFill>
          <a:srgbClr val="FECF03"/>
        </a:solidFill>
      </dgm:spPr>
      <dgm:t>
        <a:bodyPr/>
        <a:lstStyle/>
        <a:p>
          <a:endParaRPr lang="en-US"/>
        </a:p>
      </dgm:t>
    </dgm:pt>
    <dgm:pt modelId="{781FC8EA-9DED-451D-A19C-78A7216597BE}" type="sibTrans" cxnId="{A97B60B6-5086-4EDB-AA96-64B75C5B5E3A}">
      <dgm:prSet/>
      <dgm:spPr>
        <a:solidFill>
          <a:srgbClr val="FECF03"/>
        </a:solidFill>
      </dgm:spPr>
      <dgm:t>
        <a:bodyPr/>
        <a:lstStyle/>
        <a:p>
          <a:endParaRPr lang="en-US"/>
        </a:p>
      </dgm:t>
    </dgm:pt>
    <dgm:pt modelId="{8B5733F9-7829-4B2F-8402-9EE601CBD285}">
      <dgm:prSet phldrT="[Text]" custT="1"/>
      <dgm:spPr>
        <a:solidFill>
          <a:srgbClr val="7030A0"/>
        </a:solidFill>
      </dgm:spPr>
      <dgm:t>
        <a:bodyPr/>
        <a:lstStyle/>
        <a:p>
          <a:r>
            <a:rPr lang="en-US" sz="2400">
              <a:solidFill>
                <a:srgbClr val="FECF03"/>
              </a:solidFill>
              <a:highlight>
                <a:srgbClr val="7030A0"/>
              </a:highlight>
            </a:rPr>
            <a:t>Assembly</a:t>
          </a:r>
        </a:p>
      </dgm:t>
    </dgm:pt>
    <dgm:pt modelId="{F645D7FF-CD2C-4A49-BCDE-96A7B9766F5F}" type="parTrans" cxnId="{36A7CCAF-401D-4D80-B13D-78D56C632FDC}">
      <dgm:prSet/>
      <dgm:spPr/>
      <dgm:t>
        <a:bodyPr/>
        <a:lstStyle/>
        <a:p>
          <a:endParaRPr lang="en-US"/>
        </a:p>
      </dgm:t>
    </dgm:pt>
    <dgm:pt modelId="{ECD482A3-56CA-4355-9F48-6F11BE4488EC}" type="sibTrans" cxnId="{36A7CCAF-401D-4D80-B13D-78D56C632FDC}">
      <dgm:prSet/>
      <dgm:spPr>
        <a:solidFill>
          <a:srgbClr val="FECF03"/>
        </a:solidFill>
      </dgm:spPr>
      <dgm:t>
        <a:bodyPr/>
        <a:lstStyle/>
        <a:p>
          <a:endParaRPr lang="en-US"/>
        </a:p>
      </dgm:t>
    </dgm:pt>
    <dgm:pt modelId="{2EF93360-C991-457E-BAE8-D91812B9F5F5}">
      <dgm:prSet phldrT="[Text]" custT="1"/>
      <dgm:spPr>
        <a:solidFill>
          <a:srgbClr val="7030A0"/>
        </a:solidFill>
      </dgm:spPr>
      <dgm:t>
        <a:bodyPr/>
        <a:lstStyle/>
        <a:p>
          <a:r>
            <a:rPr lang="en-US" sz="2400">
              <a:solidFill>
                <a:srgbClr val="FECF03"/>
              </a:solidFill>
            </a:rPr>
            <a:t>Documentation</a:t>
          </a:r>
        </a:p>
      </dgm:t>
    </dgm:pt>
    <dgm:pt modelId="{E3AE093C-976B-4EE0-9E01-7FED7AF2D72C}" type="parTrans" cxnId="{F6341D6A-C485-4B7D-99B0-4512DE09CEBE}">
      <dgm:prSet/>
      <dgm:spPr/>
      <dgm:t>
        <a:bodyPr/>
        <a:lstStyle/>
        <a:p>
          <a:endParaRPr lang="en-US"/>
        </a:p>
      </dgm:t>
    </dgm:pt>
    <dgm:pt modelId="{3D51CF47-1EE8-4C05-9B4B-1C02620066CF}" type="sibTrans" cxnId="{F6341D6A-C485-4B7D-99B0-4512DE09CEBE}">
      <dgm:prSet/>
      <dgm:spPr/>
      <dgm:t>
        <a:bodyPr/>
        <a:lstStyle/>
        <a:p>
          <a:endParaRPr lang="en-US"/>
        </a:p>
      </dgm:t>
    </dgm:pt>
    <dgm:pt modelId="{D4188AFA-94EC-4524-9DF9-7BA901E07A56}">
      <dgm:prSet phldrT="[Text]" custT="1"/>
      <dgm:spPr>
        <a:solidFill>
          <a:srgbClr val="7030A0"/>
        </a:solidFill>
      </dgm:spPr>
      <dgm:t>
        <a:bodyPr/>
        <a:lstStyle/>
        <a:p>
          <a:r>
            <a:rPr lang="en-US" sz="2400">
              <a:solidFill>
                <a:srgbClr val="FECF03"/>
              </a:solidFill>
              <a:highlight>
                <a:srgbClr val="7030A0"/>
              </a:highlight>
            </a:rPr>
            <a:t>Wiring </a:t>
          </a:r>
        </a:p>
      </dgm:t>
    </dgm:pt>
    <dgm:pt modelId="{CD950A09-C296-4E3D-A05C-0646B0A65480}" type="parTrans" cxnId="{A399A2E8-826B-439F-B84C-6FE54576B7DB}">
      <dgm:prSet/>
      <dgm:spPr/>
      <dgm:t>
        <a:bodyPr/>
        <a:lstStyle/>
        <a:p>
          <a:endParaRPr lang="en-US"/>
        </a:p>
      </dgm:t>
    </dgm:pt>
    <dgm:pt modelId="{442ADA0D-F529-4600-A315-7D7CA8C83461}" type="sibTrans" cxnId="{A399A2E8-826B-439F-B84C-6FE54576B7DB}">
      <dgm:prSet/>
      <dgm:spPr>
        <a:solidFill>
          <a:srgbClr val="FECF03"/>
        </a:solidFill>
      </dgm:spPr>
      <dgm:t>
        <a:bodyPr/>
        <a:lstStyle/>
        <a:p>
          <a:endParaRPr lang="en-US"/>
        </a:p>
      </dgm:t>
    </dgm:pt>
    <dgm:pt modelId="{DD3768E2-D544-41AE-BE38-E14E40627B9B}">
      <dgm:prSet phldrT="[Text]" custT="1"/>
      <dgm:spPr>
        <a:solidFill>
          <a:srgbClr val="7030A0"/>
        </a:solidFill>
      </dgm:spPr>
      <dgm:t>
        <a:bodyPr/>
        <a:lstStyle/>
        <a:p>
          <a:r>
            <a:rPr lang="en-US" sz="2400">
              <a:solidFill>
                <a:srgbClr val="FECF03"/>
              </a:solidFill>
              <a:highlight>
                <a:srgbClr val="7030A0"/>
              </a:highlight>
            </a:rPr>
            <a:t>Completed Retrofit </a:t>
          </a:r>
        </a:p>
      </dgm:t>
    </dgm:pt>
    <dgm:pt modelId="{3286DFCE-F651-4E91-8D09-AE2FBC57EE02}" type="parTrans" cxnId="{7D916E28-5295-4313-ADF5-92B96D674680}">
      <dgm:prSet/>
      <dgm:spPr/>
      <dgm:t>
        <a:bodyPr/>
        <a:lstStyle/>
        <a:p>
          <a:endParaRPr lang="en-US"/>
        </a:p>
      </dgm:t>
    </dgm:pt>
    <dgm:pt modelId="{E15D6C52-EA88-4D4C-9C29-35A6D700F2C1}" type="sibTrans" cxnId="{7D916E28-5295-4313-ADF5-92B96D674680}">
      <dgm:prSet/>
      <dgm:spPr>
        <a:solidFill>
          <a:srgbClr val="FECF03"/>
        </a:solidFill>
      </dgm:spPr>
      <dgm:t>
        <a:bodyPr/>
        <a:lstStyle/>
        <a:p>
          <a:endParaRPr lang="en-US"/>
        </a:p>
      </dgm:t>
    </dgm:pt>
    <dgm:pt modelId="{0D4729B2-BC56-4832-AF85-99A9E134C524}">
      <dgm:prSet phldrT="[Text]" custT="1"/>
      <dgm:spPr>
        <a:solidFill>
          <a:srgbClr val="7030A0"/>
        </a:solidFill>
      </dgm:spPr>
      <dgm:t>
        <a:bodyPr/>
        <a:lstStyle/>
        <a:p>
          <a:r>
            <a:rPr lang="en-US" sz="2400">
              <a:solidFill>
                <a:srgbClr val="FECF03"/>
              </a:solidFill>
              <a:highlight>
                <a:srgbClr val="7030A0"/>
              </a:highlight>
            </a:rPr>
            <a:t>Universal Retrofit</a:t>
          </a:r>
        </a:p>
      </dgm:t>
    </dgm:pt>
    <dgm:pt modelId="{A683ED2A-F9D4-417A-896E-C7ED7DE1B8D8}" type="parTrans" cxnId="{F8C3B364-8C19-48CE-B69B-FA7DE50A0E86}">
      <dgm:prSet/>
      <dgm:spPr/>
      <dgm:t>
        <a:bodyPr/>
        <a:lstStyle/>
        <a:p>
          <a:endParaRPr lang="en-US"/>
        </a:p>
      </dgm:t>
    </dgm:pt>
    <dgm:pt modelId="{0E933F80-2375-40E5-8897-281951B18AB8}" type="sibTrans" cxnId="{F8C3B364-8C19-48CE-B69B-FA7DE50A0E86}">
      <dgm:prSet/>
      <dgm:spPr/>
      <dgm:t>
        <a:bodyPr/>
        <a:lstStyle/>
        <a:p>
          <a:endParaRPr lang="en-US"/>
        </a:p>
      </dgm:t>
    </dgm:pt>
    <dgm:pt modelId="{82AAF253-7853-4AD8-BA56-A1EC48F060C5}" type="pres">
      <dgm:prSet presAssocID="{334430D6-C8C2-4E24-B969-FE1CAE6B3FFF}" presName="Name0" presStyleCnt="0">
        <dgm:presLayoutVars>
          <dgm:dir/>
          <dgm:animLvl val="lvl"/>
          <dgm:resizeHandles val="exact"/>
        </dgm:presLayoutVars>
      </dgm:prSet>
      <dgm:spPr/>
    </dgm:pt>
    <dgm:pt modelId="{CA3CA906-4A74-4C54-A837-6627657E34E6}" type="pres">
      <dgm:prSet presAssocID="{AAA97A44-91A1-499C-B5A6-AA80BE419461}" presName="vertFlow" presStyleCnt="0"/>
      <dgm:spPr/>
    </dgm:pt>
    <dgm:pt modelId="{83A27C6E-77A7-47F5-BC9D-07634F137CBF}" type="pres">
      <dgm:prSet presAssocID="{AAA97A44-91A1-499C-B5A6-AA80BE419461}" presName="header" presStyleLbl="node1" presStyleIdx="0" presStyleCnt="2" custLinFactNeighborX="625" custLinFactNeighborY="12437"/>
      <dgm:spPr/>
    </dgm:pt>
    <dgm:pt modelId="{E94AF8D7-348D-472B-840D-78058999273E}" type="pres">
      <dgm:prSet presAssocID="{F9158D88-39A7-4017-A731-38C81E3E6E93}" presName="parTrans" presStyleLbl="sibTrans2D1" presStyleIdx="0" presStyleCnt="5" custScaleX="194640" custScaleY="214575"/>
      <dgm:spPr/>
    </dgm:pt>
    <dgm:pt modelId="{77D0724A-8033-417B-9C4C-7E72F50EE869}" type="pres">
      <dgm:prSet presAssocID="{34D628F6-1D65-4A72-B79B-7F72AC867CAD}" presName="child" presStyleLbl="alignAccFollowNode1" presStyleIdx="0" presStyleCnt="5" custLinFactNeighborX="0" custLinFactNeighborY="-5301">
        <dgm:presLayoutVars>
          <dgm:chMax val="0"/>
          <dgm:bulletEnabled val="1"/>
        </dgm:presLayoutVars>
      </dgm:prSet>
      <dgm:spPr/>
    </dgm:pt>
    <dgm:pt modelId="{A3B328B2-90B5-410B-9D43-1CC4615B37BB}" type="pres">
      <dgm:prSet presAssocID="{781FC8EA-9DED-451D-A19C-78A7216597BE}" presName="sibTrans" presStyleLbl="sibTrans2D1" presStyleIdx="1" presStyleCnt="5" custScaleX="194640" custScaleY="214575"/>
      <dgm:spPr/>
    </dgm:pt>
    <dgm:pt modelId="{A4C38D77-B326-44FE-92AA-5F28C462B7ED}" type="pres">
      <dgm:prSet presAssocID="{8B5733F9-7829-4B2F-8402-9EE601CBD285}" presName="child" presStyleLbl="alignAccFollowNode1" presStyleIdx="1" presStyleCnt="5">
        <dgm:presLayoutVars>
          <dgm:chMax val="0"/>
          <dgm:bulletEnabled val="1"/>
        </dgm:presLayoutVars>
      </dgm:prSet>
      <dgm:spPr/>
    </dgm:pt>
    <dgm:pt modelId="{064AFBBF-B176-46EC-90B2-A91CFEAEA696}" type="pres">
      <dgm:prSet presAssocID="{ECD482A3-56CA-4355-9F48-6F11BE4488EC}" presName="sibTrans" presStyleLbl="sibTrans2D1" presStyleIdx="2" presStyleCnt="5" custScaleX="194640" custScaleY="214575"/>
      <dgm:spPr/>
    </dgm:pt>
    <dgm:pt modelId="{2518D9ED-859C-4888-9542-D834CCD72080}" type="pres">
      <dgm:prSet presAssocID="{D4188AFA-94EC-4524-9DF9-7BA901E07A56}" presName="child" presStyleLbl="alignAccFollowNode1" presStyleIdx="2" presStyleCnt="5">
        <dgm:presLayoutVars>
          <dgm:chMax val="0"/>
          <dgm:bulletEnabled val="1"/>
        </dgm:presLayoutVars>
      </dgm:prSet>
      <dgm:spPr/>
    </dgm:pt>
    <dgm:pt modelId="{359B8CE9-448A-4FD9-AFCF-007D52CD8766}" type="pres">
      <dgm:prSet presAssocID="{442ADA0D-F529-4600-A315-7D7CA8C83461}" presName="sibTrans" presStyleLbl="sibTrans2D1" presStyleIdx="3" presStyleCnt="5" custScaleX="194640" custScaleY="214575"/>
      <dgm:spPr/>
    </dgm:pt>
    <dgm:pt modelId="{3D052E65-9568-4756-9618-72FFA028D036}" type="pres">
      <dgm:prSet presAssocID="{DD3768E2-D544-41AE-BE38-E14E40627B9B}" presName="child" presStyleLbl="alignAccFollowNode1" presStyleIdx="3" presStyleCnt="5">
        <dgm:presLayoutVars>
          <dgm:chMax val="0"/>
          <dgm:bulletEnabled val="1"/>
        </dgm:presLayoutVars>
      </dgm:prSet>
      <dgm:spPr/>
    </dgm:pt>
    <dgm:pt modelId="{0B6860B0-F649-400F-A92C-9329D4CBB27C}" type="pres">
      <dgm:prSet presAssocID="{E15D6C52-EA88-4D4C-9C29-35A6D700F2C1}" presName="sibTrans" presStyleLbl="sibTrans2D1" presStyleIdx="4" presStyleCnt="5" custScaleX="194640" custScaleY="214575"/>
      <dgm:spPr/>
    </dgm:pt>
    <dgm:pt modelId="{E31E9E1F-682B-4AFF-9B96-1CBE0B70C5DC}" type="pres">
      <dgm:prSet presAssocID="{0D4729B2-BC56-4832-AF85-99A9E134C524}" presName="child" presStyleLbl="alignAccFollowNode1" presStyleIdx="4" presStyleCnt="5">
        <dgm:presLayoutVars>
          <dgm:chMax val="0"/>
          <dgm:bulletEnabled val="1"/>
        </dgm:presLayoutVars>
      </dgm:prSet>
      <dgm:spPr/>
    </dgm:pt>
    <dgm:pt modelId="{2168CE4F-08B7-47EA-B2AF-43E859779106}" type="pres">
      <dgm:prSet presAssocID="{AAA97A44-91A1-499C-B5A6-AA80BE419461}" presName="hSp" presStyleCnt="0"/>
      <dgm:spPr/>
    </dgm:pt>
    <dgm:pt modelId="{D9E7B5CA-CB44-4AB4-AC68-BDDE53FB5F6D}" type="pres">
      <dgm:prSet presAssocID="{2EF93360-C991-457E-BAE8-D91812B9F5F5}" presName="vertFlow" presStyleCnt="0"/>
      <dgm:spPr/>
    </dgm:pt>
    <dgm:pt modelId="{5290A07E-A1C3-4718-B7AC-7A9443DA09C5}" type="pres">
      <dgm:prSet presAssocID="{2EF93360-C991-457E-BAE8-D91812B9F5F5}" presName="header" presStyleLbl="node1" presStyleIdx="1" presStyleCnt="2" custScaleX="101304" custScaleY="776516" custLinFactNeighborX="-769" custLinFactNeighborY="-1413"/>
      <dgm:spPr/>
    </dgm:pt>
  </dgm:ptLst>
  <dgm:cxnLst>
    <dgm:cxn modelId="{7D916E28-5295-4313-ADF5-92B96D674680}" srcId="{AAA97A44-91A1-499C-B5A6-AA80BE419461}" destId="{DD3768E2-D544-41AE-BE38-E14E40627B9B}" srcOrd="3" destOrd="0" parTransId="{3286DFCE-F651-4E91-8D09-AE2FBC57EE02}" sibTransId="{E15D6C52-EA88-4D4C-9C29-35A6D700F2C1}"/>
    <dgm:cxn modelId="{FC713933-C0A4-4368-BBBA-533BAB2E6608}" type="presOf" srcId="{442ADA0D-F529-4600-A315-7D7CA8C83461}" destId="{359B8CE9-448A-4FD9-AFCF-007D52CD8766}" srcOrd="0" destOrd="0" presId="urn:microsoft.com/office/officeart/2005/8/layout/lProcess1"/>
    <dgm:cxn modelId="{82018E3B-4F2F-4449-9C6F-3CEE1844DA12}" type="presOf" srcId="{DD3768E2-D544-41AE-BE38-E14E40627B9B}" destId="{3D052E65-9568-4756-9618-72FFA028D036}" srcOrd="0" destOrd="0" presId="urn:microsoft.com/office/officeart/2005/8/layout/lProcess1"/>
    <dgm:cxn modelId="{8303565C-5DFA-462D-B0C3-108B06D986E9}" type="presOf" srcId="{ECD482A3-56CA-4355-9F48-6F11BE4488EC}" destId="{064AFBBF-B176-46EC-90B2-A91CFEAEA696}" srcOrd="0" destOrd="0" presId="urn:microsoft.com/office/officeart/2005/8/layout/lProcess1"/>
    <dgm:cxn modelId="{F8C3B364-8C19-48CE-B69B-FA7DE50A0E86}" srcId="{AAA97A44-91A1-499C-B5A6-AA80BE419461}" destId="{0D4729B2-BC56-4832-AF85-99A9E134C524}" srcOrd="4" destOrd="0" parTransId="{A683ED2A-F9D4-417A-896E-C7ED7DE1B8D8}" sibTransId="{0E933F80-2375-40E5-8897-281951B18AB8}"/>
    <dgm:cxn modelId="{F6341D6A-C485-4B7D-99B0-4512DE09CEBE}" srcId="{334430D6-C8C2-4E24-B969-FE1CAE6B3FFF}" destId="{2EF93360-C991-457E-BAE8-D91812B9F5F5}" srcOrd="1" destOrd="0" parTransId="{E3AE093C-976B-4EE0-9E01-7FED7AF2D72C}" sibTransId="{3D51CF47-1EE8-4C05-9B4B-1C02620066CF}"/>
    <dgm:cxn modelId="{4A537759-E379-4B38-B4B8-B869A8FF0AF3}" type="presOf" srcId="{0D4729B2-BC56-4832-AF85-99A9E134C524}" destId="{E31E9E1F-682B-4AFF-9B96-1CBE0B70C5DC}" srcOrd="0" destOrd="0" presId="urn:microsoft.com/office/officeart/2005/8/layout/lProcess1"/>
    <dgm:cxn modelId="{5410BE88-1B67-4990-B8E7-E6E27EA58D6A}" type="presOf" srcId="{334430D6-C8C2-4E24-B969-FE1CAE6B3FFF}" destId="{82AAF253-7853-4AD8-BA56-A1EC48F060C5}" srcOrd="0" destOrd="0" presId="urn:microsoft.com/office/officeart/2005/8/layout/lProcess1"/>
    <dgm:cxn modelId="{0156BB9E-4894-48AB-B5C2-E3F73DD8572A}" type="presOf" srcId="{2EF93360-C991-457E-BAE8-D91812B9F5F5}" destId="{5290A07E-A1C3-4718-B7AC-7A9443DA09C5}" srcOrd="0" destOrd="0" presId="urn:microsoft.com/office/officeart/2005/8/layout/lProcess1"/>
    <dgm:cxn modelId="{A352D2AC-DC1D-4327-A90A-754FCEED0599}" type="presOf" srcId="{E15D6C52-EA88-4D4C-9C29-35A6D700F2C1}" destId="{0B6860B0-F649-400F-A92C-9329D4CBB27C}" srcOrd="0" destOrd="0" presId="urn:microsoft.com/office/officeart/2005/8/layout/lProcess1"/>
    <dgm:cxn modelId="{36A7CCAF-401D-4D80-B13D-78D56C632FDC}" srcId="{AAA97A44-91A1-499C-B5A6-AA80BE419461}" destId="{8B5733F9-7829-4B2F-8402-9EE601CBD285}" srcOrd="1" destOrd="0" parTransId="{F645D7FF-CD2C-4A49-BCDE-96A7B9766F5F}" sibTransId="{ECD482A3-56CA-4355-9F48-6F11BE4488EC}"/>
    <dgm:cxn modelId="{752654B3-9546-412F-BF29-6CD6E365D292}" srcId="{334430D6-C8C2-4E24-B969-FE1CAE6B3FFF}" destId="{AAA97A44-91A1-499C-B5A6-AA80BE419461}" srcOrd="0" destOrd="0" parTransId="{9ABB7C64-9E55-4A7A-94C3-AF66933CE629}" sibTransId="{C40F3CE6-E6B9-4EBF-820D-3AED13DBA4BF}"/>
    <dgm:cxn modelId="{A97B60B6-5086-4EDB-AA96-64B75C5B5E3A}" srcId="{AAA97A44-91A1-499C-B5A6-AA80BE419461}" destId="{34D628F6-1D65-4A72-B79B-7F72AC867CAD}" srcOrd="0" destOrd="0" parTransId="{F9158D88-39A7-4017-A731-38C81E3E6E93}" sibTransId="{781FC8EA-9DED-451D-A19C-78A7216597BE}"/>
    <dgm:cxn modelId="{6BA272C8-A322-4EF6-8500-EB3F3FA82BDC}" type="presOf" srcId="{781FC8EA-9DED-451D-A19C-78A7216597BE}" destId="{A3B328B2-90B5-410B-9D43-1CC4615B37BB}" srcOrd="0" destOrd="0" presId="urn:microsoft.com/office/officeart/2005/8/layout/lProcess1"/>
    <dgm:cxn modelId="{74B164DE-A8DC-46E0-BA6B-7AB5178E5D6A}" type="presOf" srcId="{AAA97A44-91A1-499C-B5A6-AA80BE419461}" destId="{83A27C6E-77A7-47F5-BC9D-07634F137CBF}" srcOrd="0" destOrd="0" presId="urn:microsoft.com/office/officeart/2005/8/layout/lProcess1"/>
    <dgm:cxn modelId="{6C287EDF-F16F-4E28-B2C9-951663552CAE}" type="presOf" srcId="{8B5733F9-7829-4B2F-8402-9EE601CBD285}" destId="{A4C38D77-B326-44FE-92AA-5F28C462B7ED}" srcOrd="0" destOrd="0" presId="urn:microsoft.com/office/officeart/2005/8/layout/lProcess1"/>
    <dgm:cxn modelId="{A399A2E8-826B-439F-B84C-6FE54576B7DB}" srcId="{AAA97A44-91A1-499C-B5A6-AA80BE419461}" destId="{D4188AFA-94EC-4524-9DF9-7BA901E07A56}" srcOrd="2" destOrd="0" parTransId="{CD950A09-C296-4E3D-A05C-0646B0A65480}" sibTransId="{442ADA0D-F529-4600-A315-7D7CA8C83461}"/>
    <dgm:cxn modelId="{0CD01BE9-F2D3-4968-9AE2-3F35CDF9783D}" type="presOf" srcId="{F9158D88-39A7-4017-A731-38C81E3E6E93}" destId="{E94AF8D7-348D-472B-840D-78058999273E}" srcOrd="0" destOrd="0" presId="urn:microsoft.com/office/officeart/2005/8/layout/lProcess1"/>
    <dgm:cxn modelId="{AF60ECF3-1AAD-4D39-B094-C292672BB703}" type="presOf" srcId="{D4188AFA-94EC-4524-9DF9-7BA901E07A56}" destId="{2518D9ED-859C-4888-9542-D834CCD72080}" srcOrd="0" destOrd="0" presId="urn:microsoft.com/office/officeart/2005/8/layout/lProcess1"/>
    <dgm:cxn modelId="{C9C65FF9-EC5F-4C45-A31F-DF65CDF18570}" type="presOf" srcId="{34D628F6-1D65-4A72-B79B-7F72AC867CAD}" destId="{77D0724A-8033-417B-9C4C-7E72F50EE869}" srcOrd="0" destOrd="0" presId="urn:microsoft.com/office/officeart/2005/8/layout/lProcess1"/>
    <dgm:cxn modelId="{C951E7CE-37DC-4281-BCE6-ADE1B318D279}" type="presParOf" srcId="{82AAF253-7853-4AD8-BA56-A1EC48F060C5}" destId="{CA3CA906-4A74-4C54-A837-6627657E34E6}" srcOrd="0" destOrd="0" presId="urn:microsoft.com/office/officeart/2005/8/layout/lProcess1"/>
    <dgm:cxn modelId="{B513E5EF-416A-4779-B67B-4C476B0792DA}" type="presParOf" srcId="{CA3CA906-4A74-4C54-A837-6627657E34E6}" destId="{83A27C6E-77A7-47F5-BC9D-07634F137CBF}" srcOrd="0" destOrd="0" presId="urn:microsoft.com/office/officeart/2005/8/layout/lProcess1"/>
    <dgm:cxn modelId="{1911BD86-E068-4122-8CB9-C437365D746B}" type="presParOf" srcId="{CA3CA906-4A74-4C54-A837-6627657E34E6}" destId="{E94AF8D7-348D-472B-840D-78058999273E}" srcOrd="1" destOrd="0" presId="urn:microsoft.com/office/officeart/2005/8/layout/lProcess1"/>
    <dgm:cxn modelId="{9BDFC772-420A-4C4C-9AA8-A9EF6023010A}" type="presParOf" srcId="{CA3CA906-4A74-4C54-A837-6627657E34E6}" destId="{77D0724A-8033-417B-9C4C-7E72F50EE869}" srcOrd="2" destOrd="0" presId="urn:microsoft.com/office/officeart/2005/8/layout/lProcess1"/>
    <dgm:cxn modelId="{5A19C569-5DDC-4D0D-BC64-6A2434187168}" type="presParOf" srcId="{CA3CA906-4A74-4C54-A837-6627657E34E6}" destId="{A3B328B2-90B5-410B-9D43-1CC4615B37BB}" srcOrd="3" destOrd="0" presId="urn:microsoft.com/office/officeart/2005/8/layout/lProcess1"/>
    <dgm:cxn modelId="{26524377-6456-43AB-B08F-221A0D807F27}" type="presParOf" srcId="{CA3CA906-4A74-4C54-A837-6627657E34E6}" destId="{A4C38D77-B326-44FE-92AA-5F28C462B7ED}" srcOrd="4" destOrd="0" presId="urn:microsoft.com/office/officeart/2005/8/layout/lProcess1"/>
    <dgm:cxn modelId="{46369D59-6DB7-46C9-BB0D-C87C4B3697E5}" type="presParOf" srcId="{CA3CA906-4A74-4C54-A837-6627657E34E6}" destId="{064AFBBF-B176-46EC-90B2-A91CFEAEA696}" srcOrd="5" destOrd="0" presId="urn:microsoft.com/office/officeart/2005/8/layout/lProcess1"/>
    <dgm:cxn modelId="{697A09DD-B22F-4D3F-BE2D-922D58623798}" type="presParOf" srcId="{CA3CA906-4A74-4C54-A837-6627657E34E6}" destId="{2518D9ED-859C-4888-9542-D834CCD72080}" srcOrd="6" destOrd="0" presId="urn:microsoft.com/office/officeart/2005/8/layout/lProcess1"/>
    <dgm:cxn modelId="{8B0E60C8-6750-4940-BE53-7479A632D158}" type="presParOf" srcId="{CA3CA906-4A74-4C54-A837-6627657E34E6}" destId="{359B8CE9-448A-4FD9-AFCF-007D52CD8766}" srcOrd="7" destOrd="0" presId="urn:microsoft.com/office/officeart/2005/8/layout/lProcess1"/>
    <dgm:cxn modelId="{50C98775-EF1C-478D-808F-EF6B5DC377E7}" type="presParOf" srcId="{CA3CA906-4A74-4C54-A837-6627657E34E6}" destId="{3D052E65-9568-4756-9618-72FFA028D036}" srcOrd="8" destOrd="0" presId="urn:microsoft.com/office/officeart/2005/8/layout/lProcess1"/>
    <dgm:cxn modelId="{E7C7BDCF-8CFF-4C0E-84FC-E3D3B68F1411}" type="presParOf" srcId="{CA3CA906-4A74-4C54-A837-6627657E34E6}" destId="{0B6860B0-F649-400F-A92C-9329D4CBB27C}" srcOrd="9" destOrd="0" presId="urn:microsoft.com/office/officeart/2005/8/layout/lProcess1"/>
    <dgm:cxn modelId="{0A0964F5-8CF1-4A00-9C0B-BCDC82BCFF2B}" type="presParOf" srcId="{CA3CA906-4A74-4C54-A837-6627657E34E6}" destId="{E31E9E1F-682B-4AFF-9B96-1CBE0B70C5DC}" srcOrd="10" destOrd="0" presId="urn:microsoft.com/office/officeart/2005/8/layout/lProcess1"/>
    <dgm:cxn modelId="{ECF863A9-FD9D-4397-965D-749F90BBF388}" type="presParOf" srcId="{82AAF253-7853-4AD8-BA56-A1EC48F060C5}" destId="{2168CE4F-08B7-47EA-B2AF-43E859779106}" srcOrd="1" destOrd="0" presId="urn:microsoft.com/office/officeart/2005/8/layout/lProcess1"/>
    <dgm:cxn modelId="{4E55B3E7-5279-4614-94CF-59D1766D664A}" type="presParOf" srcId="{82AAF253-7853-4AD8-BA56-A1EC48F060C5}" destId="{D9E7B5CA-CB44-4AB4-AC68-BDDE53FB5F6D}" srcOrd="2" destOrd="0" presId="urn:microsoft.com/office/officeart/2005/8/layout/lProcess1"/>
    <dgm:cxn modelId="{A76A5E6D-B339-42A0-B350-168AC91DD74B}" type="presParOf" srcId="{D9E7B5CA-CB44-4AB4-AC68-BDDE53FB5F6D}" destId="{5290A07E-A1C3-4718-B7AC-7A9443DA09C5}" srcOrd="0"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A27C6E-77A7-47F5-BC9D-07634F137CBF}">
      <dsp:nvSpPr>
        <dsp:cNvPr id="0" name=""/>
        <dsp:cNvSpPr/>
      </dsp:nvSpPr>
      <dsp:spPr>
        <a:xfrm>
          <a:off x="1307503" y="15043"/>
          <a:ext cx="2522574" cy="630643"/>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rPr>
            <a:t>Initial Condition</a:t>
          </a:r>
        </a:p>
      </dsp:txBody>
      <dsp:txXfrm>
        <a:off x="1325974" y="33514"/>
        <a:ext cx="2485632" cy="593701"/>
      </dsp:txXfrm>
    </dsp:sp>
    <dsp:sp modelId="{E94AF8D7-348D-472B-840D-78058999273E}">
      <dsp:nvSpPr>
        <dsp:cNvPr id="0" name=""/>
        <dsp:cNvSpPr/>
      </dsp:nvSpPr>
      <dsp:spPr>
        <a:xfrm rot="5465048">
          <a:off x="2462363" y="628521"/>
          <a:ext cx="197087" cy="236810"/>
        </a:xfrm>
        <a:prstGeom prst="rightArrow">
          <a:avLst>
            <a:gd name="adj1" fmla="val 66700"/>
            <a:gd name="adj2" fmla="val 50000"/>
          </a:avLst>
        </a:prstGeom>
        <a:solidFill>
          <a:srgbClr val="FECF03"/>
        </a:solidFill>
        <a:ln>
          <a:noFill/>
        </a:ln>
        <a:effectLst/>
      </dsp:spPr>
      <dsp:style>
        <a:lnRef idx="0">
          <a:scrgbClr r="0" g="0" b="0"/>
        </a:lnRef>
        <a:fillRef idx="1">
          <a:scrgbClr r="0" g="0" b="0"/>
        </a:fillRef>
        <a:effectRef idx="0">
          <a:scrgbClr r="0" g="0" b="0"/>
        </a:effectRef>
        <a:fontRef idx="minor">
          <a:schemeClr val="lt1"/>
        </a:fontRef>
      </dsp:style>
    </dsp:sp>
    <dsp:sp modelId="{77D0724A-8033-417B-9C4C-7E72F50EE869}">
      <dsp:nvSpPr>
        <dsp:cNvPr id="0" name=""/>
        <dsp:cNvSpPr/>
      </dsp:nvSpPr>
      <dsp:spPr>
        <a:xfrm>
          <a:off x="1291737" y="848165"/>
          <a:ext cx="2522574" cy="630643"/>
        </a:xfrm>
        <a:prstGeom prst="roundRect">
          <a:avLst>
            <a:gd name="adj" fmla="val 10000"/>
          </a:avLst>
        </a:prstGeom>
        <a:solidFill>
          <a:srgbClr val="7030A0"/>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l" defTabSz="1066800">
            <a:lnSpc>
              <a:spcPct val="90000"/>
            </a:lnSpc>
            <a:spcBef>
              <a:spcPct val="0"/>
            </a:spcBef>
            <a:spcAft>
              <a:spcPct val="35000"/>
            </a:spcAft>
            <a:buNone/>
          </a:pPr>
          <a:r>
            <a:rPr lang="en-US" sz="2400" kern="1200">
              <a:solidFill>
                <a:srgbClr val="FECF03"/>
              </a:solidFill>
              <a:highlight>
                <a:srgbClr val="7030A0"/>
              </a:highlight>
            </a:rPr>
            <a:t>      Breakdown</a:t>
          </a:r>
        </a:p>
      </dsp:txBody>
      <dsp:txXfrm>
        <a:off x="1310208" y="866636"/>
        <a:ext cx="2485632" cy="593701"/>
      </dsp:txXfrm>
    </dsp:sp>
    <dsp:sp modelId="{A3B328B2-90B5-410B-9D43-1CC4615B37BB}">
      <dsp:nvSpPr>
        <dsp:cNvPr id="0" name=""/>
        <dsp:cNvSpPr/>
      </dsp:nvSpPr>
      <dsp:spPr>
        <a:xfrm rot="5400000">
          <a:off x="2440312" y="1473493"/>
          <a:ext cx="225423" cy="236810"/>
        </a:xfrm>
        <a:prstGeom prst="rightArrow">
          <a:avLst>
            <a:gd name="adj1" fmla="val 66700"/>
            <a:gd name="adj2" fmla="val 50000"/>
          </a:avLst>
        </a:prstGeom>
        <a:solidFill>
          <a:srgbClr val="FECF03"/>
        </a:solidFill>
        <a:ln>
          <a:noFill/>
        </a:ln>
        <a:effectLst/>
      </dsp:spPr>
      <dsp:style>
        <a:lnRef idx="0">
          <a:scrgbClr r="0" g="0" b="0"/>
        </a:lnRef>
        <a:fillRef idx="1">
          <a:scrgbClr r="0" g="0" b="0"/>
        </a:fillRef>
        <a:effectRef idx="0">
          <a:scrgbClr r="0" g="0" b="0"/>
        </a:effectRef>
        <a:fontRef idx="minor">
          <a:schemeClr val="lt1"/>
        </a:fontRef>
      </dsp:style>
    </dsp:sp>
    <dsp:sp modelId="{A4C38D77-B326-44FE-92AA-5F28C462B7ED}">
      <dsp:nvSpPr>
        <dsp:cNvPr id="0" name=""/>
        <dsp:cNvSpPr/>
      </dsp:nvSpPr>
      <dsp:spPr>
        <a:xfrm>
          <a:off x="1291737" y="1704987"/>
          <a:ext cx="2522574" cy="630643"/>
        </a:xfrm>
        <a:prstGeom prst="roundRect">
          <a:avLst>
            <a:gd name="adj" fmla="val 10000"/>
          </a:avLst>
        </a:prstGeom>
        <a:solidFill>
          <a:srgbClr val="7030A0"/>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highlight>
                <a:srgbClr val="7030A0"/>
              </a:highlight>
            </a:rPr>
            <a:t>Assembly</a:t>
          </a:r>
        </a:p>
      </dsp:txBody>
      <dsp:txXfrm>
        <a:off x="1310208" y="1723458"/>
        <a:ext cx="2485632" cy="593701"/>
      </dsp:txXfrm>
    </dsp:sp>
    <dsp:sp modelId="{064AFBBF-B176-46EC-90B2-A91CFEAEA696}">
      <dsp:nvSpPr>
        <dsp:cNvPr id="0" name=""/>
        <dsp:cNvSpPr/>
      </dsp:nvSpPr>
      <dsp:spPr>
        <a:xfrm rot="5400000">
          <a:off x="2445619" y="2327588"/>
          <a:ext cx="214809" cy="236810"/>
        </a:xfrm>
        <a:prstGeom prst="rightArrow">
          <a:avLst>
            <a:gd name="adj1" fmla="val 66700"/>
            <a:gd name="adj2" fmla="val 50000"/>
          </a:avLst>
        </a:prstGeom>
        <a:solidFill>
          <a:srgbClr val="FECF03"/>
        </a:solidFill>
        <a:ln>
          <a:noFill/>
        </a:ln>
        <a:effectLst/>
      </dsp:spPr>
      <dsp:style>
        <a:lnRef idx="0">
          <a:scrgbClr r="0" g="0" b="0"/>
        </a:lnRef>
        <a:fillRef idx="1">
          <a:scrgbClr r="0" g="0" b="0"/>
        </a:fillRef>
        <a:effectRef idx="0">
          <a:scrgbClr r="0" g="0" b="0"/>
        </a:effectRef>
        <a:fontRef idx="minor">
          <a:schemeClr val="lt1"/>
        </a:fontRef>
      </dsp:style>
    </dsp:sp>
    <dsp:sp modelId="{2518D9ED-859C-4888-9542-D834CCD72080}">
      <dsp:nvSpPr>
        <dsp:cNvPr id="0" name=""/>
        <dsp:cNvSpPr/>
      </dsp:nvSpPr>
      <dsp:spPr>
        <a:xfrm>
          <a:off x="1291737" y="2556356"/>
          <a:ext cx="2522574" cy="630643"/>
        </a:xfrm>
        <a:prstGeom prst="roundRect">
          <a:avLst>
            <a:gd name="adj" fmla="val 10000"/>
          </a:avLst>
        </a:prstGeom>
        <a:solidFill>
          <a:srgbClr val="7030A0"/>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highlight>
                <a:srgbClr val="7030A0"/>
              </a:highlight>
            </a:rPr>
            <a:t>Wiring </a:t>
          </a:r>
        </a:p>
      </dsp:txBody>
      <dsp:txXfrm>
        <a:off x="1310208" y="2574827"/>
        <a:ext cx="2485632" cy="593701"/>
      </dsp:txXfrm>
    </dsp:sp>
    <dsp:sp modelId="{359B8CE9-448A-4FD9-AFCF-007D52CD8766}">
      <dsp:nvSpPr>
        <dsp:cNvPr id="0" name=""/>
        <dsp:cNvSpPr/>
      </dsp:nvSpPr>
      <dsp:spPr>
        <a:xfrm rot="5400000">
          <a:off x="2445619" y="3178957"/>
          <a:ext cx="214809" cy="236810"/>
        </a:xfrm>
        <a:prstGeom prst="rightArrow">
          <a:avLst>
            <a:gd name="adj1" fmla="val 66700"/>
            <a:gd name="adj2" fmla="val 50000"/>
          </a:avLst>
        </a:prstGeom>
        <a:solidFill>
          <a:srgbClr val="FECF03"/>
        </a:solidFill>
        <a:ln>
          <a:noFill/>
        </a:ln>
        <a:effectLst/>
      </dsp:spPr>
      <dsp:style>
        <a:lnRef idx="0">
          <a:scrgbClr r="0" g="0" b="0"/>
        </a:lnRef>
        <a:fillRef idx="1">
          <a:scrgbClr r="0" g="0" b="0"/>
        </a:fillRef>
        <a:effectRef idx="0">
          <a:scrgbClr r="0" g="0" b="0"/>
        </a:effectRef>
        <a:fontRef idx="minor">
          <a:schemeClr val="lt1"/>
        </a:fontRef>
      </dsp:style>
    </dsp:sp>
    <dsp:sp modelId="{3D052E65-9568-4756-9618-72FFA028D036}">
      <dsp:nvSpPr>
        <dsp:cNvPr id="0" name=""/>
        <dsp:cNvSpPr/>
      </dsp:nvSpPr>
      <dsp:spPr>
        <a:xfrm>
          <a:off x="1291737" y="3407725"/>
          <a:ext cx="2522574" cy="630643"/>
        </a:xfrm>
        <a:prstGeom prst="roundRect">
          <a:avLst>
            <a:gd name="adj" fmla="val 10000"/>
          </a:avLst>
        </a:prstGeom>
        <a:solidFill>
          <a:srgbClr val="7030A0"/>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highlight>
                <a:srgbClr val="7030A0"/>
              </a:highlight>
            </a:rPr>
            <a:t>Completed Retrofit </a:t>
          </a:r>
        </a:p>
      </dsp:txBody>
      <dsp:txXfrm>
        <a:off x="1310208" y="3426196"/>
        <a:ext cx="2485632" cy="593701"/>
      </dsp:txXfrm>
    </dsp:sp>
    <dsp:sp modelId="{0B6860B0-F649-400F-A92C-9329D4CBB27C}">
      <dsp:nvSpPr>
        <dsp:cNvPr id="0" name=""/>
        <dsp:cNvSpPr/>
      </dsp:nvSpPr>
      <dsp:spPr>
        <a:xfrm rot="5400000">
          <a:off x="2445619" y="4030325"/>
          <a:ext cx="214809" cy="236810"/>
        </a:xfrm>
        <a:prstGeom prst="rightArrow">
          <a:avLst>
            <a:gd name="adj1" fmla="val 66700"/>
            <a:gd name="adj2" fmla="val 50000"/>
          </a:avLst>
        </a:prstGeom>
        <a:solidFill>
          <a:srgbClr val="FECF03"/>
        </a:solidFill>
        <a:ln>
          <a:noFill/>
        </a:ln>
        <a:effectLst/>
      </dsp:spPr>
      <dsp:style>
        <a:lnRef idx="0">
          <a:scrgbClr r="0" g="0" b="0"/>
        </a:lnRef>
        <a:fillRef idx="1">
          <a:scrgbClr r="0" g="0" b="0"/>
        </a:fillRef>
        <a:effectRef idx="0">
          <a:scrgbClr r="0" g="0" b="0"/>
        </a:effectRef>
        <a:fontRef idx="minor">
          <a:schemeClr val="lt1"/>
        </a:fontRef>
      </dsp:style>
    </dsp:sp>
    <dsp:sp modelId="{E31E9E1F-682B-4AFF-9B96-1CBE0B70C5DC}">
      <dsp:nvSpPr>
        <dsp:cNvPr id="0" name=""/>
        <dsp:cNvSpPr/>
      </dsp:nvSpPr>
      <dsp:spPr>
        <a:xfrm>
          <a:off x="1291737" y="4259093"/>
          <a:ext cx="2522574" cy="630643"/>
        </a:xfrm>
        <a:prstGeom prst="roundRect">
          <a:avLst>
            <a:gd name="adj" fmla="val 10000"/>
          </a:avLst>
        </a:prstGeom>
        <a:solidFill>
          <a:srgbClr val="7030A0"/>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highlight>
                <a:srgbClr val="7030A0"/>
              </a:highlight>
            </a:rPr>
            <a:t>Universal Retrofit</a:t>
          </a:r>
        </a:p>
      </dsp:txBody>
      <dsp:txXfrm>
        <a:off x="1310208" y="4277564"/>
        <a:ext cx="2485632" cy="593701"/>
      </dsp:txXfrm>
    </dsp:sp>
    <dsp:sp modelId="{5290A07E-A1C3-4718-B7AC-7A9443DA09C5}">
      <dsp:nvSpPr>
        <dsp:cNvPr id="0" name=""/>
        <dsp:cNvSpPr/>
      </dsp:nvSpPr>
      <dsp:spPr>
        <a:xfrm>
          <a:off x="4148072" y="0"/>
          <a:ext cx="2555468" cy="4897047"/>
        </a:xfrm>
        <a:prstGeom prst="roundRect">
          <a:avLst>
            <a:gd name="adj" fmla="val 10000"/>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solidFill>
                <a:srgbClr val="FECF03"/>
              </a:solidFill>
            </a:rPr>
            <a:t>Documentation</a:t>
          </a:r>
        </a:p>
      </dsp:txBody>
      <dsp:txXfrm>
        <a:off x="4222919" y="74847"/>
        <a:ext cx="2405774" cy="4747353"/>
      </dsp:txXfrm>
    </dsp:sp>
  </dsp:spTree>
</dsp:drawing>
</file>

<file path=ppt/diagrams/layout1.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C4C902-98E1-4AAD-94A2-33E4FA680C0C}" type="datetimeFigureOut">
              <a:rPr lang="en-US" smtClean="0"/>
              <a:t>05/04/26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5C764E-B103-4719-B1AC-10D7906EF19A}" type="slidenum">
              <a:rPr lang="en-US" smtClean="0"/>
              <a:t>‹#›</a:t>
            </a:fld>
            <a:endParaRPr lang="en-US"/>
          </a:p>
        </p:txBody>
      </p:sp>
    </p:spTree>
    <p:extLst>
      <p:ext uri="{BB962C8B-B14F-4D97-AF65-F5344CB8AC3E}">
        <p14:creationId xmlns:p14="http://schemas.microsoft.com/office/powerpoint/2010/main" val="2333600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D4B24-8EFC-4676-81EE-D187164B9CC6}"/>
              </a:ext>
            </a:extLst>
          </p:cNvPr>
          <p:cNvSpPr>
            <a:spLocks noGrp="1"/>
          </p:cNvSpPr>
          <p:nvPr>
            <p:ph type="ctrTitle"/>
          </p:nvPr>
        </p:nvSpPr>
        <p:spPr>
          <a:xfrm>
            <a:off x="1524000" y="1122363"/>
            <a:ext cx="9144000" cy="2387600"/>
          </a:xfrm>
        </p:spPr>
        <p:txBody>
          <a:bodyPr anchor="b"/>
          <a:lstStyle>
            <a:lvl1pPr algn="ctr">
              <a:defRPr sz="6000" b="1">
                <a:latin typeface="PT Sans" panose="020B0503020203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A632FA0-7D70-459E-A358-4FB9667F5B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E517565-EDA4-49E8-B07C-F688B91D6A33}"/>
              </a:ext>
            </a:extLst>
          </p:cNvPr>
          <p:cNvSpPr>
            <a:spLocks noGrp="1"/>
          </p:cNvSpPr>
          <p:nvPr>
            <p:ph type="dt" sz="half" idx="10"/>
          </p:nvPr>
        </p:nvSpPr>
        <p:spPr/>
        <p:txBody>
          <a:bodyPr/>
          <a:lstStyle/>
          <a:p>
            <a:fld id="{B225F3B3-F044-4EF3-87F6-B3FD110C94BC}" type="datetime1">
              <a:rPr lang="en-US" smtClean="0"/>
              <a:t>05/04/26</a:t>
            </a:fld>
            <a:endParaRPr lang="en-US"/>
          </a:p>
        </p:txBody>
      </p:sp>
      <p:sp>
        <p:nvSpPr>
          <p:cNvPr id="5" name="Footer Placeholder 4">
            <a:extLst>
              <a:ext uri="{FF2B5EF4-FFF2-40B4-BE49-F238E27FC236}">
                <a16:creationId xmlns:a16="http://schemas.microsoft.com/office/drawing/2014/main" id="{28C3FB83-9C9B-4115-98EB-7115D66984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E76B21-2DBD-4983-8926-70AA9C006115}"/>
              </a:ext>
            </a:extLst>
          </p:cNvPr>
          <p:cNvSpPr>
            <a:spLocks noGrp="1"/>
          </p:cNvSpPr>
          <p:nvPr>
            <p:ph type="sldNum" sz="quarter" idx="12"/>
          </p:nvPr>
        </p:nvSpPr>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205236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DD406-056A-431A-A879-AA5C1C238D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769483-DEC3-43CA-AC54-BDBB0C7E82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F1C4BA-CC92-40A9-89DE-F0A4B4FDE3F1}"/>
              </a:ext>
            </a:extLst>
          </p:cNvPr>
          <p:cNvSpPr>
            <a:spLocks noGrp="1"/>
          </p:cNvSpPr>
          <p:nvPr>
            <p:ph type="dt" sz="half" idx="10"/>
          </p:nvPr>
        </p:nvSpPr>
        <p:spPr/>
        <p:txBody>
          <a:bodyPr/>
          <a:lstStyle/>
          <a:p>
            <a:fld id="{B0FFD9B2-4BCF-4AF6-8430-4C863198BFC3}" type="datetime1">
              <a:rPr lang="en-US" smtClean="0"/>
              <a:t>05/04/26</a:t>
            </a:fld>
            <a:endParaRPr lang="en-US"/>
          </a:p>
        </p:txBody>
      </p:sp>
      <p:sp>
        <p:nvSpPr>
          <p:cNvPr id="5" name="Footer Placeholder 4">
            <a:extLst>
              <a:ext uri="{FF2B5EF4-FFF2-40B4-BE49-F238E27FC236}">
                <a16:creationId xmlns:a16="http://schemas.microsoft.com/office/drawing/2014/main" id="{2D822283-CD2C-48A4-A48A-5BC2DCB5987C}"/>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F6B0B95C-9739-41B5-AC3D-791ACC66B0FF}"/>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69244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9A462-3D15-465A-8721-471DCA0EC34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5A58D3E-CC2A-4ED4-ABFD-4F6F1473ED6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8E02EA-BAB8-48A4-BCB5-CDA39BB73144}"/>
              </a:ext>
            </a:extLst>
          </p:cNvPr>
          <p:cNvSpPr>
            <a:spLocks noGrp="1"/>
          </p:cNvSpPr>
          <p:nvPr>
            <p:ph type="dt" sz="half" idx="10"/>
          </p:nvPr>
        </p:nvSpPr>
        <p:spPr/>
        <p:txBody>
          <a:bodyPr/>
          <a:lstStyle/>
          <a:p>
            <a:fld id="{08B8809A-14BA-4C37-9430-0D0BBE27A462}" type="datetime1">
              <a:rPr lang="en-US" smtClean="0"/>
              <a:t>05/04/26</a:t>
            </a:fld>
            <a:endParaRPr lang="en-US"/>
          </a:p>
        </p:txBody>
      </p:sp>
      <p:sp>
        <p:nvSpPr>
          <p:cNvPr id="5" name="Footer Placeholder 4">
            <a:extLst>
              <a:ext uri="{FF2B5EF4-FFF2-40B4-BE49-F238E27FC236}">
                <a16:creationId xmlns:a16="http://schemas.microsoft.com/office/drawing/2014/main" id="{E48EED50-A3F7-471A-AD6E-AFD8CEA79F1C}"/>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586CC104-27F3-4DE8-9728-AE4BA3FE7A16}"/>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351372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0A375-462E-4542-9C59-0F47FD40B5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58125D-1DDB-4B56-B2B4-50C5F6F083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BCE8287-050D-4E63-A079-0903BD17E5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93B4A24-66C6-4748-8FAF-A03DBF1296B1}"/>
              </a:ext>
            </a:extLst>
          </p:cNvPr>
          <p:cNvSpPr>
            <a:spLocks noGrp="1"/>
          </p:cNvSpPr>
          <p:nvPr>
            <p:ph type="dt" sz="half" idx="10"/>
          </p:nvPr>
        </p:nvSpPr>
        <p:spPr/>
        <p:txBody>
          <a:bodyPr/>
          <a:lstStyle/>
          <a:p>
            <a:fld id="{73229D30-0EAB-44DD-AA29-0D98863FE3BC}" type="datetime1">
              <a:rPr lang="en-US" smtClean="0"/>
              <a:t>05/04/26</a:t>
            </a:fld>
            <a:endParaRPr lang="en-US"/>
          </a:p>
        </p:txBody>
      </p:sp>
      <p:sp>
        <p:nvSpPr>
          <p:cNvPr id="6" name="Footer Placeholder 5">
            <a:extLst>
              <a:ext uri="{FF2B5EF4-FFF2-40B4-BE49-F238E27FC236}">
                <a16:creationId xmlns:a16="http://schemas.microsoft.com/office/drawing/2014/main" id="{764F2CFF-6825-423C-A2AA-F7659AD8DCBA}"/>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AE7C988-5387-4575-8F09-495019454AB2}"/>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3424734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D53B3E-8156-4551-9FD8-5FD8206072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F2737C-0E95-4DA8-883F-D2768A936D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80C70B-A161-4018-BDAF-7570C49066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798EB1-6D33-4700-AC28-87115069FD6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ACC100-524B-4455-A478-D94F54F14A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DCEB914-A278-4450-BFF9-2A55807CA529}"/>
              </a:ext>
            </a:extLst>
          </p:cNvPr>
          <p:cNvSpPr>
            <a:spLocks noGrp="1"/>
          </p:cNvSpPr>
          <p:nvPr>
            <p:ph type="dt" sz="half" idx="10"/>
          </p:nvPr>
        </p:nvSpPr>
        <p:spPr/>
        <p:txBody>
          <a:bodyPr/>
          <a:lstStyle/>
          <a:p>
            <a:fld id="{5547532E-CCF4-4D92-9810-93414E472E3B}" type="datetime1">
              <a:rPr lang="en-US" smtClean="0"/>
              <a:t>05/04/26</a:t>
            </a:fld>
            <a:endParaRPr lang="en-US"/>
          </a:p>
        </p:txBody>
      </p:sp>
      <p:sp>
        <p:nvSpPr>
          <p:cNvPr id="8" name="Footer Placeholder 7">
            <a:extLst>
              <a:ext uri="{FF2B5EF4-FFF2-40B4-BE49-F238E27FC236}">
                <a16:creationId xmlns:a16="http://schemas.microsoft.com/office/drawing/2014/main" id="{7C9F25E8-8182-4A9E-AF48-B1F9CBE0287F}"/>
              </a:ext>
            </a:extLst>
          </p:cNvPr>
          <p:cNvSpPr>
            <a:spLocks noGrp="1"/>
          </p:cNvSpPr>
          <p:nvPr>
            <p:ph type="ftr" sz="quarter" idx="11"/>
          </p:nvPr>
        </p:nvSpPr>
        <p:spPr/>
        <p:txBody>
          <a:bodyPr/>
          <a:lstStyle/>
          <a:p>
            <a:endParaRPr lang="en-US"/>
          </a:p>
        </p:txBody>
      </p:sp>
      <p:sp>
        <p:nvSpPr>
          <p:cNvPr id="10" name="Slide Number Placeholder 5">
            <a:extLst>
              <a:ext uri="{FF2B5EF4-FFF2-40B4-BE49-F238E27FC236}">
                <a16:creationId xmlns:a16="http://schemas.microsoft.com/office/drawing/2014/main" id="{350F0064-D73A-4CB1-9D93-74AD91B5E1D8}"/>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979355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D6CE6-BCE4-4994-B488-2622486EE9F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F2A048-56B4-4FB0-B32A-9D2816231431}"/>
              </a:ext>
            </a:extLst>
          </p:cNvPr>
          <p:cNvSpPr>
            <a:spLocks noGrp="1"/>
          </p:cNvSpPr>
          <p:nvPr>
            <p:ph type="dt" sz="half" idx="10"/>
          </p:nvPr>
        </p:nvSpPr>
        <p:spPr/>
        <p:txBody>
          <a:bodyPr/>
          <a:lstStyle/>
          <a:p>
            <a:fld id="{F45EB9A4-9185-457F-8E1B-860BE726854D}" type="datetime1">
              <a:rPr lang="en-US" smtClean="0"/>
              <a:t>05/04/26</a:t>
            </a:fld>
            <a:endParaRPr lang="en-US"/>
          </a:p>
        </p:txBody>
      </p:sp>
      <p:sp>
        <p:nvSpPr>
          <p:cNvPr id="4" name="Footer Placeholder 3">
            <a:extLst>
              <a:ext uri="{FF2B5EF4-FFF2-40B4-BE49-F238E27FC236}">
                <a16:creationId xmlns:a16="http://schemas.microsoft.com/office/drawing/2014/main" id="{0A05FA23-FD57-44A8-A2A5-B0C15802B2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DE1CE4-A296-4A5B-9E0C-A9774A1AF9D9}"/>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3623830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FAB1E3-C9CD-4821-89BA-456B0425EB27}"/>
              </a:ext>
            </a:extLst>
          </p:cNvPr>
          <p:cNvSpPr>
            <a:spLocks noGrp="1"/>
          </p:cNvSpPr>
          <p:nvPr>
            <p:ph type="dt" sz="half" idx="10"/>
          </p:nvPr>
        </p:nvSpPr>
        <p:spPr/>
        <p:txBody>
          <a:bodyPr/>
          <a:lstStyle/>
          <a:p>
            <a:fld id="{E8CAE533-E674-451D-B4EF-E64DA063DA1C}" type="datetime1">
              <a:rPr lang="en-US" smtClean="0"/>
              <a:t>05/04/26</a:t>
            </a:fld>
            <a:endParaRPr lang="en-US"/>
          </a:p>
        </p:txBody>
      </p:sp>
      <p:sp>
        <p:nvSpPr>
          <p:cNvPr id="3" name="Footer Placeholder 2">
            <a:extLst>
              <a:ext uri="{FF2B5EF4-FFF2-40B4-BE49-F238E27FC236}">
                <a16:creationId xmlns:a16="http://schemas.microsoft.com/office/drawing/2014/main" id="{004DACE7-0BBD-4727-AB37-05875602A53C}"/>
              </a:ext>
            </a:extLst>
          </p:cNvPr>
          <p:cNvSpPr>
            <a:spLocks noGrp="1"/>
          </p:cNvSpPr>
          <p:nvPr>
            <p:ph type="ftr" sz="quarter" idx="11"/>
          </p:nvPr>
        </p:nvSpPr>
        <p:spPr/>
        <p:txBody>
          <a:bodyPr/>
          <a:lstStyle/>
          <a:p>
            <a:endParaRPr lang="en-US"/>
          </a:p>
        </p:txBody>
      </p:sp>
      <p:sp>
        <p:nvSpPr>
          <p:cNvPr id="5" name="Slide Number Placeholder 5">
            <a:extLst>
              <a:ext uri="{FF2B5EF4-FFF2-40B4-BE49-F238E27FC236}">
                <a16:creationId xmlns:a16="http://schemas.microsoft.com/office/drawing/2014/main" id="{532E64EB-368E-4FE3-A885-EBB5D1D7DC63}"/>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1320602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4C91F-BCC2-45F0-B2F4-E32E8AA54C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94B760E-4742-4F16-8965-E173606E49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2FC8CC-E891-4C8D-9100-40D92C0E0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DD10A-18CB-44CD-9AE8-BC0B69B3414F}"/>
              </a:ext>
            </a:extLst>
          </p:cNvPr>
          <p:cNvSpPr>
            <a:spLocks noGrp="1"/>
          </p:cNvSpPr>
          <p:nvPr>
            <p:ph type="dt" sz="half" idx="10"/>
          </p:nvPr>
        </p:nvSpPr>
        <p:spPr/>
        <p:txBody>
          <a:bodyPr/>
          <a:lstStyle/>
          <a:p>
            <a:fld id="{E1FB0926-4744-4029-AF9C-89C16E42A67F}" type="datetime1">
              <a:rPr lang="en-US" smtClean="0"/>
              <a:t>05/04/26</a:t>
            </a:fld>
            <a:endParaRPr lang="en-US"/>
          </a:p>
        </p:txBody>
      </p:sp>
      <p:sp>
        <p:nvSpPr>
          <p:cNvPr id="6" name="Footer Placeholder 5">
            <a:extLst>
              <a:ext uri="{FF2B5EF4-FFF2-40B4-BE49-F238E27FC236}">
                <a16:creationId xmlns:a16="http://schemas.microsoft.com/office/drawing/2014/main" id="{8D20C1AB-AF6F-4A28-A2A1-0ACD172F7157}"/>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DAF52832-BFE4-4EB2-89C2-5F58C6D6079C}"/>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400479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B282-FC0B-437D-B487-40F927EC12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7E19BF-9833-4D9D-9B79-0C30D1678F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E645C1-9F3C-4688-B8D9-807A0CCF67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11E7DF-58A4-4245-9F30-3F9C0CA35504}"/>
              </a:ext>
            </a:extLst>
          </p:cNvPr>
          <p:cNvSpPr>
            <a:spLocks noGrp="1"/>
          </p:cNvSpPr>
          <p:nvPr>
            <p:ph type="dt" sz="half" idx="10"/>
          </p:nvPr>
        </p:nvSpPr>
        <p:spPr/>
        <p:txBody>
          <a:bodyPr/>
          <a:lstStyle/>
          <a:p>
            <a:fld id="{DD6ED056-4211-48B3-84B7-93B5D1BEB84B}" type="datetime1">
              <a:rPr lang="en-US" smtClean="0"/>
              <a:t>05/04/26</a:t>
            </a:fld>
            <a:endParaRPr lang="en-US"/>
          </a:p>
        </p:txBody>
      </p:sp>
      <p:sp>
        <p:nvSpPr>
          <p:cNvPr id="6" name="Footer Placeholder 5">
            <a:extLst>
              <a:ext uri="{FF2B5EF4-FFF2-40B4-BE49-F238E27FC236}">
                <a16:creationId xmlns:a16="http://schemas.microsoft.com/office/drawing/2014/main" id="{E2ADAD13-547A-4E86-AA79-383DC5EEB4E2}"/>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7E3F973F-4971-47DA-88AD-2629B69635F7}"/>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37155931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EA2C6-DBF1-42D9-A936-2CF4A60606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DE1A14F-CA25-42B6-AA19-FA9B422391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775CED-83D7-4B96-91ED-5756203386D2}"/>
              </a:ext>
            </a:extLst>
          </p:cNvPr>
          <p:cNvSpPr>
            <a:spLocks noGrp="1"/>
          </p:cNvSpPr>
          <p:nvPr>
            <p:ph type="dt" sz="half" idx="10"/>
          </p:nvPr>
        </p:nvSpPr>
        <p:spPr/>
        <p:txBody>
          <a:bodyPr/>
          <a:lstStyle/>
          <a:p>
            <a:fld id="{7F38BE57-6E89-44AC-AE8E-7C4BB0B8B547}" type="datetime1">
              <a:rPr lang="en-US" smtClean="0"/>
              <a:t>05/04/26</a:t>
            </a:fld>
            <a:endParaRPr lang="en-US"/>
          </a:p>
        </p:txBody>
      </p:sp>
      <p:sp>
        <p:nvSpPr>
          <p:cNvPr id="5" name="Footer Placeholder 4">
            <a:extLst>
              <a:ext uri="{FF2B5EF4-FFF2-40B4-BE49-F238E27FC236}">
                <a16:creationId xmlns:a16="http://schemas.microsoft.com/office/drawing/2014/main" id="{A43BC3F5-DC86-4D53-ADB1-5D11451E1F4F}"/>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3E06789F-C8AB-4497-AD42-FC3EC3AE188C}"/>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4145343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4759AD3-D9CA-423B-B450-454C35EA313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D7462C-2059-492B-B33D-C87622C621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4F43ED-F502-426B-94D4-DBF6B58ADA21}"/>
              </a:ext>
            </a:extLst>
          </p:cNvPr>
          <p:cNvSpPr>
            <a:spLocks noGrp="1"/>
          </p:cNvSpPr>
          <p:nvPr>
            <p:ph type="dt" sz="half" idx="10"/>
          </p:nvPr>
        </p:nvSpPr>
        <p:spPr/>
        <p:txBody>
          <a:bodyPr/>
          <a:lstStyle/>
          <a:p>
            <a:fld id="{2CA481B5-06BC-4659-91FC-F936B3BC5D07}" type="datetime1">
              <a:rPr lang="en-US" smtClean="0"/>
              <a:t>05/04/26</a:t>
            </a:fld>
            <a:endParaRPr lang="en-US"/>
          </a:p>
        </p:txBody>
      </p:sp>
      <p:sp>
        <p:nvSpPr>
          <p:cNvPr id="5" name="Footer Placeholder 4">
            <a:extLst>
              <a:ext uri="{FF2B5EF4-FFF2-40B4-BE49-F238E27FC236}">
                <a16:creationId xmlns:a16="http://schemas.microsoft.com/office/drawing/2014/main" id="{B358DBEF-8AA0-4F3F-BA32-DC82958A6A36}"/>
              </a:ext>
            </a:extLst>
          </p:cNvPr>
          <p:cNvSpPr>
            <a:spLocks noGrp="1"/>
          </p:cNvSpPr>
          <p:nvPr>
            <p:ph type="ftr" sz="quarter" idx="11"/>
          </p:nvPr>
        </p:nvSpPr>
        <p:spPr/>
        <p:txBody>
          <a:bodyPr/>
          <a:lstStyle/>
          <a:p>
            <a:endParaRPr lang="en-US"/>
          </a:p>
        </p:txBody>
      </p:sp>
      <p:sp>
        <p:nvSpPr>
          <p:cNvPr id="7" name="Slide Number Placeholder 5">
            <a:extLst>
              <a:ext uri="{FF2B5EF4-FFF2-40B4-BE49-F238E27FC236}">
                <a16:creationId xmlns:a16="http://schemas.microsoft.com/office/drawing/2014/main" id="{89589AD1-4425-4553-B964-F739B9D7D1A2}"/>
              </a:ext>
            </a:extLst>
          </p:cNvPr>
          <p:cNvSpPr>
            <a:spLocks noGrp="1"/>
          </p:cNvSpPr>
          <p:nvPr>
            <p:ph type="sldNum" sz="quarter" idx="12"/>
          </p:nvPr>
        </p:nvSpPr>
        <p:spPr>
          <a:xfrm>
            <a:off x="8610600" y="6356350"/>
            <a:ext cx="2743200" cy="365125"/>
          </a:xfrm>
        </p:spPr>
        <p:txBody>
          <a:bodyPr/>
          <a:lstStyle>
            <a:lvl1pPr>
              <a:defRPr sz="1600" b="1">
                <a:solidFill>
                  <a:schemeClr val="tx1"/>
                </a:solidFill>
                <a:latin typeface="PT Sans" panose="020B0503020203020204" pitchFamily="34" charset="0"/>
              </a:defRPr>
            </a:lvl1pPr>
          </a:lstStyle>
          <a:p>
            <a:fld id="{4072BC8D-D296-40C7-BB87-C3ACFF7B6C6E}" type="slidenum">
              <a:rPr lang="en-US" smtClean="0"/>
              <a:pPr/>
              <a:t>‹#›</a:t>
            </a:fld>
            <a:endParaRPr lang="en-US"/>
          </a:p>
        </p:txBody>
      </p:sp>
    </p:spTree>
    <p:extLst>
      <p:ext uri="{BB962C8B-B14F-4D97-AF65-F5344CB8AC3E}">
        <p14:creationId xmlns:p14="http://schemas.microsoft.com/office/powerpoint/2010/main" val="2260695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EE59D9-4FE2-4646-94CA-9622A74CEF0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5C36CF7-3599-4C40-AF87-66CC9AB41E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616DB3-6BDB-4003-87C9-9D02210F58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7AB1D27-6562-4546-A403-58C3304132B7}" type="datetime1">
              <a:rPr lang="en-US" smtClean="0"/>
              <a:t>05/04/26</a:t>
            </a:fld>
            <a:endParaRPr lang="en-US"/>
          </a:p>
        </p:txBody>
      </p:sp>
      <p:sp>
        <p:nvSpPr>
          <p:cNvPr id="5" name="Footer Placeholder 4">
            <a:extLst>
              <a:ext uri="{FF2B5EF4-FFF2-40B4-BE49-F238E27FC236}">
                <a16:creationId xmlns:a16="http://schemas.microsoft.com/office/drawing/2014/main" id="{3AB1F069-D5FB-49CE-8A60-9026F4C4B9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0CA7E59-C0C4-4812-8315-F448892D12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BC8D-D296-40C7-BB87-C3ACFF7B6C6E}" type="slidenum">
              <a:rPr lang="en-US" smtClean="0"/>
              <a:t>‹#›</a:t>
            </a:fld>
            <a:endParaRPr lang="en-US"/>
          </a:p>
        </p:txBody>
      </p:sp>
    </p:spTree>
    <p:extLst>
      <p:ext uri="{BB962C8B-B14F-4D97-AF65-F5344CB8AC3E}">
        <p14:creationId xmlns:p14="http://schemas.microsoft.com/office/powerpoint/2010/main" val="332590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b="1" kern="1200">
          <a:solidFill>
            <a:schemeClr val="tx1"/>
          </a:solidFill>
          <a:latin typeface="PT Sans" panose="020B05030202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F652A-3086-4582-B371-C6F62DD54BF6}"/>
              </a:ext>
            </a:extLst>
          </p:cNvPr>
          <p:cNvSpPr>
            <a:spLocks noGrp="1"/>
          </p:cNvSpPr>
          <p:nvPr>
            <p:ph type="ctrTitle"/>
          </p:nvPr>
        </p:nvSpPr>
        <p:spPr>
          <a:xfrm>
            <a:off x="1524000" y="1122363"/>
            <a:ext cx="9144000" cy="1360557"/>
          </a:xfrm>
        </p:spPr>
        <p:txBody>
          <a:bodyPr/>
          <a:lstStyle/>
          <a:p>
            <a:r>
              <a:rPr lang="en-US">
                <a:latin typeface="PT Sans"/>
              </a:rPr>
              <a:t>Solar-Power Conversion Kit</a:t>
            </a:r>
          </a:p>
        </p:txBody>
      </p:sp>
      <p:sp>
        <p:nvSpPr>
          <p:cNvPr id="3" name="Subtitle 2">
            <a:extLst>
              <a:ext uri="{FF2B5EF4-FFF2-40B4-BE49-F238E27FC236}">
                <a16:creationId xmlns:a16="http://schemas.microsoft.com/office/drawing/2014/main" id="{2F30D5E3-96B4-4C1C-B668-87E98CC3B70D}"/>
              </a:ext>
            </a:extLst>
          </p:cNvPr>
          <p:cNvSpPr>
            <a:spLocks noGrp="1"/>
          </p:cNvSpPr>
          <p:nvPr>
            <p:ph type="subTitle" idx="1"/>
          </p:nvPr>
        </p:nvSpPr>
        <p:spPr>
          <a:xfrm>
            <a:off x="1524000" y="2802175"/>
            <a:ext cx="9144000" cy="1835613"/>
          </a:xfrm>
        </p:spPr>
        <p:txBody>
          <a:bodyPr vert="horz" lIns="91440" tIns="45720" rIns="91440" bIns="45720" rtlCol="0" anchor="t">
            <a:normAutofit/>
          </a:bodyPr>
          <a:lstStyle/>
          <a:p>
            <a:r>
              <a:rPr lang="en-US">
                <a:latin typeface="PT Sans"/>
              </a:rPr>
              <a:t>Sponsored by: </a:t>
            </a:r>
            <a:r>
              <a:rPr lang="en-US" err="1">
                <a:latin typeface="PT Sans"/>
              </a:rPr>
              <a:t>LaniEV</a:t>
            </a:r>
            <a:endParaRPr lang="en-US">
              <a:latin typeface="PT Sans"/>
            </a:endParaRPr>
          </a:p>
          <a:p>
            <a:r>
              <a:rPr lang="en-US">
                <a:latin typeface="PT Sans"/>
              </a:rPr>
              <a:t>Spring 2026</a:t>
            </a:r>
            <a:endParaRPr lang="en-US"/>
          </a:p>
          <a:p>
            <a:r>
              <a:rPr lang="en-US"/>
              <a:t>Team 6</a:t>
            </a:r>
          </a:p>
          <a:p>
            <a:r>
              <a:rPr lang="en-US" sz="1900"/>
              <a:t>Alec Snodgrass, Parker Branson,  Landon Paul, George </a:t>
            </a:r>
            <a:r>
              <a:rPr lang="en-US" sz="1900" err="1"/>
              <a:t>Vaporis</a:t>
            </a:r>
            <a:r>
              <a:rPr lang="en-US" sz="1900"/>
              <a:t>, Nathan Galloway </a:t>
            </a:r>
          </a:p>
        </p:txBody>
      </p:sp>
      <p:sp>
        <p:nvSpPr>
          <p:cNvPr id="4" name="Slide Number Placeholder 3">
            <a:extLst>
              <a:ext uri="{FF2B5EF4-FFF2-40B4-BE49-F238E27FC236}">
                <a16:creationId xmlns:a16="http://schemas.microsoft.com/office/drawing/2014/main" id="{F5F0D7AE-060B-4F76-AD06-2C1A03F34611}"/>
              </a:ext>
            </a:extLst>
          </p:cNvPr>
          <p:cNvSpPr>
            <a:spLocks noGrp="1"/>
          </p:cNvSpPr>
          <p:nvPr>
            <p:ph type="sldNum" sz="quarter" idx="12"/>
          </p:nvPr>
        </p:nvSpPr>
        <p:spPr/>
        <p:txBody>
          <a:bodyPr/>
          <a:lstStyle/>
          <a:p>
            <a:fld id="{4072BC8D-D296-40C7-BB87-C3ACFF7B6C6E}" type="slidenum">
              <a:rPr lang="en-US" smtClean="0"/>
              <a:t>1</a:t>
            </a:fld>
            <a:endParaRPr lang="en-US"/>
          </a:p>
        </p:txBody>
      </p:sp>
    </p:spTree>
    <p:extLst>
      <p:ext uri="{BB962C8B-B14F-4D97-AF65-F5344CB8AC3E}">
        <p14:creationId xmlns:p14="http://schemas.microsoft.com/office/powerpoint/2010/main" val="31301966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572A-30B8-4B85-BC37-51A06E366CE6}"/>
              </a:ext>
            </a:extLst>
          </p:cNvPr>
          <p:cNvSpPr>
            <a:spLocks noGrp="1"/>
          </p:cNvSpPr>
          <p:nvPr>
            <p:ph type="title"/>
          </p:nvPr>
        </p:nvSpPr>
        <p:spPr/>
        <p:txBody>
          <a:bodyPr/>
          <a:lstStyle/>
          <a:p>
            <a:r>
              <a:rPr lang="en-US"/>
              <a:t>Outline</a:t>
            </a:r>
          </a:p>
        </p:txBody>
      </p:sp>
      <p:sp>
        <p:nvSpPr>
          <p:cNvPr id="3" name="Content Placeholder 2">
            <a:extLst>
              <a:ext uri="{FF2B5EF4-FFF2-40B4-BE49-F238E27FC236}">
                <a16:creationId xmlns:a16="http://schemas.microsoft.com/office/drawing/2014/main" id="{E4682604-98B6-45D3-9B11-2FA155BB60D7}"/>
              </a:ext>
            </a:extLst>
          </p:cNvPr>
          <p:cNvSpPr>
            <a:spLocks noGrp="1"/>
          </p:cNvSpPr>
          <p:nvPr>
            <p:ph idx="1"/>
          </p:nvPr>
        </p:nvSpPr>
        <p:spPr/>
        <p:txBody>
          <a:bodyPr vert="horz" lIns="91440" tIns="45720" rIns="91440" bIns="45720" rtlCol="0" anchor="t">
            <a:normAutofit/>
          </a:bodyPr>
          <a:lstStyle/>
          <a:p>
            <a:r>
              <a:rPr lang="en-US">
                <a:latin typeface="PT Sans"/>
              </a:rPr>
              <a:t>Background and Stakeholders</a:t>
            </a:r>
          </a:p>
          <a:p>
            <a:r>
              <a:rPr lang="en-US">
                <a:latin typeface="PT Sans"/>
              </a:rPr>
              <a:t>Problem Formulation and Existing Solutions</a:t>
            </a:r>
          </a:p>
          <a:p>
            <a:r>
              <a:rPr lang="en-US">
                <a:latin typeface="PT Sans"/>
              </a:rPr>
              <a:t>Standards and Regulations</a:t>
            </a:r>
          </a:p>
          <a:p>
            <a:r>
              <a:rPr lang="en-US">
                <a:latin typeface="PT Sans"/>
              </a:rPr>
              <a:t>Broader Impacts</a:t>
            </a:r>
          </a:p>
          <a:p>
            <a:r>
              <a:rPr lang="en-US">
                <a:latin typeface="PT Sans"/>
              </a:rPr>
              <a:t>Conceptual Design Overview</a:t>
            </a:r>
          </a:p>
          <a:p>
            <a:r>
              <a:rPr lang="en-US">
                <a:latin typeface="PT Sans"/>
              </a:rPr>
              <a:t>Subsystem Detailed Designs</a:t>
            </a:r>
          </a:p>
          <a:p>
            <a:r>
              <a:rPr lang="en-US">
                <a:latin typeface="PT Sans"/>
              </a:rPr>
              <a:t>Summary</a:t>
            </a:r>
          </a:p>
        </p:txBody>
      </p:sp>
      <p:sp>
        <p:nvSpPr>
          <p:cNvPr id="4" name="Slide Number Placeholder 3">
            <a:extLst>
              <a:ext uri="{FF2B5EF4-FFF2-40B4-BE49-F238E27FC236}">
                <a16:creationId xmlns:a16="http://schemas.microsoft.com/office/drawing/2014/main" id="{BFD76EA9-A215-49F8-A930-7CEB5DBCF101}"/>
              </a:ext>
            </a:extLst>
          </p:cNvPr>
          <p:cNvSpPr>
            <a:spLocks noGrp="1"/>
          </p:cNvSpPr>
          <p:nvPr>
            <p:ph type="sldNum" sz="quarter" idx="12"/>
          </p:nvPr>
        </p:nvSpPr>
        <p:spPr/>
        <p:txBody>
          <a:bodyPr/>
          <a:lstStyle/>
          <a:p>
            <a:fld id="{4072BC8D-D296-40C7-BB87-C3ACFF7B6C6E}" type="slidenum">
              <a:rPr lang="en-US" smtClean="0"/>
              <a:pPr/>
              <a:t>2</a:t>
            </a:fld>
            <a:endParaRPr lang="en-US"/>
          </a:p>
        </p:txBody>
      </p:sp>
    </p:spTree>
    <p:extLst>
      <p:ext uri="{BB962C8B-B14F-4D97-AF65-F5344CB8AC3E}">
        <p14:creationId xmlns:p14="http://schemas.microsoft.com/office/powerpoint/2010/main" val="412330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9C7C4-EE77-497E-B0F5-9921881D62A9}"/>
              </a:ext>
            </a:extLst>
          </p:cNvPr>
          <p:cNvSpPr>
            <a:spLocks noGrp="1"/>
          </p:cNvSpPr>
          <p:nvPr>
            <p:ph type="title"/>
          </p:nvPr>
        </p:nvSpPr>
        <p:spPr/>
        <p:txBody>
          <a:bodyPr/>
          <a:lstStyle/>
          <a:p>
            <a:r>
              <a:rPr lang="en-US">
                <a:latin typeface="PT Sans"/>
              </a:rPr>
              <a:t>Background</a:t>
            </a:r>
          </a:p>
        </p:txBody>
      </p:sp>
      <p:sp>
        <p:nvSpPr>
          <p:cNvPr id="4" name="Slide Number Placeholder 3">
            <a:extLst>
              <a:ext uri="{FF2B5EF4-FFF2-40B4-BE49-F238E27FC236}">
                <a16:creationId xmlns:a16="http://schemas.microsoft.com/office/drawing/2014/main" id="{888C9F22-EC82-474D-ADB2-11252566AFAC}"/>
              </a:ext>
            </a:extLst>
          </p:cNvPr>
          <p:cNvSpPr>
            <a:spLocks noGrp="1"/>
          </p:cNvSpPr>
          <p:nvPr>
            <p:ph type="sldNum" sz="quarter" idx="12"/>
          </p:nvPr>
        </p:nvSpPr>
        <p:spPr/>
        <p:txBody>
          <a:bodyPr/>
          <a:lstStyle/>
          <a:p>
            <a:fld id="{4072BC8D-D296-40C7-BB87-C3ACFF7B6C6E}" type="slidenum">
              <a:rPr lang="en-US" smtClean="0"/>
              <a:pPr/>
              <a:t>3</a:t>
            </a:fld>
            <a:endParaRPr lang="en-US"/>
          </a:p>
        </p:txBody>
      </p:sp>
      <p:sp>
        <p:nvSpPr>
          <p:cNvPr id="5" name="TextBox 4">
            <a:extLst>
              <a:ext uri="{FF2B5EF4-FFF2-40B4-BE49-F238E27FC236}">
                <a16:creationId xmlns:a16="http://schemas.microsoft.com/office/drawing/2014/main" id="{1ED2C515-2A0E-82FE-3224-1CE536C08C42}"/>
              </a:ext>
            </a:extLst>
          </p:cNvPr>
          <p:cNvSpPr txBox="1"/>
          <p:nvPr/>
        </p:nvSpPr>
        <p:spPr>
          <a:xfrm>
            <a:off x="844103" y="2159990"/>
            <a:ext cx="5543327" cy="34470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a:latin typeface="PT Sans"/>
                <a:ea typeface="Calibri" panose="020F0502020204030204"/>
                <a:cs typeface="Times New Roman"/>
              </a:rPr>
              <a:t>Root problem</a:t>
            </a:r>
          </a:p>
          <a:p>
            <a:pPr marL="742950" lvl="1" indent="-285750">
              <a:buFont typeface="Courier New" panose="02070309020205020404" pitchFamily="49" charset="0"/>
              <a:buChar char="o"/>
            </a:pPr>
            <a:r>
              <a:rPr lang="en-US">
                <a:latin typeface="PT Sans"/>
                <a:ea typeface="Calibri" panose="020F0502020204030204"/>
                <a:cs typeface="Times New Roman"/>
              </a:rPr>
              <a:t>Carbon emissions from combustion engines</a:t>
            </a:r>
          </a:p>
          <a:p>
            <a:pPr lvl="1"/>
            <a:endParaRPr lang="en-US">
              <a:latin typeface="PT Sans"/>
              <a:ea typeface="Calibri" panose="020F0502020204030204"/>
              <a:cs typeface="Times New Roman"/>
            </a:endParaRPr>
          </a:p>
          <a:p>
            <a:pPr marL="342900" indent="-342900">
              <a:buFont typeface="Arial" panose="020B0604020202020204" pitchFamily="34" charset="0"/>
              <a:buChar char="•"/>
            </a:pPr>
            <a:r>
              <a:rPr lang="en-US" sz="2400">
                <a:latin typeface="PT Sans"/>
                <a:ea typeface="Calibri" panose="020F0502020204030204"/>
                <a:cs typeface="Times New Roman"/>
              </a:rPr>
              <a:t>Existing solutions</a:t>
            </a:r>
          </a:p>
          <a:p>
            <a:pPr marL="742950" lvl="1" indent="-285750">
              <a:buFont typeface="Courier New" panose="02070309020205020404" pitchFamily="49" charset="0"/>
              <a:buChar char="o"/>
            </a:pPr>
            <a:r>
              <a:rPr lang="en-US">
                <a:latin typeface="PT Sans"/>
                <a:ea typeface="Calibri" panose="020F0502020204030204"/>
                <a:cs typeface="Times New Roman"/>
              </a:rPr>
              <a:t>Existing electric-power vehicles</a:t>
            </a:r>
          </a:p>
          <a:p>
            <a:pPr lvl="1"/>
            <a:endParaRPr lang="en-US">
              <a:latin typeface="PT Sans"/>
              <a:ea typeface="Calibri" panose="020F0502020204030204"/>
              <a:cs typeface="Times New Roman"/>
            </a:endParaRPr>
          </a:p>
          <a:p>
            <a:pPr marL="342900" indent="-342900">
              <a:buFont typeface="Arial" panose="020B0604020202020204" pitchFamily="34" charset="0"/>
              <a:buChar char="•"/>
            </a:pPr>
            <a:r>
              <a:rPr lang="en-US" sz="2400">
                <a:latin typeface="PT Sans"/>
                <a:ea typeface="Calibri" panose="020F0502020204030204"/>
                <a:cs typeface="Times New Roman"/>
              </a:rPr>
              <a:t>Issues with this solution</a:t>
            </a:r>
          </a:p>
          <a:p>
            <a:pPr marL="742950" lvl="1" indent="-285750">
              <a:buFont typeface="Courier New" panose="02070309020205020404" pitchFamily="49" charset="0"/>
              <a:buChar char="o"/>
            </a:pPr>
            <a:r>
              <a:rPr lang="en-US">
                <a:latin typeface="PT Sans"/>
                <a:ea typeface="Calibri" panose="020F0502020204030204"/>
                <a:cs typeface="Times New Roman"/>
              </a:rPr>
              <a:t>Power companies must supply extra power</a:t>
            </a:r>
          </a:p>
          <a:p>
            <a:pPr marL="742950" lvl="1" indent="-285750">
              <a:buFont typeface="Courier New" panose="02070309020205020404" pitchFamily="49" charset="0"/>
              <a:buChar char="o"/>
            </a:pPr>
            <a:r>
              <a:rPr lang="en-US">
                <a:latin typeface="PT Sans"/>
                <a:ea typeface="Calibri" panose="020F0502020204030204"/>
                <a:cs typeface="Times New Roman"/>
              </a:rPr>
              <a:t>Extra power means greater stress</a:t>
            </a:r>
          </a:p>
          <a:p>
            <a:pPr marL="742950" lvl="1" indent="-285750">
              <a:buFont typeface="Courier New" panose="02070309020205020404" pitchFamily="49" charset="0"/>
              <a:buChar char="o"/>
            </a:pPr>
            <a:r>
              <a:rPr lang="en-US">
                <a:latin typeface="PT Sans"/>
                <a:ea typeface="Calibri" panose="020F0502020204030204"/>
                <a:cs typeface="Times New Roman"/>
              </a:rPr>
              <a:t>This solution is not long term</a:t>
            </a:r>
          </a:p>
          <a:p>
            <a:pPr marL="285750" indent="-285750">
              <a:buFont typeface="Wingdings"/>
              <a:buChar char="§"/>
            </a:pPr>
            <a:endParaRPr lang="en-US" sz="2000">
              <a:latin typeface="PT Sans"/>
              <a:ea typeface="Calibri" panose="020F0502020204030204"/>
              <a:cs typeface="Times New Roman"/>
            </a:endParaRPr>
          </a:p>
        </p:txBody>
      </p:sp>
      <p:sp>
        <p:nvSpPr>
          <p:cNvPr id="6" name="TextBox 5">
            <a:extLst>
              <a:ext uri="{FF2B5EF4-FFF2-40B4-BE49-F238E27FC236}">
                <a16:creationId xmlns:a16="http://schemas.microsoft.com/office/drawing/2014/main" id="{0F49E17A-7923-A0C2-0E78-66DE0049C0CA}"/>
              </a:ext>
            </a:extLst>
          </p:cNvPr>
          <p:cNvSpPr txBox="1"/>
          <p:nvPr/>
        </p:nvSpPr>
        <p:spPr>
          <a:xfrm>
            <a:off x="6387379" y="2157509"/>
            <a:ext cx="5741993"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latin typeface="PT Sans"/>
                <a:ea typeface="Calibri"/>
                <a:cs typeface="Times New Roman"/>
              </a:rPr>
              <a:t>Golf carts are a major form of transportation</a:t>
            </a:r>
          </a:p>
          <a:p>
            <a:pPr marL="285750" indent="-285750">
              <a:buFont typeface="Arial"/>
              <a:buChar char="•"/>
            </a:pPr>
            <a:r>
              <a:rPr lang="en-US">
                <a:latin typeface="PT Sans"/>
                <a:ea typeface="Calibri"/>
                <a:cs typeface="Times New Roman"/>
              </a:rPr>
              <a:t>Lead-acid batteries are used to power the carts</a:t>
            </a:r>
          </a:p>
          <a:p>
            <a:endParaRPr lang="en-US">
              <a:latin typeface="PT Sans"/>
              <a:ea typeface="Calibri"/>
              <a:cs typeface="Times New Roman"/>
            </a:endParaRPr>
          </a:p>
          <a:p>
            <a:pPr marL="342900" indent="-342900">
              <a:buFont typeface="Arial" panose="020B0604020202020204" pitchFamily="34" charset="0"/>
              <a:buChar char="•"/>
            </a:pPr>
            <a:r>
              <a:rPr lang="en-US" sz="2400">
                <a:latin typeface="PT Sans"/>
                <a:ea typeface="Calibri"/>
                <a:cs typeface="Times New Roman"/>
              </a:rPr>
              <a:t>Issue</a:t>
            </a:r>
          </a:p>
          <a:p>
            <a:pPr marL="742950" lvl="1" indent="-285750">
              <a:buFont typeface="Courier New" panose="02070309020205020404" pitchFamily="49" charset="0"/>
              <a:buChar char="o"/>
            </a:pPr>
            <a:r>
              <a:rPr lang="en-US">
                <a:latin typeface="PT Sans"/>
                <a:ea typeface="Calibri"/>
                <a:cs typeface="Times New Roman"/>
              </a:rPr>
              <a:t>These types of batteries have major drawbacks</a:t>
            </a:r>
          </a:p>
          <a:p>
            <a:pPr marL="742950" lvl="1" indent="-285750">
              <a:buFont typeface="Courier New" panose="02070309020205020404" pitchFamily="49" charset="0"/>
              <a:buChar char="o"/>
            </a:pPr>
            <a:r>
              <a:rPr lang="en-US">
                <a:latin typeface="PT Sans"/>
                <a:ea typeface="Calibri"/>
                <a:cs typeface="Times New Roman"/>
              </a:rPr>
              <a:t>Lead-acid batteries are nonrenewable</a:t>
            </a:r>
          </a:p>
          <a:p>
            <a:endParaRPr lang="en-US">
              <a:latin typeface="PT Sans"/>
              <a:ea typeface="Calibri"/>
              <a:cs typeface="Times New Roman"/>
            </a:endParaRPr>
          </a:p>
          <a:p>
            <a:pPr marL="342900" indent="-342900">
              <a:buFont typeface="Arial" panose="020B0604020202020204" pitchFamily="34" charset="0"/>
              <a:buChar char="•"/>
            </a:pPr>
            <a:r>
              <a:rPr lang="en-US" sz="2400">
                <a:latin typeface="PT Sans"/>
                <a:ea typeface="Calibri"/>
                <a:cs typeface="Times New Roman"/>
              </a:rPr>
              <a:t>Questions and Concerns</a:t>
            </a:r>
          </a:p>
          <a:p>
            <a:pPr marL="742950" lvl="1" indent="-285750">
              <a:buFont typeface="Courier New" panose="02070309020205020404" pitchFamily="49" charset="0"/>
              <a:buChar char="o"/>
            </a:pPr>
            <a:r>
              <a:rPr lang="en-US">
                <a:latin typeface="PT Sans"/>
                <a:ea typeface="Calibri"/>
                <a:cs typeface="Times New Roman"/>
              </a:rPr>
              <a:t>Is there a better solution?</a:t>
            </a:r>
          </a:p>
          <a:p>
            <a:pPr marL="742950" lvl="1" indent="-285750">
              <a:buFont typeface="Courier New" panose="02070309020205020404" pitchFamily="49" charset="0"/>
              <a:buChar char="o"/>
            </a:pPr>
            <a:r>
              <a:rPr lang="en-US">
                <a:latin typeface="PT Sans"/>
                <a:ea typeface="Calibri"/>
                <a:cs typeface="Times New Roman"/>
              </a:rPr>
              <a:t>Can a renewable resource be used instead?</a:t>
            </a:r>
          </a:p>
          <a:p>
            <a:pPr marL="742950" lvl="1" indent="-285750">
              <a:buFont typeface="Courier New" panose="02070309020205020404" pitchFamily="49" charset="0"/>
              <a:buChar char="o"/>
            </a:pPr>
            <a:r>
              <a:rPr lang="en-US">
                <a:latin typeface="PT Sans"/>
                <a:ea typeface="Calibri"/>
                <a:cs typeface="Times New Roman"/>
              </a:rPr>
              <a:t>Can this solution be used universally?</a:t>
            </a:r>
          </a:p>
        </p:txBody>
      </p:sp>
      <p:sp>
        <p:nvSpPr>
          <p:cNvPr id="7" name="Text Placeholder 2">
            <a:extLst>
              <a:ext uri="{FF2B5EF4-FFF2-40B4-BE49-F238E27FC236}">
                <a16:creationId xmlns:a16="http://schemas.microsoft.com/office/drawing/2014/main" id="{D91F3E79-90AD-63C8-942B-4DDB9F825948}"/>
              </a:ext>
            </a:extLst>
          </p:cNvPr>
          <p:cNvSpPr txBox="1">
            <a:spLocks/>
          </p:cNvSpPr>
          <p:nvPr/>
        </p:nvSpPr>
        <p:spPr>
          <a:xfrm>
            <a:off x="839788" y="1285319"/>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Engineering Context</a:t>
            </a:r>
          </a:p>
        </p:txBody>
      </p:sp>
      <p:sp>
        <p:nvSpPr>
          <p:cNvPr id="8" name="Text Placeholder 4">
            <a:extLst>
              <a:ext uri="{FF2B5EF4-FFF2-40B4-BE49-F238E27FC236}">
                <a16:creationId xmlns:a16="http://schemas.microsoft.com/office/drawing/2014/main" id="{1CA24588-9342-01E6-7AF0-5DA921ABE813}"/>
              </a:ext>
            </a:extLst>
          </p:cNvPr>
          <p:cNvSpPr txBox="1">
            <a:spLocks/>
          </p:cNvSpPr>
          <p:nvPr/>
        </p:nvSpPr>
        <p:spPr>
          <a:xfrm>
            <a:off x="6172200" y="1285319"/>
            <a:ext cx="5183188" cy="823912"/>
          </a:xfrm>
          <a:prstGeom prst="rect">
            <a:avLst/>
          </a:prstGeom>
        </p:spPr>
        <p:txBody>
          <a:bodyPr anchor="b"/>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t>Project Formulation</a:t>
            </a:r>
          </a:p>
        </p:txBody>
      </p:sp>
    </p:spTree>
    <p:extLst>
      <p:ext uri="{BB962C8B-B14F-4D97-AF65-F5344CB8AC3E}">
        <p14:creationId xmlns:p14="http://schemas.microsoft.com/office/powerpoint/2010/main" val="116740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C4B6F-9F23-8815-27FC-F4B5F48B9EC3}"/>
              </a:ext>
            </a:extLst>
          </p:cNvPr>
          <p:cNvSpPr>
            <a:spLocks noGrp="1"/>
          </p:cNvSpPr>
          <p:nvPr>
            <p:ph type="title"/>
          </p:nvPr>
        </p:nvSpPr>
        <p:spPr/>
        <p:txBody>
          <a:bodyPr/>
          <a:lstStyle/>
          <a:p>
            <a:r>
              <a:rPr lang="en-US">
                <a:latin typeface="PT Sans"/>
              </a:rPr>
              <a:t>Stakeholders</a:t>
            </a:r>
          </a:p>
        </p:txBody>
      </p:sp>
      <p:sp>
        <p:nvSpPr>
          <p:cNvPr id="3" name="Text Placeholder 2">
            <a:extLst>
              <a:ext uri="{FF2B5EF4-FFF2-40B4-BE49-F238E27FC236}">
                <a16:creationId xmlns:a16="http://schemas.microsoft.com/office/drawing/2014/main" id="{03C26F95-0AAE-4A5D-C681-166999EDB202}"/>
              </a:ext>
            </a:extLst>
          </p:cNvPr>
          <p:cNvSpPr>
            <a:spLocks noGrp="1"/>
          </p:cNvSpPr>
          <p:nvPr>
            <p:ph type="body" idx="1"/>
          </p:nvPr>
        </p:nvSpPr>
        <p:spPr>
          <a:xfrm>
            <a:off x="839788" y="1285319"/>
            <a:ext cx="5157787" cy="823912"/>
          </a:xfrm>
        </p:spPr>
        <p:txBody>
          <a:bodyPr/>
          <a:lstStyle/>
          <a:p>
            <a:r>
              <a:rPr lang="en-US"/>
              <a:t>Parties Involved</a:t>
            </a:r>
          </a:p>
        </p:txBody>
      </p:sp>
      <p:sp>
        <p:nvSpPr>
          <p:cNvPr id="4" name="Content Placeholder 3">
            <a:extLst>
              <a:ext uri="{FF2B5EF4-FFF2-40B4-BE49-F238E27FC236}">
                <a16:creationId xmlns:a16="http://schemas.microsoft.com/office/drawing/2014/main" id="{2613E701-D752-A1A4-8DB2-30451404286B}"/>
              </a:ext>
            </a:extLst>
          </p:cNvPr>
          <p:cNvSpPr>
            <a:spLocks noGrp="1"/>
          </p:cNvSpPr>
          <p:nvPr>
            <p:ph sz="half" idx="2"/>
          </p:nvPr>
        </p:nvSpPr>
        <p:spPr>
          <a:xfrm>
            <a:off x="839788" y="2109231"/>
            <a:ext cx="5181114" cy="4383644"/>
          </a:xfrm>
        </p:spPr>
        <p:txBody>
          <a:bodyPr vert="horz" lIns="91440" tIns="45720" rIns="91440" bIns="45720" rtlCol="0" anchor="t">
            <a:normAutofit fontScale="70000" lnSpcReduction="20000"/>
          </a:bodyPr>
          <a:lstStyle/>
          <a:p>
            <a:r>
              <a:rPr lang="en-US" err="1">
                <a:latin typeface="PT Sans"/>
              </a:rPr>
              <a:t>LaniEV</a:t>
            </a:r>
            <a:endParaRPr lang="en-US">
              <a:latin typeface="PT Sans"/>
            </a:endParaRPr>
          </a:p>
          <a:p>
            <a:pPr lvl="1">
              <a:buFont typeface="Courier New" panose="020B0604020202020204" pitchFamily="34" charset="0"/>
              <a:buChar char="o"/>
            </a:pPr>
            <a:r>
              <a:rPr lang="en-US" sz="2600">
                <a:latin typeface="PT Sans"/>
              </a:rPr>
              <a:t>Primary customer</a:t>
            </a:r>
          </a:p>
          <a:p>
            <a:pPr lvl="1">
              <a:buFont typeface="Courier New" panose="020B0604020202020204" pitchFamily="34" charset="0"/>
              <a:buChar char="o"/>
            </a:pPr>
            <a:r>
              <a:rPr lang="en-US" sz="2600">
                <a:latin typeface="PT Sans"/>
              </a:rPr>
              <a:t>Sponsoring company</a:t>
            </a:r>
          </a:p>
          <a:p>
            <a:pPr lvl="1">
              <a:buFont typeface="Courier New" panose="020B0604020202020204" pitchFamily="34" charset="0"/>
              <a:buChar char="o"/>
            </a:pPr>
            <a:r>
              <a:rPr lang="en-US" sz="2600">
                <a:latin typeface="PT Sans"/>
              </a:rPr>
              <a:t>Providing major materials to the team</a:t>
            </a:r>
          </a:p>
          <a:p>
            <a:pPr lvl="1">
              <a:buFont typeface="Courier New" panose="020B0604020202020204" pitchFamily="34" charset="0"/>
              <a:buChar char="o"/>
            </a:pPr>
            <a:r>
              <a:rPr lang="en-US" sz="2600">
                <a:latin typeface="PT Sans"/>
              </a:rPr>
              <a:t>Primary source for information and assistance</a:t>
            </a:r>
          </a:p>
          <a:p>
            <a:r>
              <a:rPr lang="en-US"/>
              <a:t>TN Technological University </a:t>
            </a:r>
          </a:p>
          <a:p>
            <a:pPr lvl="1">
              <a:buFont typeface="Courier New" panose="020B0604020202020204" pitchFamily="34" charset="0"/>
              <a:buChar char="o"/>
            </a:pPr>
            <a:r>
              <a:rPr lang="en-US" sz="2600">
                <a:latin typeface="PT Sans"/>
              </a:rPr>
              <a:t>Secondary beneficiary </a:t>
            </a:r>
          </a:p>
          <a:p>
            <a:pPr lvl="1">
              <a:buFont typeface="Courier New" panose="020B0604020202020204" pitchFamily="34" charset="0"/>
              <a:buChar char="o"/>
            </a:pPr>
            <a:r>
              <a:rPr lang="en-US" sz="2600">
                <a:latin typeface="PT Sans"/>
              </a:rPr>
              <a:t>Accredited institution</a:t>
            </a:r>
          </a:p>
          <a:p>
            <a:pPr lvl="1">
              <a:buFont typeface="Courier New" panose="020B0604020202020204" pitchFamily="34" charset="0"/>
              <a:buChar char="o"/>
            </a:pPr>
            <a:r>
              <a:rPr lang="en-US" sz="2600">
                <a:latin typeface="PT Sans"/>
              </a:rPr>
              <a:t>Providing a team of capstone students</a:t>
            </a:r>
          </a:p>
          <a:p>
            <a:pPr lvl="1">
              <a:buFont typeface="Courier New" panose="020B0604020202020204" pitchFamily="34" charset="0"/>
              <a:buChar char="o"/>
            </a:pPr>
            <a:r>
              <a:rPr lang="en-US" sz="2600">
                <a:latin typeface="PT Sans"/>
              </a:rPr>
              <a:t>Responsible for validation</a:t>
            </a:r>
            <a:endParaRPr lang="en-US" sz="2600"/>
          </a:p>
          <a:p>
            <a:r>
              <a:rPr lang="en-US"/>
              <a:t>Golf car consumers</a:t>
            </a:r>
          </a:p>
          <a:p>
            <a:pPr lvl="1">
              <a:buFont typeface="Courier New" panose="020B0604020202020204" pitchFamily="34" charset="0"/>
              <a:buChar char="o"/>
            </a:pPr>
            <a:r>
              <a:rPr lang="en-US" sz="2600">
                <a:latin typeface="PT Sans"/>
              </a:rPr>
              <a:t>Extended </a:t>
            </a:r>
          </a:p>
          <a:p>
            <a:pPr lvl="1">
              <a:buFont typeface="Courier New" panose="020B0604020202020204" pitchFamily="34" charset="0"/>
              <a:buChar char="o"/>
            </a:pPr>
            <a:r>
              <a:rPr lang="en-US" sz="2600">
                <a:latin typeface="PT Sans"/>
              </a:rPr>
              <a:t>Secondary customer</a:t>
            </a:r>
          </a:p>
          <a:p>
            <a:pPr lvl="1">
              <a:buFont typeface="Courier New" panose="020B0604020202020204" pitchFamily="34" charset="0"/>
              <a:buChar char="o"/>
            </a:pPr>
            <a:r>
              <a:rPr lang="en-US" sz="2600">
                <a:latin typeface="PT Sans"/>
              </a:rPr>
              <a:t>Main focus regarding design and manual</a:t>
            </a:r>
          </a:p>
        </p:txBody>
      </p:sp>
      <p:sp>
        <p:nvSpPr>
          <p:cNvPr id="5" name="Text Placeholder 4">
            <a:extLst>
              <a:ext uri="{FF2B5EF4-FFF2-40B4-BE49-F238E27FC236}">
                <a16:creationId xmlns:a16="http://schemas.microsoft.com/office/drawing/2014/main" id="{A50353D8-CCAF-62E5-E005-1AFADC0C7D11}"/>
              </a:ext>
            </a:extLst>
          </p:cNvPr>
          <p:cNvSpPr>
            <a:spLocks noGrp="1"/>
          </p:cNvSpPr>
          <p:nvPr>
            <p:ph type="body" sz="quarter" idx="3"/>
          </p:nvPr>
        </p:nvSpPr>
        <p:spPr>
          <a:xfrm>
            <a:off x="6172200" y="1285319"/>
            <a:ext cx="5183188" cy="823912"/>
          </a:xfrm>
        </p:spPr>
        <p:txBody>
          <a:bodyPr/>
          <a:lstStyle/>
          <a:p>
            <a:r>
              <a:rPr lang="en-US">
                <a:latin typeface="PT Sans"/>
              </a:rPr>
              <a:t>Context</a:t>
            </a:r>
            <a:endParaRPr lang="en-US"/>
          </a:p>
        </p:txBody>
      </p:sp>
      <p:sp>
        <p:nvSpPr>
          <p:cNvPr id="6" name="Content Placeholder 5">
            <a:extLst>
              <a:ext uri="{FF2B5EF4-FFF2-40B4-BE49-F238E27FC236}">
                <a16:creationId xmlns:a16="http://schemas.microsoft.com/office/drawing/2014/main" id="{69E279EB-C15C-D09C-2884-87A2EB048512}"/>
              </a:ext>
            </a:extLst>
          </p:cNvPr>
          <p:cNvSpPr>
            <a:spLocks noGrp="1"/>
          </p:cNvSpPr>
          <p:nvPr>
            <p:ph sz="quarter" idx="4"/>
          </p:nvPr>
        </p:nvSpPr>
        <p:spPr>
          <a:xfrm>
            <a:off x="6155140" y="2109230"/>
            <a:ext cx="5450457" cy="4417762"/>
          </a:xfrm>
        </p:spPr>
        <p:txBody>
          <a:bodyPr vert="horz" lIns="91440" tIns="45720" rIns="91440" bIns="45720" rtlCol="0" anchor="t">
            <a:noAutofit/>
          </a:bodyPr>
          <a:lstStyle/>
          <a:p>
            <a:r>
              <a:rPr lang="en-US" sz="2000">
                <a:latin typeface="PT Sans"/>
              </a:rPr>
              <a:t>Legacy </a:t>
            </a:r>
            <a:r>
              <a:rPr lang="en-US" sz="2000" b="1">
                <a:latin typeface="PT Sans"/>
              </a:rPr>
              <a:t>lead-acid battery systems</a:t>
            </a:r>
            <a:r>
              <a:rPr lang="en-US" sz="2000">
                <a:latin typeface="PT Sans"/>
              </a:rPr>
              <a:t> in LSVs/golf cars: </a:t>
            </a:r>
          </a:p>
          <a:p>
            <a:pPr lvl="1">
              <a:buFont typeface="Courier New,monospace" panose="020B0604020202020204" pitchFamily="34" charset="0"/>
              <a:buChar char="o"/>
            </a:pPr>
            <a:r>
              <a:rPr lang="en-US" sz="1800">
                <a:latin typeface="PT Sans"/>
              </a:rPr>
              <a:t>Low energy density, short lifecycle,  high maintenance </a:t>
            </a:r>
          </a:p>
          <a:p>
            <a:pPr lvl="1">
              <a:buFont typeface="Courier New,monospace" panose="020B0604020202020204" pitchFamily="34" charset="0"/>
              <a:buChar char="o"/>
            </a:pPr>
            <a:r>
              <a:rPr lang="en-US" sz="1800">
                <a:latin typeface="PT Sans"/>
              </a:rPr>
              <a:t>Environmental and cost inefficiencies </a:t>
            </a:r>
          </a:p>
          <a:p>
            <a:pPr>
              <a:buFont typeface="Courier New,monospace" panose="020B0604020202020204" pitchFamily="34" charset="0"/>
              <a:buChar char="o"/>
            </a:pPr>
            <a:r>
              <a:rPr lang="en-US" sz="2000">
                <a:latin typeface="PT Sans"/>
              </a:rPr>
              <a:t>Lack of a </a:t>
            </a:r>
            <a:r>
              <a:rPr lang="en-US" sz="2000" b="1">
                <a:latin typeface="PT Sans"/>
              </a:rPr>
              <a:t>validated retrofit framework</a:t>
            </a:r>
            <a:r>
              <a:rPr lang="en-US" sz="2000">
                <a:latin typeface="PT Sans"/>
              </a:rPr>
              <a:t> limits large-scale adoption </a:t>
            </a:r>
          </a:p>
          <a:p>
            <a:pPr>
              <a:buFont typeface="Courier New,monospace" panose="020B0604020202020204" pitchFamily="34" charset="0"/>
              <a:buChar char="o"/>
            </a:pPr>
            <a:r>
              <a:rPr lang="en-US" sz="2000" b="1">
                <a:latin typeface="PT Sans"/>
              </a:rPr>
              <a:t>Engineering Need:</a:t>
            </a:r>
            <a:r>
              <a:rPr lang="en-US" sz="2000">
                <a:latin typeface="PT Sans"/>
              </a:rPr>
              <a:t> </a:t>
            </a:r>
          </a:p>
          <a:p>
            <a:pPr lvl="1">
              <a:buFont typeface="Courier New,monospace" panose="020B0604020202020204" pitchFamily="34" charset="0"/>
              <a:buChar char="o"/>
            </a:pPr>
            <a:r>
              <a:rPr lang="en-US" sz="1800">
                <a:latin typeface="PT Sans"/>
              </a:rPr>
              <a:t>Develop a </a:t>
            </a:r>
            <a:r>
              <a:rPr lang="en-US" sz="1800" b="1">
                <a:latin typeface="PT Sans"/>
              </a:rPr>
              <a:t>universal solar + </a:t>
            </a:r>
            <a:r>
              <a:rPr lang="en-US" sz="1800" b="1" err="1">
                <a:latin typeface="PT Sans"/>
              </a:rPr>
              <a:t>LiFePO</a:t>
            </a:r>
            <a:r>
              <a:rPr lang="en-US" sz="1800" b="1">
                <a:latin typeface="PT Sans"/>
              </a:rPr>
              <a:t>₄ retrofit system</a:t>
            </a:r>
            <a:r>
              <a:rPr lang="en-US" sz="1800">
                <a:latin typeface="PT Sans"/>
              </a:rPr>
              <a:t> </a:t>
            </a:r>
          </a:p>
          <a:p>
            <a:pPr lvl="1">
              <a:buFont typeface="Courier New,monospace" panose="020B0604020202020204" pitchFamily="34" charset="0"/>
              <a:buChar char="o"/>
            </a:pPr>
            <a:r>
              <a:rPr lang="en-US" sz="1800">
                <a:latin typeface="PT Sans"/>
              </a:rPr>
              <a:t>Provide </a:t>
            </a:r>
            <a:r>
              <a:rPr lang="en-US" sz="1800" b="1">
                <a:latin typeface="PT Sans"/>
              </a:rPr>
              <a:t>validated performance, safety, and economic data</a:t>
            </a:r>
            <a:r>
              <a:rPr lang="en-US" sz="1800">
                <a:latin typeface="PT Sans"/>
              </a:rPr>
              <a:t> for commercialization</a:t>
            </a:r>
            <a:endParaRPr lang="en-US" sz="1800"/>
          </a:p>
          <a:p>
            <a:pPr lvl="1">
              <a:buFont typeface="Courier New" panose="020B0604020202020204" pitchFamily="34" charset="0"/>
              <a:buChar char="o"/>
            </a:pPr>
            <a:endParaRPr lang="en-US" sz="1800"/>
          </a:p>
        </p:txBody>
      </p:sp>
      <p:sp>
        <p:nvSpPr>
          <p:cNvPr id="7" name="Slide Number Placeholder 6">
            <a:extLst>
              <a:ext uri="{FF2B5EF4-FFF2-40B4-BE49-F238E27FC236}">
                <a16:creationId xmlns:a16="http://schemas.microsoft.com/office/drawing/2014/main" id="{FC3124BD-0368-0F3B-6BA8-1A4C3E543F8D}"/>
              </a:ext>
            </a:extLst>
          </p:cNvPr>
          <p:cNvSpPr>
            <a:spLocks noGrp="1"/>
          </p:cNvSpPr>
          <p:nvPr>
            <p:ph type="sldNum" sz="quarter" idx="12"/>
          </p:nvPr>
        </p:nvSpPr>
        <p:spPr/>
        <p:txBody>
          <a:bodyPr/>
          <a:lstStyle/>
          <a:p>
            <a:fld id="{4072BC8D-D296-40C7-BB87-C3ACFF7B6C6E}" type="slidenum">
              <a:rPr lang="en-US" smtClean="0"/>
              <a:pPr/>
              <a:t>4</a:t>
            </a:fld>
            <a:endParaRPr lang="en-US"/>
          </a:p>
        </p:txBody>
      </p:sp>
    </p:spTree>
    <p:extLst>
      <p:ext uri="{BB962C8B-B14F-4D97-AF65-F5344CB8AC3E}">
        <p14:creationId xmlns:p14="http://schemas.microsoft.com/office/powerpoint/2010/main" val="34720929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7070-1AF1-1DEE-8A20-9EBA74238032}"/>
              </a:ext>
            </a:extLst>
          </p:cNvPr>
          <p:cNvSpPr>
            <a:spLocks noGrp="1"/>
          </p:cNvSpPr>
          <p:nvPr>
            <p:ph type="title"/>
          </p:nvPr>
        </p:nvSpPr>
        <p:spPr/>
        <p:txBody>
          <a:bodyPr/>
          <a:lstStyle/>
          <a:p>
            <a:r>
              <a:rPr lang="en-US">
                <a:latin typeface="PT Sans"/>
              </a:rPr>
              <a:t>Problem Formulation</a:t>
            </a:r>
            <a:endParaRPr lang="en-US"/>
          </a:p>
        </p:txBody>
      </p:sp>
      <p:sp>
        <p:nvSpPr>
          <p:cNvPr id="7" name="Slide Number Placeholder 6">
            <a:extLst>
              <a:ext uri="{FF2B5EF4-FFF2-40B4-BE49-F238E27FC236}">
                <a16:creationId xmlns:a16="http://schemas.microsoft.com/office/drawing/2014/main" id="{E10B9CE2-FFB7-C823-CF25-EE5A7C16520F}"/>
              </a:ext>
            </a:extLst>
          </p:cNvPr>
          <p:cNvSpPr>
            <a:spLocks noGrp="1"/>
          </p:cNvSpPr>
          <p:nvPr>
            <p:ph type="sldNum" sz="quarter" idx="12"/>
          </p:nvPr>
        </p:nvSpPr>
        <p:spPr/>
        <p:txBody>
          <a:bodyPr/>
          <a:lstStyle/>
          <a:p>
            <a:fld id="{4072BC8D-D296-40C7-BB87-C3ACFF7B6C6E}" type="slidenum">
              <a:rPr lang="en-US" smtClean="0"/>
              <a:pPr/>
              <a:t>5</a:t>
            </a:fld>
            <a:endParaRPr lang="en-US"/>
          </a:p>
        </p:txBody>
      </p:sp>
      <p:sp>
        <p:nvSpPr>
          <p:cNvPr id="9" name="Text Placeholder 2">
            <a:extLst>
              <a:ext uri="{FF2B5EF4-FFF2-40B4-BE49-F238E27FC236}">
                <a16:creationId xmlns:a16="http://schemas.microsoft.com/office/drawing/2014/main" id="{09C358EB-87E6-E221-3BFC-36A11E1EBDC0}"/>
              </a:ext>
            </a:extLst>
          </p:cNvPr>
          <p:cNvSpPr>
            <a:spLocks noGrp="1"/>
          </p:cNvSpPr>
          <p:nvPr>
            <p:ph type="body" idx="1"/>
          </p:nvPr>
        </p:nvSpPr>
        <p:spPr>
          <a:xfrm>
            <a:off x="839788" y="1685895"/>
            <a:ext cx="5157787" cy="445280"/>
          </a:xfrm>
        </p:spPr>
        <p:txBody>
          <a:bodyPr/>
          <a:lstStyle/>
          <a:p>
            <a:r>
              <a:rPr lang="en-US">
                <a:latin typeface="PT Sans"/>
              </a:rPr>
              <a:t>Problem Statement</a:t>
            </a:r>
            <a:endParaRPr lang="en-US"/>
          </a:p>
        </p:txBody>
      </p:sp>
      <p:sp>
        <p:nvSpPr>
          <p:cNvPr id="11" name="Content Placeholder 3">
            <a:extLst>
              <a:ext uri="{FF2B5EF4-FFF2-40B4-BE49-F238E27FC236}">
                <a16:creationId xmlns:a16="http://schemas.microsoft.com/office/drawing/2014/main" id="{A946DBC0-FD2C-C07D-C409-ACD89ED3E10C}"/>
              </a:ext>
            </a:extLst>
          </p:cNvPr>
          <p:cNvSpPr>
            <a:spLocks noGrp="1"/>
          </p:cNvSpPr>
          <p:nvPr>
            <p:ph sz="half" idx="2"/>
          </p:nvPr>
        </p:nvSpPr>
        <p:spPr>
          <a:xfrm>
            <a:off x="839788" y="2140641"/>
            <a:ext cx="5232912" cy="4352615"/>
          </a:xfrm>
        </p:spPr>
        <p:txBody>
          <a:bodyPr vert="horz" lIns="91440" tIns="45720" rIns="91440" bIns="45720" rtlCol="0" anchor="t">
            <a:noAutofit/>
          </a:bodyPr>
          <a:lstStyle/>
          <a:p>
            <a:pPr marL="0" indent="0">
              <a:lnSpc>
                <a:spcPct val="150000"/>
              </a:lnSpc>
              <a:buNone/>
            </a:pPr>
            <a:r>
              <a:rPr lang="en-US" sz="2000">
                <a:latin typeface="PT Sans"/>
              </a:rPr>
              <a:t>Legacy low-speed vehicles and golf cars rely on lead-acid battery systems that impose limitations on energy density, life cycle, maintenance burden, and environmental impact, reducing overall efficiency and sustainability. The absence of standardized, validated performance and safety data for alternative energy systems prevents large-scale adoption and commercialization. </a:t>
            </a:r>
            <a:endParaRPr lang="en-US">
              <a:latin typeface="PT Sans"/>
            </a:endParaRPr>
          </a:p>
          <a:p>
            <a:pPr marL="0" indent="0">
              <a:lnSpc>
                <a:spcPct val="150000"/>
              </a:lnSpc>
              <a:buNone/>
            </a:pPr>
            <a:endParaRPr lang="en-US" sz="2000"/>
          </a:p>
        </p:txBody>
      </p:sp>
      <p:sp>
        <p:nvSpPr>
          <p:cNvPr id="13" name="Text Placeholder 4">
            <a:extLst>
              <a:ext uri="{FF2B5EF4-FFF2-40B4-BE49-F238E27FC236}">
                <a16:creationId xmlns:a16="http://schemas.microsoft.com/office/drawing/2014/main" id="{C5D4B0AE-2E8A-85D8-FC3B-C58848224E33}"/>
              </a:ext>
            </a:extLst>
          </p:cNvPr>
          <p:cNvSpPr>
            <a:spLocks noGrp="1"/>
          </p:cNvSpPr>
          <p:nvPr>
            <p:ph type="body" sz="quarter" idx="3"/>
          </p:nvPr>
        </p:nvSpPr>
        <p:spPr>
          <a:xfrm>
            <a:off x="6172200" y="1681163"/>
            <a:ext cx="5183188" cy="459478"/>
          </a:xfrm>
        </p:spPr>
        <p:txBody>
          <a:bodyPr/>
          <a:lstStyle/>
          <a:p>
            <a:r>
              <a:rPr lang="en-US">
                <a:latin typeface="PT Sans"/>
              </a:rPr>
              <a:t>Key Specifications</a:t>
            </a:r>
            <a:endParaRPr lang="en-US"/>
          </a:p>
        </p:txBody>
      </p:sp>
      <p:sp>
        <p:nvSpPr>
          <p:cNvPr id="15" name="Content Placeholder 5">
            <a:extLst>
              <a:ext uri="{FF2B5EF4-FFF2-40B4-BE49-F238E27FC236}">
                <a16:creationId xmlns:a16="http://schemas.microsoft.com/office/drawing/2014/main" id="{7FC8906C-492A-CF54-21FD-AFE829EA60B8}"/>
              </a:ext>
            </a:extLst>
          </p:cNvPr>
          <p:cNvSpPr>
            <a:spLocks noGrp="1"/>
          </p:cNvSpPr>
          <p:nvPr>
            <p:ph sz="quarter" idx="4"/>
          </p:nvPr>
        </p:nvSpPr>
        <p:spPr>
          <a:xfrm>
            <a:off x="6153268" y="2135908"/>
            <a:ext cx="5202120" cy="3497417"/>
          </a:xfrm>
        </p:spPr>
        <p:txBody>
          <a:bodyPr vert="horz" lIns="91440" tIns="45720" rIns="91440" bIns="45720" rtlCol="0" anchor="t">
            <a:normAutofit fontScale="62500" lnSpcReduction="20000"/>
          </a:bodyPr>
          <a:lstStyle/>
          <a:p>
            <a:r>
              <a:rPr lang="en-US" b="1"/>
              <a:t>Documentation &amp; Validation</a:t>
            </a:r>
            <a:endParaRPr lang="en-US"/>
          </a:p>
          <a:p>
            <a:pPr lvl="1">
              <a:buFont typeface="Courier New" panose="020B0604020202020204" pitchFamily="34" charset="0"/>
              <a:buChar char="o"/>
            </a:pPr>
            <a:r>
              <a:rPr lang="en-US">
                <a:latin typeface="PT Sans"/>
              </a:rPr>
              <a:t>Initial vehicle condition report (baseline characterization) </a:t>
            </a:r>
          </a:p>
          <a:p>
            <a:pPr lvl="1">
              <a:buFont typeface="Courier New" panose="020B0604020202020204" pitchFamily="34" charset="0"/>
              <a:buChar char="o"/>
            </a:pPr>
            <a:r>
              <a:rPr lang="en-US">
                <a:latin typeface="PT Sans"/>
              </a:rPr>
              <a:t>Step-by-step conversion manual + installation logs </a:t>
            </a:r>
          </a:p>
          <a:p>
            <a:pPr lvl="1">
              <a:buFont typeface="Courier New" panose="020B0604020202020204" pitchFamily="34" charset="0"/>
              <a:buChar char="o"/>
            </a:pPr>
            <a:r>
              <a:rPr lang="en-US">
                <a:latin typeface="PT Sans"/>
              </a:rPr>
              <a:t>Post-conversion wiring schematic </a:t>
            </a:r>
          </a:p>
          <a:p>
            <a:r>
              <a:rPr lang="en-US" b="1"/>
              <a:t>Design &amp; Build</a:t>
            </a:r>
            <a:endParaRPr lang="en-US"/>
          </a:p>
          <a:p>
            <a:pPr lvl="1">
              <a:buFont typeface="Courier New" panose="020B0604020202020204" pitchFamily="34" charset="0"/>
              <a:buChar char="o"/>
            </a:pPr>
            <a:r>
              <a:rPr lang="en-US">
                <a:latin typeface="PT Sans"/>
              </a:rPr>
              <a:t>Survey top OEM platforms (Club Car, E-Z-GO, Yamaha) </a:t>
            </a:r>
          </a:p>
          <a:p>
            <a:pPr lvl="1">
              <a:buFont typeface="Courier New" panose="020B0604020202020204" pitchFamily="34" charset="0"/>
              <a:buChar char="o"/>
            </a:pPr>
            <a:r>
              <a:rPr lang="en-US">
                <a:latin typeface="PT Sans"/>
              </a:rPr>
              <a:t>Universal mounting kit CAD (≥2 platforms compatible) </a:t>
            </a:r>
          </a:p>
          <a:p>
            <a:pPr lvl="1">
              <a:buFont typeface="Courier New" panose="020B0604020202020204" pitchFamily="34" charset="0"/>
              <a:buChar char="o"/>
            </a:pPr>
            <a:r>
              <a:rPr lang="en-US">
                <a:latin typeface="PT Sans"/>
              </a:rPr>
              <a:t>Functional prototype fabrication </a:t>
            </a:r>
          </a:p>
          <a:p>
            <a:r>
              <a:rPr lang="en-US" b="1"/>
              <a:t>Analysis</a:t>
            </a:r>
            <a:endParaRPr lang="en-US"/>
          </a:p>
          <a:p>
            <a:pPr lvl="1">
              <a:buFont typeface="Courier New" panose="020B0604020202020204" pitchFamily="34" charset="0"/>
              <a:buChar char="o"/>
            </a:pPr>
            <a:r>
              <a:rPr lang="en-US">
                <a:latin typeface="PT Sans"/>
              </a:rPr>
              <a:t>Performance testing (efficiency, charge/discharge behavior) </a:t>
            </a:r>
          </a:p>
          <a:p>
            <a:pPr lvl="1">
              <a:buFont typeface="Courier New" panose="020B0604020202020204" pitchFamily="34" charset="0"/>
              <a:buChar char="o"/>
            </a:pPr>
            <a:r>
              <a:rPr lang="en-US">
                <a:latin typeface="PT Sans"/>
              </a:rPr>
              <a:t>Environmental impact (lead reduction, kWh savings) </a:t>
            </a:r>
          </a:p>
          <a:p>
            <a:pPr lvl="1">
              <a:buFont typeface="Courier New" panose="020B0604020202020204" pitchFamily="34" charset="0"/>
              <a:buChar char="o"/>
            </a:pPr>
            <a:r>
              <a:rPr lang="en-US">
                <a:latin typeface="PT Sans"/>
              </a:rPr>
              <a:t>ROI and economic scalability models</a:t>
            </a:r>
          </a:p>
          <a:p>
            <a:endParaRPr lang="en-US"/>
          </a:p>
        </p:txBody>
      </p:sp>
    </p:spTree>
    <p:extLst>
      <p:ext uri="{BB962C8B-B14F-4D97-AF65-F5344CB8AC3E}">
        <p14:creationId xmlns:p14="http://schemas.microsoft.com/office/powerpoint/2010/main" val="41359645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3B60-71F6-01DF-B1B5-9B12D125E978}"/>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3E8E19BB-F77E-E860-D4FE-7BEA5AE6BCFB}"/>
              </a:ext>
            </a:extLst>
          </p:cNvPr>
          <p:cNvSpPr txBox="1">
            <a:spLocks/>
          </p:cNvSpPr>
          <p:nvPr/>
        </p:nvSpPr>
        <p:spPr>
          <a:xfrm>
            <a:off x="840735" y="1682108"/>
            <a:ext cx="5157787" cy="445282"/>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atin typeface="PT Sans"/>
              </a:rPr>
              <a:t>Constraints</a:t>
            </a:r>
            <a:endParaRPr lang="en-US"/>
          </a:p>
        </p:txBody>
      </p:sp>
      <p:sp>
        <p:nvSpPr>
          <p:cNvPr id="2" name="Title 1">
            <a:extLst>
              <a:ext uri="{FF2B5EF4-FFF2-40B4-BE49-F238E27FC236}">
                <a16:creationId xmlns:a16="http://schemas.microsoft.com/office/drawing/2014/main" id="{BD9230D1-E348-C4F8-526A-8A027C807FED}"/>
              </a:ext>
            </a:extLst>
          </p:cNvPr>
          <p:cNvSpPr>
            <a:spLocks noGrp="1"/>
          </p:cNvSpPr>
          <p:nvPr>
            <p:ph type="title"/>
          </p:nvPr>
        </p:nvSpPr>
        <p:spPr/>
        <p:txBody>
          <a:bodyPr/>
          <a:lstStyle/>
          <a:p>
            <a:r>
              <a:rPr lang="en-US">
                <a:latin typeface="PT Sans"/>
              </a:rPr>
              <a:t>Standards and Regulations</a:t>
            </a:r>
            <a:endParaRPr lang="en-US"/>
          </a:p>
        </p:txBody>
      </p:sp>
      <p:sp>
        <p:nvSpPr>
          <p:cNvPr id="7" name="Slide Number Placeholder 6">
            <a:extLst>
              <a:ext uri="{FF2B5EF4-FFF2-40B4-BE49-F238E27FC236}">
                <a16:creationId xmlns:a16="http://schemas.microsoft.com/office/drawing/2014/main" id="{3E02DC06-0D2A-713F-AC6D-EAE76C438279}"/>
              </a:ext>
            </a:extLst>
          </p:cNvPr>
          <p:cNvSpPr>
            <a:spLocks noGrp="1"/>
          </p:cNvSpPr>
          <p:nvPr>
            <p:ph type="sldNum" sz="quarter" idx="12"/>
          </p:nvPr>
        </p:nvSpPr>
        <p:spPr/>
        <p:txBody>
          <a:bodyPr/>
          <a:lstStyle/>
          <a:p>
            <a:fld id="{4072BC8D-D296-40C7-BB87-C3ACFF7B6C6E}" type="slidenum">
              <a:rPr lang="en-US" smtClean="0"/>
              <a:pPr/>
              <a:t>6</a:t>
            </a:fld>
            <a:endParaRPr lang="en-US"/>
          </a:p>
        </p:txBody>
      </p:sp>
      <p:sp>
        <p:nvSpPr>
          <p:cNvPr id="19" name="Content Placeholder 3">
            <a:extLst>
              <a:ext uri="{FF2B5EF4-FFF2-40B4-BE49-F238E27FC236}">
                <a16:creationId xmlns:a16="http://schemas.microsoft.com/office/drawing/2014/main" id="{22437FAE-4454-4DF4-8643-EDE78F4CB1A7}"/>
              </a:ext>
            </a:extLst>
          </p:cNvPr>
          <p:cNvSpPr txBox="1">
            <a:spLocks/>
          </p:cNvSpPr>
          <p:nvPr/>
        </p:nvSpPr>
        <p:spPr>
          <a:xfrm>
            <a:off x="840735" y="2136853"/>
            <a:ext cx="5157787" cy="419574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PT Sans"/>
              </a:rPr>
              <a:t>Electrical &amp; Safety Standards</a:t>
            </a:r>
            <a:endParaRPr lang="en-US" sz="1800"/>
          </a:p>
          <a:p>
            <a:pPr lvl="1">
              <a:buFont typeface="Courier New" panose="020B0604020202020204" pitchFamily="34" charset="0"/>
              <a:buChar char="o"/>
            </a:pPr>
            <a:r>
              <a:rPr lang="en-US" sz="1600">
                <a:latin typeface="PT Sans"/>
              </a:rPr>
              <a:t>NEC (NFPA 70), NFPA 70E, NFPA 855 </a:t>
            </a:r>
            <a:endParaRPr lang="en-US" sz="1600"/>
          </a:p>
          <a:p>
            <a:pPr lvl="1">
              <a:buFont typeface="Courier New" panose="020B0604020202020204" pitchFamily="34" charset="0"/>
              <a:buChar char="o"/>
            </a:pPr>
            <a:r>
              <a:rPr lang="en-US" sz="1600">
                <a:latin typeface="PT Sans"/>
              </a:rPr>
              <a:t>OSHA 29 CFR 1910 (LOTO, electrical safety)</a:t>
            </a:r>
            <a:r>
              <a:rPr lang="en-US" sz="1800">
                <a:latin typeface="PT Sans"/>
              </a:rPr>
              <a:t> </a:t>
            </a:r>
            <a:endParaRPr lang="en-US" sz="1800"/>
          </a:p>
          <a:p>
            <a:r>
              <a:rPr lang="en-US" sz="1800" b="1">
                <a:latin typeface="PT Sans"/>
              </a:rPr>
              <a:t>Design &amp; Certification</a:t>
            </a:r>
            <a:endParaRPr lang="en-US" sz="1800"/>
          </a:p>
          <a:p>
            <a:pPr lvl="1">
              <a:buFont typeface="Courier New" panose="020B0604020202020204" pitchFamily="34" charset="0"/>
              <a:buChar char="o"/>
            </a:pPr>
            <a:r>
              <a:rPr lang="en-US" sz="1600">
                <a:latin typeface="PT Sans"/>
              </a:rPr>
              <a:t>UL standards (battery, BMS, converters) </a:t>
            </a:r>
            <a:endParaRPr lang="en-US" sz="1600"/>
          </a:p>
          <a:p>
            <a:pPr lvl="1">
              <a:buFont typeface="Courier New" panose="020B0604020202020204" pitchFamily="34" charset="0"/>
              <a:buChar char="o"/>
            </a:pPr>
            <a:r>
              <a:rPr lang="en-US" sz="1600">
                <a:latin typeface="PT Sans"/>
              </a:rPr>
              <a:t>SAE J2344 / J1772 (EV safety &amp; charging) </a:t>
            </a:r>
            <a:endParaRPr lang="en-US" sz="1600"/>
          </a:p>
          <a:p>
            <a:pPr lvl="1">
              <a:buFont typeface="Courier New" panose="020B0604020202020204" pitchFamily="34" charset="0"/>
              <a:buChar char="o"/>
            </a:pPr>
            <a:r>
              <a:rPr lang="en-US" sz="1600">
                <a:latin typeface="PT Sans"/>
              </a:rPr>
              <a:t>IEEE 1547 (grounding, interconnection) </a:t>
            </a:r>
            <a:endParaRPr lang="en-US" sz="1600"/>
          </a:p>
          <a:p>
            <a:r>
              <a:rPr lang="en-US" sz="1800" b="1">
                <a:latin typeface="PT Sans"/>
              </a:rPr>
              <a:t>Regulatory</a:t>
            </a:r>
            <a:endParaRPr lang="en-US" sz="1800"/>
          </a:p>
          <a:p>
            <a:pPr lvl="1">
              <a:buFont typeface="Courier New" panose="020B0604020202020204" pitchFamily="34" charset="0"/>
              <a:buChar char="o"/>
            </a:pPr>
            <a:r>
              <a:rPr lang="en-US" sz="1600">
                <a:latin typeface="PT Sans"/>
              </a:rPr>
              <a:t>FMVSS (LSV compliance) </a:t>
            </a:r>
            <a:endParaRPr lang="en-US" sz="1600"/>
          </a:p>
          <a:p>
            <a:pPr lvl="1">
              <a:buFont typeface="Courier New" panose="020B0604020202020204" pitchFamily="34" charset="0"/>
              <a:buChar char="o"/>
            </a:pPr>
            <a:r>
              <a:rPr lang="en-US" sz="1600">
                <a:latin typeface="PT Sans"/>
              </a:rPr>
              <a:t>EPA (battery disposal &amp; environmental handling) </a:t>
            </a:r>
            <a:endParaRPr lang="en-US" sz="1600"/>
          </a:p>
          <a:p>
            <a:pPr lvl="1">
              <a:buFont typeface="Courier New" panose="020B0604020202020204" pitchFamily="34" charset="0"/>
              <a:buChar char="o"/>
            </a:pPr>
            <a:r>
              <a:rPr lang="en-US" sz="1600">
                <a:latin typeface="PT Sans"/>
              </a:rPr>
              <a:t>ANSI Z535 (safety labeling) </a:t>
            </a:r>
            <a:endParaRPr lang="en-US" sz="1600"/>
          </a:p>
          <a:p>
            <a:endParaRPr lang="en-US" sz="1800"/>
          </a:p>
        </p:txBody>
      </p:sp>
      <p:sp>
        <p:nvSpPr>
          <p:cNvPr id="21" name="Text Placeholder 4">
            <a:extLst>
              <a:ext uri="{FF2B5EF4-FFF2-40B4-BE49-F238E27FC236}">
                <a16:creationId xmlns:a16="http://schemas.microsoft.com/office/drawing/2014/main" id="{850E1A20-D31B-0CA1-59E0-281878656C07}"/>
              </a:ext>
            </a:extLst>
          </p:cNvPr>
          <p:cNvSpPr txBox="1">
            <a:spLocks/>
          </p:cNvSpPr>
          <p:nvPr/>
        </p:nvSpPr>
        <p:spPr>
          <a:xfrm>
            <a:off x="6173147" y="1677376"/>
            <a:ext cx="5183188" cy="450013"/>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atin typeface="PT Sans"/>
              </a:rPr>
              <a:t>Measures of Success</a:t>
            </a:r>
            <a:endParaRPr lang="en-US"/>
          </a:p>
        </p:txBody>
      </p:sp>
      <p:sp>
        <p:nvSpPr>
          <p:cNvPr id="23" name="Content Placeholder 5">
            <a:extLst>
              <a:ext uri="{FF2B5EF4-FFF2-40B4-BE49-F238E27FC236}">
                <a16:creationId xmlns:a16="http://schemas.microsoft.com/office/drawing/2014/main" id="{4DB6C426-9FCC-2D4F-E9BD-9A7AF46ED216}"/>
              </a:ext>
            </a:extLst>
          </p:cNvPr>
          <p:cNvSpPr txBox="1">
            <a:spLocks/>
          </p:cNvSpPr>
          <p:nvPr/>
        </p:nvSpPr>
        <p:spPr>
          <a:xfrm>
            <a:off x="6169366" y="2132121"/>
            <a:ext cx="5426264" cy="4195742"/>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b="1">
                <a:latin typeface="PT Sans"/>
              </a:rPr>
              <a:t>Technical Performance</a:t>
            </a:r>
            <a:endParaRPr lang="en-US" sz="1800"/>
          </a:p>
          <a:p>
            <a:pPr lvl="1">
              <a:buFont typeface="Courier New" panose="020B0604020202020204" pitchFamily="34" charset="0"/>
              <a:buChar char="o"/>
            </a:pPr>
            <a:r>
              <a:rPr lang="en-US" sz="1600">
                <a:latin typeface="PT Sans"/>
              </a:rPr>
              <a:t>Improved energy efficiency vs. lead-acid baseline </a:t>
            </a:r>
            <a:endParaRPr lang="en-US" sz="1600"/>
          </a:p>
          <a:p>
            <a:pPr lvl="1">
              <a:buFont typeface="Courier New" panose="020B0604020202020204" pitchFamily="34" charset="0"/>
              <a:buChar char="o"/>
            </a:pPr>
            <a:r>
              <a:rPr lang="en-US" sz="1600">
                <a:latin typeface="PT Sans"/>
              </a:rPr>
              <a:t>Stable solar-assisted charging behavior </a:t>
            </a:r>
            <a:endParaRPr lang="en-US" sz="1600"/>
          </a:p>
          <a:p>
            <a:pPr lvl="1">
              <a:buFont typeface="Courier New" panose="020B0604020202020204" pitchFamily="34" charset="0"/>
              <a:buChar char="o"/>
            </a:pPr>
            <a:r>
              <a:rPr lang="en-US" sz="1600">
                <a:latin typeface="PT Sans"/>
              </a:rPr>
              <a:t>Reliable power delivery under load</a:t>
            </a:r>
            <a:endParaRPr lang="en-US" sz="1600"/>
          </a:p>
          <a:p>
            <a:r>
              <a:rPr lang="en-US" sz="1800" b="1">
                <a:latin typeface="PT Sans"/>
              </a:rPr>
              <a:t>Design Validation</a:t>
            </a:r>
            <a:r>
              <a:rPr lang="en-US" sz="1800">
                <a:latin typeface="PT Sans"/>
              </a:rPr>
              <a:t> </a:t>
            </a:r>
            <a:endParaRPr lang="en-US" sz="1800"/>
          </a:p>
          <a:p>
            <a:pPr lvl="1">
              <a:buFont typeface="Courier New" panose="020B0604020202020204" pitchFamily="34" charset="0"/>
              <a:buChar char="o"/>
            </a:pPr>
            <a:r>
              <a:rPr lang="en-US" sz="1600">
                <a:latin typeface="PT Sans"/>
              </a:rPr>
              <a:t>Universal kit fits ≥2 major LSV platforms </a:t>
            </a:r>
          </a:p>
          <a:p>
            <a:pPr lvl="1">
              <a:buFont typeface="Courier New" panose="020B0604020202020204" pitchFamily="34" charset="0"/>
              <a:buChar char="o"/>
            </a:pPr>
            <a:r>
              <a:rPr lang="en-US" sz="1600">
                <a:latin typeface="PT Sans"/>
              </a:rPr>
              <a:t>Non-invasive, structurally stable installation </a:t>
            </a:r>
          </a:p>
          <a:p>
            <a:r>
              <a:rPr lang="en-US" sz="1800" b="1">
                <a:latin typeface="PT Sans"/>
              </a:rPr>
              <a:t>Documentation Quality</a:t>
            </a:r>
            <a:r>
              <a:rPr lang="en-US" sz="1800">
                <a:latin typeface="PT Sans"/>
              </a:rPr>
              <a:t> </a:t>
            </a:r>
          </a:p>
          <a:p>
            <a:pPr lvl="1">
              <a:buFont typeface="Courier New" panose="020B0604020202020204" pitchFamily="34" charset="0"/>
              <a:buChar char="o"/>
            </a:pPr>
            <a:r>
              <a:rPr lang="en-US" sz="1600">
                <a:latin typeface="PT Sans"/>
              </a:rPr>
              <a:t>Reproducible installation + conversion procedures </a:t>
            </a:r>
          </a:p>
          <a:p>
            <a:pPr lvl="1">
              <a:buFont typeface="Courier New" panose="020B0604020202020204" pitchFamily="34" charset="0"/>
              <a:buChar char="o"/>
            </a:pPr>
            <a:r>
              <a:rPr lang="en-US" sz="1600">
                <a:latin typeface="PT Sans"/>
              </a:rPr>
              <a:t>Complete electrical and mechanical validation </a:t>
            </a:r>
          </a:p>
          <a:p>
            <a:r>
              <a:rPr lang="en-US" sz="1800" b="1">
                <a:latin typeface="PT Sans"/>
              </a:rPr>
              <a:t>Impact Metrics</a:t>
            </a:r>
            <a:r>
              <a:rPr lang="en-US" sz="1800">
                <a:latin typeface="PT Sans"/>
              </a:rPr>
              <a:t> </a:t>
            </a:r>
          </a:p>
          <a:p>
            <a:pPr lvl="1">
              <a:buFont typeface="Courier New" panose="020B0604020202020204" pitchFamily="34" charset="0"/>
              <a:buChar char="o"/>
            </a:pPr>
            <a:r>
              <a:rPr lang="en-US" sz="1600">
                <a:latin typeface="PT Sans"/>
              </a:rPr>
              <a:t>(Stretch Goal) Quantified reduction in lead waste &amp; grid usage </a:t>
            </a:r>
          </a:p>
          <a:p>
            <a:pPr lvl="1">
              <a:buFont typeface="Courier New" panose="020B0604020202020204" pitchFamily="34" charset="0"/>
              <a:buChar char="o"/>
            </a:pPr>
            <a:r>
              <a:rPr lang="en-US" sz="1600">
                <a:latin typeface="PT Sans"/>
              </a:rPr>
              <a:t>Scalable model for fleet-level adoption</a:t>
            </a:r>
          </a:p>
          <a:p>
            <a:endParaRPr lang="en-US" sz="1800"/>
          </a:p>
        </p:txBody>
      </p:sp>
    </p:spTree>
    <p:extLst>
      <p:ext uri="{BB962C8B-B14F-4D97-AF65-F5344CB8AC3E}">
        <p14:creationId xmlns:p14="http://schemas.microsoft.com/office/powerpoint/2010/main" val="3110829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57D0E-3359-85AA-8DFC-D74B1BA84F20}"/>
              </a:ext>
            </a:extLst>
          </p:cNvPr>
          <p:cNvSpPr>
            <a:spLocks noGrp="1"/>
          </p:cNvSpPr>
          <p:nvPr>
            <p:ph type="title"/>
          </p:nvPr>
        </p:nvSpPr>
        <p:spPr/>
        <p:txBody>
          <a:bodyPr/>
          <a:lstStyle/>
          <a:p>
            <a:r>
              <a:rPr lang="en-US">
                <a:latin typeface="PT Sans"/>
              </a:rPr>
              <a:t>Broader Impacts</a:t>
            </a:r>
            <a:endParaRPr lang="en-US"/>
          </a:p>
        </p:txBody>
      </p:sp>
      <p:sp>
        <p:nvSpPr>
          <p:cNvPr id="3" name="Text Placeholder 2">
            <a:extLst>
              <a:ext uri="{FF2B5EF4-FFF2-40B4-BE49-F238E27FC236}">
                <a16:creationId xmlns:a16="http://schemas.microsoft.com/office/drawing/2014/main" id="{4F20130E-0FBB-0502-1370-7AACE7286D53}"/>
              </a:ext>
            </a:extLst>
          </p:cNvPr>
          <p:cNvSpPr>
            <a:spLocks noGrp="1"/>
          </p:cNvSpPr>
          <p:nvPr>
            <p:ph type="body" idx="1"/>
          </p:nvPr>
        </p:nvSpPr>
        <p:spPr>
          <a:xfrm>
            <a:off x="839788" y="1681163"/>
            <a:ext cx="5157787" cy="414337"/>
          </a:xfrm>
        </p:spPr>
        <p:txBody>
          <a:bodyPr>
            <a:normAutofit lnSpcReduction="10000"/>
          </a:bodyPr>
          <a:lstStyle/>
          <a:p>
            <a:r>
              <a:rPr lang="en-US">
                <a:latin typeface="PT Sans"/>
              </a:rPr>
              <a:t>Global and Cultural Impacts</a:t>
            </a:r>
            <a:endParaRPr lang="en-US"/>
          </a:p>
        </p:txBody>
      </p:sp>
      <p:sp>
        <p:nvSpPr>
          <p:cNvPr id="4" name="Content Placeholder 3">
            <a:extLst>
              <a:ext uri="{FF2B5EF4-FFF2-40B4-BE49-F238E27FC236}">
                <a16:creationId xmlns:a16="http://schemas.microsoft.com/office/drawing/2014/main" id="{32E888A5-4F8F-E323-2342-CD0EAE745D46}"/>
              </a:ext>
            </a:extLst>
          </p:cNvPr>
          <p:cNvSpPr>
            <a:spLocks noGrp="1"/>
          </p:cNvSpPr>
          <p:nvPr>
            <p:ph sz="half" idx="2"/>
          </p:nvPr>
        </p:nvSpPr>
        <p:spPr>
          <a:xfrm>
            <a:off x="839788" y="2095500"/>
            <a:ext cx="5157787" cy="4094163"/>
          </a:xfrm>
        </p:spPr>
        <p:txBody>
          <a:bodyPr/>
          <a:lstStyle/>
          <a:p>
            <a:r>
              <a:rPr lang="en-US" sz="2200">
                <a:latin typeface="PT Sans"/>
              </a:rPr>
              <a:t>Increased Commercialization</a:t>
            </a:r>
            <a:endParaRPr lang="en-US" sz="2200"/>
          </a:p>
          <a:p>
            <a:pPr lvl="1">
              <a:buFont typeface="Courier New" panose="020B0604020202020204" pitchFamily="34" charset="0"/>
              <a:buChar char="o"/>
            </a:pPr>
            <a:r>
              <a:rPr lang="en-US" sz="1800">
                <a:latin typeface="PT Sans"/>
              </a:rPr>
              <a:t>Increased electrical integration in smaller vehicles</a:t>
            </a:r>
            <a:endParaRPr lang="en-US" sz="1800"/>
          </a:p>
          <a:p>
            <a:r>
              <a:rPr lang="en-US" sz="2200">
                <a:latin typeface="PT Sans"/>
              </a:rPr>
              <a:t>Expanded Areas of Use</a:t>
            </a:r>
            <a:endParaRPr lang="en-US" sz="2200"/>
          </a:p>
          <a:p>
            <a:pPr lvl="1">
              <a:buFont typeface="Courier New" panose="020B0604020202020204" pitchFamily="34" charset="0"/>
              <a:buChar char="o"/>
            </a:pPr>
            <a:r>
              <a:rPr lang="en-US" sz="1800">
                <a:latin typeface="PT Sans"/>
              </a:rPr>
              <a:t>Off-grid use</a:t>
            </a:r>
            <a:endParaRPr lang="en-US" sz="1800"/>
          </a:p>
          <a:p>
            <a:pPr lvl="1">
              <a:buFont typeface="Courier New" panose="020B0604020202020204" pitchFamily="34" charset="0"/>
              <a:buChar char="o"/>
            </a:pPr>
            <a:r>
              <a:rPr lang="en-US" sz="1800">
                <a:latin typeface="PT Sans"/>
              </a:rPr>
              <a:t>Rural communities</a:t>
            </a:r>
          </a:p>
          <a:p>
            <a:r>
              <a:rPr lang="en-US" sz="2200">
                <a:latin typeface="PT Sans"/>
              </a:rPr>
              <a:t>Reduced Dependence on Electrical Grid</a:t>
            </a:r>
          </a:p>
          <a:p>
            <a:pPr lvl="1">
              <a:buFont typeface="Courier New" panose="020B0604020202020204" pitchFamily="34" charset="0"/>
              <a:buChar char="o"/>
            </a:pPr>
            <a:r>
              <a:rPr lang="en-US" sz="1800">
                <a:latin typeface="PT Sans"/>
              </a:rPr>
              <a:t>Charging stations</a:t>
            </a:r>
            <a:endParaRPr lang="en-US" sz="1800"/>
          </a:p>
          <a:p>
            <a:pPr marL="0" indent="0">
              <a:buNone/>
            </a:pPr>
            <a:endParaRPr lang="en-US"/>
          </a:p>
        </p:txBody>
      </p:sp>
      <p:sp>
        <p:nvSpPr>
          <p:cNvPr id="5" name="Text Placeholder 4">
            <a:extLst>
              <a:ext uri="{FF2B5EF4-FFF2-40B4-BE49-F238E27FC236}">
                <a16:creationId xmlns:a16="http://schemas.microsoft.com/office/drawing/2014/main" id="{712309C9-B4DC-7FE5-5634-8135135B49CE}"/>
              </a:ext>
            </a:extLst>
          </p:cNvPr>
          <p:cNvSpPr>
            <a:spLocks noGrp="1"/>
          </p:cNvSpPr>
          <p:nvPr>
            <p:ph type="body" sz="quarter" idx="3"/>
          </p:nvPr>
        </p:nvSpPr>
        <p:spPr>
          <a:xfrm>
            <a:off x="6172200" y="1681163"/>
            <a:ext cx="5183188" cy="414337"/>
          </a:xfrm>
        </p:spPr>
        <p:txBody>
          <a:bodyPr>
            <a:normAutofit lnSpcReduction="10000"/>
          </a:bodyPr>
          <a:lstStyle/>
          <a:p>
            <a:r>
              <a:rPr lang="en-US">
                <a:latin typeface="PT Sans"/>
              </a:rPr>
              <a:t>Economic and Environmental Impacts</a:t>
            </a:r>
            <a:endParaRPr lang="en-US"/>
          </a:p>
        </p:txBody>
      </p:sp>
      <p:sp>
        <p:nvSpPr>
          <p:cNvPr id="6" name="Content Placeholder 5">
            <a:extLst>
              <a:ext uri="{FF2B5EF4-FFF2-40B4-BE49-F238E27FC236}">
                <a16:creationId xmlns:a16="http://schemas.microsoft.com/office/drawing/2014/main" id="{1C2CBCBA-0B93-7633-3883-51BCFBD7C10E}"/>
              </a:ext>
            </a:extLst>
          </p:cNvPr>
          <p:cNvSpPr>
            <a:spLocks noGrp="1"/>
          </p:cNvSpPr>
          <p:nvPr>
            <p:ph sz="quarter" idx="4"/>
          </p:nvPr>
        </p:nvSpPr>
        <p:spPr>
          <a:xfrm>
            <a:off x="6172200" y="2095500"/>
            <a:ext cx="5183188" cy="4094163"/>
          </a:xfrm>
        </p:spPr>
        <p:txBody>
          <a:bodyPr/>
          <a:lstStyle/>
          <a:p>
            <a:r>
              <a:rPr lang="en-US" sz="2200">
                <a:latin typeface="PT Sans"/>
              </a:rPr>
              <a:t>Affordability</a:t>
            </a:r>
            <a:endParaRPr lang="en-US" sz="2200"/>
          </a:p>
          <a:p>
            <a:pPr lvl="1">
              <a:buFont typeface="Courier New" panose="020B0604020202020204" pitchFamily="34" charset="0"/>
              <a:buChar char="o"/>
            </a:pPr>
            <a:r>
              <a:rPr lang="en-US" sz="1800">
                <a:latin typeface="PT Sans"/>
              </a:rPr>
              <a:t>Large fleets</a:t>
            </a:r>
            <a:endParaRPr lang="en-US" sz="1800"/>
          </a:p>
          <a:p>
            <a:pPr lvl="1">
              <a:buFont typeface="Courier New" panose="020B0604020202020204" pitchFamily="34" charset="0"/>
              <a:buChar char="o"/>
            </a:pPr>
            <a:r>
              <a:rPr lang="en-US" sz="1800">
                <a:latin typeface="PT Sans"/>
              </a:rPr>
              <a:t>Cheaper than alternatives</a:t>
            </a:r>
          </a:p>
          <a:p>
            <a:r>
              <a:rPr lang="en-US" sz="2200">
                <a:latin typeface="PT Sans"/>
              </a:rPr>
              <a:t>Increased Jobs</a:t>
            </a:r>
          </a:p>
          <a:p>
            <a:pPr lvl="1">
              <a:buFont typeface="Courier New" panose="020B0604020202020204" pitchFamily="34" charset="0"/>
              <a:buChar char="o"/>
            </a:pPr>
            <a:r>
              <a:rPr lang="en-US" sz="1800">
                <a:latin typeface="PT Sans"/>
              </a:rPr>
              <a:t>Manufacturing</a:t>
            </a:r>
          </a:p>
          <a:p>
            <a:pPr lvl="1">
              <a:buFont typeface="Courier New" panose="020B0604020202020204" pitchFamily="34" charset="0"/>
              <a:buChar char="o"/>
            </a:pPr>
            <a:r>
              <a:rPr lang="en-US" sz="1800">
                <a:latin typeface="PT Sans"/>
              </a:rPr>
              <a:t>Kit installation</a:t>
            </a:r>
          </a:p>
          <a:p>
            <a:pPr lvl="1">
              <a:buFont typeface="Courier New" panose="020B0604020202020204" pitchFamily="34" charset="0"/>
              <a:buChar char="o"/>
            </a:pPr>
            <a:r>
              <a:rPr lang="en-US" sz="1800">
                <a:latin typeface="PT Sans"/>
              </a:rPr>
              <a:t>Kit maintenance</a:t>
            </a:r>
          </a:p>
          <a:p>
            <a:r>
              <a:rPr lang="en-US" sz="2200">
                <a:latin typeface="PT Sans"/>
              </a:rPr>
              <a:t>CO2 Emissions</a:t>
            </a:r>
          </a:p>
          <a:p>
            <a:pPr lvl="1">
              <a:buFont typeface="Courier New" panose="02070309020205020404" pitchFamily="49" charset="0"/>
              <a:buChar char="o"/>
            </a:pPr>
            <a:r>
              <a:rPr lang="en-US" sz="1800">
                <a:latin typeface="PT Sans"/>
              </a:rPr>
              <a:t>Locally Reduced</a:t>
            </a:r>
          </a:p>
        </p:txBody>
      </p:sp>
      <p:sp>
        <p:nvSpPr>
          <p:cNvPr id="7" name="Slide Number Placeholder 6">
            <a:extLst>
              <a:ext uri="{FF2B5EF4-FFF2-40B4-BE49-F238E27FC236}">
                <a16:creationId xmlns:a16="http://schemas.microsoft.com/office/drawing/2014/main" id="{F9966FC4-E937-BCD8-9EE8-D82BDD4A26A5}"/>
              </a:ext>
            </a:extLst>
          </p:cNvPr>
          <p:cNvSpPr>
            <a:spLocks noGrp="1"/>
          </p:cNvSpPr>
          <p:nvPr>
            <p:ph type="sldNum" sz="quarter" idx="12"/>
          </p:nvPr>
        </p:nvSpPr>
        <p:spPr/>
        <p:txBody>
          <a:bodyPr/>
          <a:lstStyle/>
          <a:p>
            <a:fld id="{4072BC8D-D296-40C7-BB87-C3ACFF7B6C6E}" type="slidenum">
              <a:rPr lang="en-US" smtClean="0"/>
              <a:pPr/>
              <a:t>7</a:t>
            </a:fld>
            <a:endParaRPr lang="en-US"/>
          </a:p>
        </p:txBody>
      </p:sp>
    </p:spTree>
    <p:extLst>
      <p:ext uri="{BB962C8B-B14F-4D97-AF65-F5344CB8AC3E}">
        <p14:creationId xmlns:p14="http://schemas.microsoft.com/office/powerpoint/2010/main" val="16618318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54652E-2EB3-84AE-5D48-E2E4372F00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4458C9-9B79-E735-9ABB-7F05C3562511}"/>
              </a:ext>
            </a:extLst>
          </p:cNvPr>
          <p:cNvSpPr>
            <a:spLocks noGrp="1"/>
          </p:cNvSpPr>
          <p:nvPr>
            <p:ph type="title"/>
          </p:nvPr>
        </p:nvSpPr>
        <p:spPr/>
        <p:txBody>
          <a:bodyPr/>
          <a:lstStyle/>
          <a:p>
            <a:r>
              <a:rPr lang="en-US">
                <a:latin typeface="PT Sans"/>
              </a:rPr>
              <a:t>Broader Impacts</a:t>
            </a:r>
            <a:endParaRPr lang="en-US"/>
          </a:p>
        </p:txBody>
      </p:sp>
      <p:sp>
        <p:nvSpPr>
          <p:cNvPr id="3" name="Text Placeholder 2">
            <a:extLst>
              <a:ext uri="{FF2B5EF4-FFF2-40B4-BE49-F238E27FC236}">
                <a16:creationId xmlns:a16="http://schemas.microsoft.com/office/drawing/2014/main" id="{09A13581-6653-2072-BDEC-DE727BFA3C0D}"/>
              </a:ext>
            </a:extLst>
          </p:cNvPr>
          <p:cNvSpPr>
            <a:spLocks noGrp="1"/>
          </p:cNvSpPr>
          <p:nvPr>
            <p:ph type="body" idx="1"/>
          </p:nvPr>
        </p:nvSpPr>
        <p:spPr>
          <a:xfrm>
            <a:off x="839788" y="1681163"/>
            <a:ext cx="5157787" cy="414337"/>
          </a:xfrm>
        </p:spPr>
        <p:txBody>
          <a:bodyPr>
            <a:normAutofit lnSpcReduction="10000"/>
          </a:bodyPr>
          <a:lstStyle/>
          <a:p>
            <a:r>
              <a:rPr lang="en-US"/>
              <a:t>Ethical Considerations</a:t>
            </a:r>
          </a:p>
        </p:txBody>
      </p:sp>
      <p:sp>
        <p:nvSpPr>
          <p:cNvPr id="4" name="Content Placeholder 3">
            <a:extLst>
              <a:ext uri="{FF2B5EF4-FFF2-40B4-BE49-F238E27FC236}">
                <a16:creationId xmlns:a16="http://schemas.microsoft.com/office/drawing/2014/main" id="{352C2C48-BFD2-B03B-8447-48F16E0C4EB7}"/>
              </a:ext>
            </a:extLst>
          </p:cNvPr>
          <p:cNvSpPr>
            <a:spLocks noGrp="1"/>
          </p:cNvSpPr>
          <p:nvPr>
            <p:ph sz="half" idx="2"/>
          </p:nvPr>
        </p:nvSpPr>
        <p:spPr>
          <a:xfrm>
            <a:off x="839788" y="2095500"/>
            <a:ext cx="5157787" cy="4094163"/>
          </a:xfrm>
        </p:spPr>
        <p:txBody>
          <a:bodyPr/>
          <a:lstStyle/>
          <a:p>
            <a:pPr marL="285750" indent="-285750"/>
            <a:r>
              <a:rPr lang="en-US" sz="2200">
                <a:latin typeface="PT Sans"/>
              </a:rPr>
              <a:t>Honesty in Performance</a:t>
            </a:r>
            <a:endParaRPr lang="en-US" sz="2200" b="1">
              <a:latin typeface="PT Sans"/>
            </a:endParaRPr>
          </a:p>
          <a:p>
            <a:pPr marL="914400" lvl="1">
              <a:buFont typeface="Courier New" panose="020B0604020202020204" pitchFamily="34" charset="0"/>
              <a:buChar char="o"/>
            </a:pPr>
            <a:r>
              <a:rPr lang="en-US" sz="1800">
                <a:latin typeface="PT Sans"/>
              </a:rPr>
              <a:t>Limitations</a:t>
            </a:r>
          </a:p>
          <a:p>
            <a:pPr marL="457200" indent="-457200"/>
            <a:r>
              <a:rPr lang="en-US" sz="2200">
                <a:latin typeface="PT Sans"/>
              </a:rPr>
              <a:t>Affordable</a:t>
            </a:r>
          </a:p>
          <a:p>
            <a:pPr marL="914400" lvl="1">
              <a:buFont typeface="Courier New" panose="020B0604020202020204" pitchFamily="34" charset="0"/>
              <a:buChar char="o"/>
            </a:pPr>
            <a:r>
              <a:rPr lang="en-US" sz="1800">
                <a:latin typeface="PT Sans"/>
              </a:rPr>
              <a:t>Select cheap options without compromising safety</a:t>
            </a:r>
          </a:p>
          <a:p>
            <a:pPr marL="457200" indent="-457200"/>
            <a:r>
              <a:rPr lang="en-US" sz="2200">
                <a:latin typeface="PT Sans"/>
              </a:rPr>
              <a:t>Standards</a:t>
            </a:r>
          </a:p>
          <a:p>
            <a:pPr marL="914400" lvl="1">
              <a:buFont typeface="Courier New" panose="020B0604020202020204" pitchFamily="34" charset="0"/>
              <a:buChar char="o"/>
            </a:pPr>
            <a:r>
              <a:rPr lang="en-US" sz="1800">
                <a:latin typeface="PT Sans"/>
              </a:rPr>
              <a:t>All regulatory standards must be met</a:t>
            </a:r>
          </a:p>
        </p:txBody>
      </p:sp>
      <p:sp>
        <p:nvSpPr>
          <p:cNvPr id="5" name="Text Placeholder 4">
            <a:extLst>
              <a:ext uri="{FF2B5EF4-FFF2-40B4-BE49-F238E27FC236}">
                <a16:creationId xmlns:a16="http://schemas.microsoft.com/office/drawing/2014/main" id="{1BD8B7EA-28A4-8696-E082-50EF5C156F4F}"/>
              </a:ext>
            </a:extLst>
          </p:cNvPr>
          <p:cNvSpPr>
            <a:spLocks noGrp="1"/>
          </p:cNvSpPr>
          <p:nvPr>
            <p:ph type="body" sz="quarter" idx="3"/>
          </p:nvPr>
        </p:nvSpPr>
        <p:spPr>
          <a:xfrm>
            <a:off x="6172200" y="1681163"/>
            <a:ext cx="5183188" cy="414337"/>
          </a:xfrm>
        </p:spPr>
        <p:txBody>
          <a:bodyPr>
            <a:normAutofit lnSpcReduction="10000"/>
          </a:bodyPr>
          <a:lstStyle/>
          <a:p>
            <a:r>
              <a:rPr lang="en-US">
                <a:latin typeface="PT Sans"/>
              </a:rPr>
              <a:t>Public Health, Safety, &amp; Welfare</a:t>
            </a:r>
          </a:p>
        </p:txBody>
      </p:sp>
      <p:sp>
        <p:nvSpPr>
          <p:cNvPr id="6" name="Content Placeholder 5">
            <a:extLst>
              <a:ext uri="{FF2B5EF4-FFF2-40B4-BE49-F238E27FC236}">
                <a16:creationId xmlns:a16="http://schemas.microsoft.com/office/drawing/2014/main" id="{923F4779-0D93-7286-93D5-301BBD1C2AB0}"/>
              </a:ext>
            </a:extLst>
          </p:cNvPr>
          <p:cNvSpPr>
            <a:spLocks noGrp="1"/>
          </p:cNvSpPr>
          <p:nvPr>
            <p:ph sz="quarter" idx="4"/>
          </p:nvPr>
        </p:nvSpPr>
        <p:spPr>
          <a:xfrm>
            <a:off x="6172200" y="2095500"/>
            <a:ext cx="5183188" cy="4094163"/>
          </a:xfrm>
        </p:spPr>
        <p:txBody>
          <a:bodyPr vert="horz" lIns="91440" tIns="45720" rIns="91440" bIns="45720" rtlCol="0" anchor="t">
            <a:normAutofit/>
          </a:bodyPr>
          <a:lstStyle/>
          <a:p>
            <a:pPr marL="457200" indent="-457200"/>
            <a:r>
              <a:rPr lang="en-US" sz="2200">
                <a:latin typeface="PT Sans"/>
              </a:rPr>
              <a:t>Physical Safety</a:t>
            </a:r>
            <a:endParaRPr lang="en-US" sz="2200"/>
          </a:p>
          <a:p>
            <a:pPr marL="914400" lvl="1">
              <a:buFont typeface="Courier New" panose="020B0604020202020204" pitchFamily="34" charset="0"/>
              <a:buChar char="o"/>
            </a:pPr>
            <a:r>
              <a:rPr lang="en-US" sz="1800">
                <a:latin typeface="PT Sans"/>
              </a:rPr>
              <a:t>Design is safe</a:t>
            </a:r>
            <a:endParaRPr lang="en-US" sz="1800"/>
          </a:p>
          <a:p>
            <a:pPr marL="1428750" lvl="2" indent="-285750"/>
            <a:r>
              <a:rPr lang="en-US" sz="1800">
                <a:latin typeface="PT Sans"/>
              </a:rPr>
              <a:t>Customers</a:t>
            </a:r>
            <a:endParaRPr lang="en-US" sz="1800"/>
          </a:p>
          <a:p>
            <a:pPr marL="1428750" lvl="2" indent="-285750"/>
            <a:r>
              <a:rPr lang="en-US" sz="1800">
                <a:latin typeface="PT Sans"/>
              </a:rPr>
              <a:t>Maintenance workers</a:t>
            </a:r>
            <a:endParaRPr lang="en-US" sz="1800"/>
          </a:p>
          <a:p>
            <a:pPr marL="457200" indent="-457200"/>
            <a:r>
              <a:rPr lang="en-US" sz="2200">
                <a:latin typeface="PT Sans"/>
              </a:rPr>
              <a:t>Electrical Safety</a:t>
            </a:r>
          </a:p>
          <a:p>
            <a:pPr marL="914400" lvl="1">
              <a:buFont typeface="Courier New" panose="020B0604020202020204" pitchFamily="34" charset="0"/>
              <a:buChar char="o"/>
            </a:pPr>
            <a:r>
              <a:rPr lang="en-US" sz="1800">
                <a:latin typeface="PT Sans"/>
              </a:rPr>
              <a:t>Connections are safe</a:t>
            </a:r>
          </a:p>
          <a:p>
            <a:pPr marL="914400" lvl="1">
              <a:buFont typeface="Courier New" panose="020B0604020202020204" pitchFamily="34" charset="0"/>
              <a:buChar char="o"/>
            </a:pPr>
            <a:r>
              <a:rPr lang="en-US" sz="1800">
                <a:latin typeface="PT Sans"/>
              </a:rPr>
              <a:t>Fuses</a:t>
            </a:r>
          </a:p>
          <a:p>
            <a:pPr marL="914400" lvl="1">
              <a:buFont typeface="Courier New" panose="020B0604020202020204" pitchFamily="34" charset="0"/>
              <a:buChar char="o"/>
            </a:pPr>
            <a:r>
              <a:rPr lang="en-US" sz="1800">
                <a:latin typeface="PT Sans"/>
              </a:rPr>
              <a:t>Protected from elements</a:t>
            </a:r>
          </a:p>
        </p:txBody>
      </p:sp>
      <p:sp>
        <p:nvSpPr>
          <p:cNvPr id="7" name="Slide Number Placeholder 6">
            <a:extLst>
              <a:ext uri="{FF2B5EF4-FFF2-40B4-BE49-F238E27FC236}">
                <a16:creationId xmlns:a16="http://schemas.microsoft.com/office/drawing/2014/main" id="{A4F59ACA-894C-EDE5-2088-1746E39B1650}"/>
              </a:ext>
            </a:extLst>
          </p:cNvPr>
          <p:cNvSpPr>
            <a:spLocks noGrp="1"/>
          </p:cNvSpPr>
          <p:nvPr>
            <p:ph type="sldNum" sz="quarter" idx="12"/>
          </p:nvPr>
        </p:nvSpPr>
        <p:spPr/>
        <p:txBody>
          <a:bodyPr/>
          <a:lstStyle/>
          <a:p>
            <a:fld id="{4072BC8D-D296-40C7-BB87-C3ACFF7B6C6E}" type="slidenum">
              <a:rPr lang="en-US" smtClean="0"/>
              <a:pPr/>
              <a:t>8</a:t>
            </a:fld>
            <a:endParaRPr lang="en-US"/>
          </a:p>
        </p:txBody>
      </p:sp>
    </p:spTree>
    <p:extLst>
      <p:ext uri="{BB962C8B-B14F-4D97-AF65-F5344CB8AC3E}">
        <p14:creationId xmlns:p14="http://schemas.microsoft.com/office/powerpoint/2010/main" val="836170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30DFC-224D-0DB2-2F41-65CF8141BA29}"/>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A21EA87A-74A0-BD7B-EE6C-7F14C6B9DD70}"/>
              </a:ext>
            </a:extLst>
          </p:cNvPr>
          <p:cNvSpPr txBox="1">
            <a:spLocks/>
          </p:cNvSpPr>
          <p:nvPr/>
        </p:nvSpPr>
        <p:spPr>
          <a:xfrm>
            <a:off x="840735" y="1682108"/>
            <a:ext cx="5157787" cy="445280"/>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atin typeface="PT Sans"/>
              </a:rPr>
              <a:t>Cart Solutions</a:t>
            </a:r>
            <a:endParaRPr lang="en-US"/>
          </a:p>
        </p:txBody>
      </p:sp>
      <p:sp>
        <p:nvSpPr>
          <p:cNvPr id="2" name="Title 1">
            <a:extLst>
              <a:ext uri="{FF2B5EF4-FFF2-40B4-BE49-F238E27FC236}">
                <a16:creationId xmlns:a16="http://schemas.microsoft.com/office/drawing/2014/main" id="{A0AB9700-EC2F-195D-2C97-28DED95227B3}"/>
              </a:ext>
            </a:extLst>
          </p:cNvPr>
          <p:cNvSpPr>
            <a:spLocks noGrp="1"/>
          </p:cNvSpPr>
          <p:nvPr>
            <p:ph type="title"/>
          </p:nvPr>
        </p:nvSpPr>
        <p:spPr/>
        <p:txBody>
          <a:bodyPr/>
          <a:lstStyle/>
          <a:p>
            <a:r>
              <a:rPr lang="en-US">
                <a:latin typeface="PT Sans"/>
              </a:rPr>
              <a:t>Existing Solutions</a:t>
            </a:r>
            <a:endParaRPr lang="en-US"/>
          </a:p>
        </p:txBody>
      </p:sp>
      <p:sp>
        <p:nvSpPr>
          <p:cNvPr id="7" name="Slide Number Placeholder 6">
            <a:extLst>
              <a:ext uri="{FF2B5EF4-FFF2-40B4-BE49-F238E27FC236}">
                <a16:creationId xmlns:a16="http://schemas.microsoft.com/office/drawing/2014/main" id="{0698C6DD-2E27-D04F-B858-651B7B000BC5}"/>
              </a:ext>
            </a:extLst>
          </p:cNvPr>
          <p:cNvSpPr>
            <a:spLocks noGrp="1"/>
          </p:cNvSpPr>
          <p:nvPr>
            <p:ph type="sldNum" sz="quarter" idx="12"/>
          </p:nvPr>
        </p:nvSpPr>
        <p:spPr/>
        <p:txBody>
          <a:bodyPr/>
          <a:lstStyle/>
          <a:p>
            <a:fld id="{4072BC8D-D296-40C7-BB87-C3ACFF7B6C6E}" type="slidenum">
              <a:rPr lang="en-US" smtClean="0"/>
              <a:pPr/>
              <a:t>9</a:t>
            </a:fld>
            <a:endParaRPr lang="en-US"/>
          </a:p>
        </p:txBody>
      </p:sp>
      <p:sp>
        <p:nvSpPr>
          <p:cNvPr id="19" name="Content Placeholder 3">
            <a:extLst>
              <a:ext uri="{FF2B5EF4-FFF2-40B4-BE49-F238E27FC236}">
                <a16:creationId xmlns:a16="http://schemas.microsoft.com/office/drawing/2014/main" id="{879EDB34-5071-7182-C842-886150CF2D28}"/>
              </a:ext>
            </a:extLst>
          </p:cNvPr>
          <p:cNvSpPr txBox="1">
            <a:spLocks/>
          </p:cNvSpPr>
          <p:nvPr/>
        </p:nvSpPr>
        <p:spPr>
          <a:xfrm>
            <a:off x="840735" y="2136853"/>
            <a:ext cx="5157787" cy="4195743"/>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PT Sans"/>
              </a:rPr>
              <a:t>Gas</a:t>
            </a:r>
          </a:p>
          <a:p>
            <a:r>
              <a:rPr lang="en-US">
                <a:latin typeface="PT Sans"/>
              </a:rPr>
              <a:t>Electric</a:t>
            </a:r>
          </a:p>
          <a:p>
            <a:r>
              <a:rPr lang="en-US">
                <a:latin typeface="PT Sans"/>
              </a:rPr>
              <a:t>Renewable</a:t>
            </a:r>
          </a:p>
          <a:p>
            <a:pPr lvl="1">
              <a:buFont typeface="Courier New" panose="020B0604020202020204" pitchFamily="34" charset="0"/>
              <a:buChar char="o"/>
            </a:pPr>
            <a:r>
              <a:rPr lang="en-US">
                <a:latin typeface="PT Sans"/>
              </a:rPr>
              <a:t>Solar panel</a:t>
            </a:r>
          </a:p>
          <a:p>
            <a:pPr lvl="2">
              <a:buFont typeface="Wingdings" panose="020B0604020202020204" pitchFamily="34" charset="0"/>
              <a:buChar char="§"/>
            </a:pPr>
            <a:r>
              <a:rPr lang="en-US">
                <a:latin typeface="PT Sans"/>
              </a:rPr>
              <a:t>Monocrystalline</a:t>
            </a:r>
          </a:p>
          <a:p>
            <a:pPr lvl="2">
              <a:buFont typeface="Wingdings" panose="020B0604020202020204" pitchFamily="34" charset="0"/>
              <a:buChar char="§"/>
            </a:pPr>
            <a:r>
              <a:rPr lang="en-US">
                <a:latin typeface="PT Sans"/>
              </a:rPr>
              <a:t>Polycrystalline</a:t>
            </a:r>
          </a:p>
          <a:p>
            <a:pPr lvl="2">
              <a:buFont typeface="Wingdings" panose="020B0604020202020204" pitchFamily="34" charset="0"/>
              <a:buChar char="§"/>
            </a:pPr>
            <a:r>
              <a:rPr lang="en-US">
                <a:latin typeface="PT Sans"/>
              </a:rPr>
              <a:t>Thin-film</a:t>
            </a:r>
          </a:p>
          <a:p>
            <a:endParaRPr lang="en-US" sz="1800"/>
          </a:p>
        </p:txBody>
      </p:sp>
      <p:sp>
        <p:nvSpPr>
          <p:cNvPr id="21" name="Text Placeholder 4">
            <a:extLst>
              <a:ext uri="{FF2B5EF4-FFF2-40B4-BE49-F238E27FC236}">
                <a16:creationId xmlns:a16="http://schemas.microsoft.com/office/drawing/2014/main" id="{285F1186-B67C-5742-C425-674773237073}"/>
              </a:ext>
            </a:extLst>
          </p:cNvPr>
          <p:cNvSpPr txBox="1">
            <a:spLocks/>
          </p:cNvSpPr>
          <p:nvPr/>
        </p:nvSpPr>
        <p:spPr>
          <a:xfrm>
            <a:off x="4105607" y="1682108"/>
            <a:ext cx="5183188" cy="450013"/>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atin typeface="PT Sans"/>
              </a:rPr>
              <a:t>Solar Panel Solutions</a:t>
            </a:r>
            <a:endParaRPr lang="en-US"/>
          </a:p>
        </p:txBody>
      </p:sp>
      <p:sp>
        <p:nvSpPr>
          <p:cNvPr id="23" name="Content Placeholder 5">
            <a:extLst>
              <a:ext uri="{FF2B5EF4-FFF2-40B4-BE49-F238E27FC236}">
                <a16:creationId xmlns:a16="http://schemas.microsoft.com/office/drawing/2014/main" id="{27A881CB-8F4C-C51E-88FC-6E153D5A29AC}"/>
              </a:ext>
            </a:extLst>
          </p:cNvPr>
          <p:cNvSpPr txBox="1">
            <a:spLocks/>
          </p:cNvSpPr>
          <p:nvPr/>
        </p:nvSpPr>
        <p:spPr>
          <a:xfrm>
            <a:off x="4105607" y="2127389"/>
            <a:ext cx="3631859" cy="41957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atin typeface="PT Sans"/>
              </a:rPr>
              <a:t>Monocrystalline</a:t>
            </a:r>
          </a:p>
          <a:p>
            <a:pPr lvl="1">
              <a:buFont typeface="Courier New" panose="020B0604020202020204" pitchFamily="34" charset="0"/>
              <a:buChar char="o"/>
            </a:pPr>
            <a:r>
              <a:rPr lang="en-US">
                <a:latin typeface="PT Sans"/>
              </a:rPr>
              <a:t>Chosen</a:t>
            </a:r>
          </a:p>
          <a:p>
            <a:r>
              <a:rPr lang="en-US">
                <a:latin typeface="PT Sans"/>
              </a:rPr>
              <a:t>Polycrystalline</a:t>
            </a:r>
          </a:p>
          <a:p>
            <a:r>
              <a:rPr lang="en-US">
                <a:latin typeface="PT Sans"/>
              </a:rPr>
              <a:t>Thin-film</a:t>
            </a:r>
          </a:p>
          <a:p>
            <a:pPr lvl="1">
              <a:buFont typeface="Courier New" panose="020B0604020202020204" pitchFamily="34" charset="0"/>
              <a:buChar char="o"/>
            </a:pPr>
            <a:r>
              <a:rPr lang="en-US">
                <a:latin typeface="PT Sans"/>
              </a:rPr>
              <a:t>Less efficient</a:t>
            </a:r>
          </a:p>
          <a:p>
            <a:pPr lvl="1">
              <a:buFont typeface="Courier New" panose="020B0604020202020204" pitchFamily="34" charset="0"/>
              <a:buChar char="o"/>
            </a:pPr>
            <a:r>
              <a:rPr lang="en-US">
                <a:latin typeface="PT Sans"/>
              </a:rPr>
              <a:t>Shorter lifespan</a:t>
            </a:r>
          </a:p>
          <a:p>
            <a:endParaRPr lang="en-US" sz="1800"/>
          </a:p>
        </p:txBody>
      </p:sp>
      <p:sp>
        <p:nvSpPr>
          <p:cNvPr id="3" name="Content Placeholder 5">
            <a:extLst>
              <a:ext uri="{FF2B5EF4-FFF2-40B4-BE49-F238E27FC236}">
                <a16:creationId xmlns:a16="http://schemas.microsoft.com/office/drawing/2014/main" id="{B9AAA07E-7788-F5CB-8076-0C299228973A}"/>
              </a:ext>
            </a:extLst>
          </p:cNvPr>
          <p:cNvSpPr txBox="1">
            <a:spLocks/>
          </p:cNvSpPr>
          <p:nvPr/>
        </p:nvSpPr>
        <p:spPr>
          <a:xfrm>
            <a:off x="7620332" y="2146363"/>
            <a:ext cx="3631859" cy="41957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a:buChar char="•"/>
            </a:pPr>
            <a:r>
              <a:rPr lang="en-US">
                <a:latin typeface="PT Sans"/>
              </a:rPr>
              <a:t>Lithium-ion</a:t>
            </a:r>
          </a:p>
          <a:p>
            <a:pPr marL="914400" lvl="1" indent="-457200">
              <a:buFont typeface="Courier New"/>
              <a:buChar char="o"/>
            </a:pPr>
            <a:r>
              <a:rPr lang="en-US">
                <a:latin typeface="PT Sans"/>
              </a:rPr>
              <a:t>Chosen</a:t>
            </a:r>
          </a:p>
          <a:p>
            <a:pPr marL="457200" indent="-457200">
              <a:buFont typeface="Arial"/>
              <a:buChar char="•"/>
            </a:pPr>
            <a:r>
              <a:rPr lang="en-US">
                <a:latin typeface="PT Sans"/>
              </a:rPr>
              <a:t>Flood acid</a:t>
            </a:r>
          </a:p>
          <a:p>
            <a:pPr marL="457200" indent="-457200">
              <a:buFont typeface="Arial"/>
              <a:buChar char="•"/>
            </a:pPr>
            <a:r>
              <a:rPr lang="en-US">
                <a:latin typeface="PT Sans"/>
              </a:rPr>
              <a:t>Absorbed glass mat</a:t>
            </a:r>
            <a:endParaRPr lang="en-US"/>
          </a:p>
          <a:p>
            <a:pPr marL="457200" indent="-457200">
              <a:buFont typeface="Arial"/>
              <a:buChar char="•"/>
            </a:pPr>
            <a:r>
              <a:rPr lang="en-US">
                <a:latin typeface="PT Sans"/>
              </a:rPr>
              <a:t>Nickel-based</a:t>
            </a:r>
            <a:endParaRPr lang="en-US">
              <a:latin typeface="Calibri" panose="020F0502020204030204"/>
              <a:ea typeface="Calibri" panose="020F0502020204030204"/>
              <a:cs typeface="Calibri" panose="020F0502020204030204"/>
            </a:endParaRPr>
          </a:p>
          <a:p>
            <a:pPr marL="914400" lvl="1" indent="-457200">
              <a:buFont typeface="Courier New"/>
              <a:buChar char="o"/>
            </a:pPr>
            <a:r>
              <a:rPr lang="en-US">
                <a:latin typeface="PT Sans"/>
                <a:ea typeface="Calibri" panose="020F0502020204030204"/>
                <a:cs typeface="Calibri" panose="020F0502020204030204"/>
              </a:rPr>
              <a:t>Weight</a:t>
            </a:r>
          </a:p>
          <a:p>
            <a:pPr marL="914400" lvl="1" indent="-457200">
              <a:buFont typeface="Courier New"/>
              <a:buChar char="o"/>
            </a:pPr>
            <a:r>
              <a:rPr lang="en-US">
                <a:latin typeface="PT Sans"/>
                <a:ea typeface="Calibri" panose="020F0502020204030204"/>
                <a:cs typeface="Calibri" panose="020F0502020204030204"/>
              </a:rPr>
              <a:t>Range</a:t>
            </a:r>
          </a:p>
          <a:p>
            <a:pPr marL="914400" lvl="1" indent="-457200">
              <a:buFont typeface="Courier New"/>
              <a:buChar char="o"/>
            </a:pPr>
            <a:r>
              <a:rPr lang="en-US">
                <a:latin typeface="PT Sans"/>
                <a:ea typeface="Calibri" panose="020F0502020204030204"/>
                <a:cs typeface="Calibri" panose="020F0502020204030204"/>
              </a:rPr>
              <a:t>Space</a:t>
            </a:r>
          </a:p>
          <a:p>
            <a:pPr marL="914400" lvl="1" indent="-457200">
              <a:buFont typeface="Courier New"/>
              <a:buChar char="o"/>
            </a:pPr>
            <a:r>
              <a:rPr lang="en-US">
                <a:latin typeface="PT Sans"/>
                <a:ea typeface="Calibri" panose="020F0502020204030204"/>
                <a:cs typeface="Calibri" panose="020F0502020204030204"/>
              </a:rPr>
              <a:t>Cost</a:t>
            </a:r>
          </a:p>
          <a:p>
            <a:endParaRPr lang="en-US" sz="1800"/>
          </a:p>
        </p:txBody>
      </p:sp>
      <p:sp>
        <p:nvSpPr>
          <p:cNvPr id="4" name="Text Placeholder 4">
            <a:extLst>
              <a:ext uri="{FF2B5EF4-FFF2-40B4-BE49-F238E27FC236}">
                <a16:creationId xmlns:a16="http://schemas.microsoft.com/office/drawing/2014/main" id="{9D14F75B-8B19-F3CD-14A9-36E2D738CB60}"/>
              </a:ext>
            </a:extLst>
          </p:cNvPr>
          <p:cNvSpPr txBox="1">
            <a:spLocks/>
          </p:cNvSpPr>
          <p:nvPr/>
        </p:nvSpPr>
        <p:spPr>
          <a:xfrm>
            <a:off x="7620332" y="1682107"/>
            <a:ext cx="5183188" cy="450013"/>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a:latin typeface="PT Sans"/>
              </a:rPr>
              <a:t>Battery Solutions</a:t>
            </a:r>
            <a:endParaRPr lang="en-US"/>
          </a:p>
        </p:txBody>
      </p:sp>
    </p:spTree>
    <p:extLst>
      <p:ext uri="{BB962C8B-B14F-4D97-AF65-F5344CB8AC3E}">
        <p14:creationId xmlns:p14="http://schemas.microsoft.com/office/powerpoint/2010/main" val="3610718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5ECD-EFE7-9984-F945-005E223F6E5B}"/>
              </a:ext>
            </a:extLst>
          </p:cNvPr>
          <p:cNvSpPr>
            <a:spLocks noGrp="1"/>
          </p:cNvSpPr>
          <p:nvPr>
            <p:ph type="title"/>
          </p:nvPr>
        </p:nvSpPr>
        <p:spPr/>
        <p:txBody>
          <a:bodyPr/>
          <a:lstStyle/>
          <a:p>
            <a:r>
              <a:rPr lang="en-US">
                <a:latin typeface="PT Sans"/>
              </a:rPr>
              <a:t>Solar Panel Comparison</a:t>
            </a:r>
            <a:endParaRPr lang="en-US"/>
          </a:p>
        </p:txBody>
      </p:sp>
      <p:pic>
        <p:nvPicPr>
          <p:cNvPr id="5" name="Content Placeholder 4">
            <a:extLst>
              <a:ext uri="{FF2B5EF4-FFF2-40B4-BE49-F238E27FC236}">
                <a16:creationId xmlns:a16="http://schemas.microsoft.com/office/drawing/2014/main" id="{F61CAA1D-903A-32E5-EC58-0BD57F5C79D9}"/>
              </a:ext>
            </a:extLst>
          </p:cNvPr>
          <p:cNvPicPr>
            <a:picLocks noGrp="1" noChangeAspect="1"/>
          </p:cNvPicPr>
          <p:nvPr>
            <p:ph idx="1"/>
          </p:nvPr>
        </p:nvPicPr>
        <p:blipFill>
          <a:blip r:embed="rId2"/>
          <a:stretch>
            <a:fillRect/>
          </a:stretch>
        </p:blipFill>
        <p:spPr>
          <a:xfrm>
            <a:off x="835069" y="1693643"/>
            <a:ext cx="10521862" cy="4657056"/>
          </a:xfrm>
          <a:prstGeom prst="rect">
            <a:avLst/>
          </a:prstGeom>
        </p:spPr>
      </p:pic>
      <p:sp>
        <p:nvSpPr>
          <p:cNvPr id="4" name="Slide Number Placeholder 3">
            <a:extLst>
              <a:ext uri="{FF2B5EF4-FFF2-40B4-BE49-F238E27FC236}">
                <a16:creationId xmlns:a16="http://schemas.microsoft.com/office/drawing/2014/main" id="{3E54AFBC-1AD9-721D-08F2-48E2BD508E26}"/>
              </a:ext>
            </a:extLst>
          </p:cNvPr>
          <p:cNvSpPr>
            <a:spLocks noGrp="1"/>
          </p:cNvSpPr>
          <p:nvPr>
            <p:ph type="sldNum" sz="quarter" idx="12"/>
          </p:nvPr>
        </p:nvSpPr>
        <p:spPr/>
        <p:txBody>
          <a:bodyPr/>
          <a:lstStyle/>
          <a:p>
            <a:fld id="{4072BC8D-D296-40C7-BB87-C3ACFF7B6C6E}" type="slidenum">
              <a:rPr lang="en-US" smtClean="0"/>
              <a:pPr/>
              <a:t>10</a:t>
            </a:fld>
            <a:endParaRPr lang="en-US"/>
          </a:p>
        </p:txBody>
      </p:sp>
    </p:spTree>
    <p:extLst>
      <p:ext uri="{BB962C8B-B14F-4D97-AF65-F5344CB8AC3E}">
        <p14:creationId xmlns:p14="http://schemas.microsoft.com/office/powerpoint/2010/main" val="64256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185B2-E0E7-08F8-F15E-9F388C4E014A}"/>
              </a:ext>
            </a:extLst>
          </p:cNvPr>
          <p:cNvSpPr>
            <a:spLocks noGrp="1"/>
          </p:cNvSpPr>
          <p:nvPr>
            <p:ph type="title"/>
          </p:nvPr>
        </p:nvSpPr>
        <p:spPr/>
        <p:txBody>
          <a:bodyPr/>
          <a:lstStyle/>
          <a:p>
            <a:r>
              <a:rPr lang="en-US">
                <a:latin typeface="PT Sans"/>
              </a:rPr>
              <a:t>Battery Comparison</a:t>
            </a:r>
            <a:endParaRPr lang="en-US"/>
          </a:p>
        </p:txBody>
      </p:sp>
      <p:pic>
        <p:nvPicPr>
          <p:cNvPr id="20" name="Content Placeholder 19">
            <a:extLst>
              <a:ext uri="{FF2B5EF4-FFF2-40B4-BE49-F238E27FC236}">
                <a16:creationId xmlns:a16="http://schemas.microsoft.com/office/drawing/2014/main" id="{DFA70513-992A-9634-C31A-05F69F8C6B03}"/>
              </a:ext>
            </a:extLst>
          </p:cNvPr>
          <p:cNvPicPr>
            <a:picLocks noGrp="1" noChangeAspect="1"/>
          </p:cNvPicPr>
          <p:nvPr>
            <p:ph idx="1"/>
          </p:nvPr>
        </p:nvPicPr>
        <p:blipFill>
          <a:blip r:embed="rId2"/>
          <a:stretch>
            <a:fillRect/>
          </a:stretch>
        </p:blipFill>
        <p:spPr>
          <a:xfrm>
            <a:off x="842819" y="1676341"/>
            <a:ext cx="10506362" cy="4672997"/>
          </a:xfrm>
          <a:prstGeom prst="rect">
            <a:avLst/>
          </a:prstGeom>
        </p:spPr>
      </p:pic>
      <p:sp>
        <p:nvSpPr>
          <p:cNvPr id="4" name="Slide Number Placeholder 3">
            <a:extLst>
              <a:ext uri="{FF2B5EF4-FFF2-40B4-BE49-F238E27FC236}">
                <a16:creationId xmlns:a16="http://schemas.microsoft.com/office/drawing/2014/main" id="{5BD9B2E6-A888-4ED0-7FBD-A6125E7327EC}"/>
              </a:ext>
            </a:extLst>
          </p:cNvPr>
          <p:cNvSpPr>
            <a:spLocks noGrp="1"/>
          </p:cNvSpPr>
          <p:nvPr>
            <p:ph type="sldNum" sz="quarter" idx="12"/>
          </p:nvPr>
        </p:nvSpPr>
        <p:spPr/>
        <p:txBody>
          <a:bodyPr/>
          <a:lstStyle/>
          <a:p>
            <a:fld id="{4072BC8D-D296-40C7-BB87-C3ACFF7B6C6E}" type="slidenum">
              <a:rPr lang="en-US" smtClean="0"/>
              <a:pPr/>
              <a:t>11</a:t>
            </a:fld>
            <a:endParaRPr lang="en-US"/>
          </a:p>
        </p:txBody>
      </p:sp>
    </p:spTree>
    <p:extLst>
      <p:ext uri="{BB962C8B-B14F-4D97-AF65-F5344CB8AC3E}">
        <p14:creationId xmlns:p14="http://schemas.microsoft.com/office/powerpoint/2010/main" val="381521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58173-9FBD-0595-2E5D-BE3DF991B06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B452828-F8E0-C95E-973B-54391874D5C2}"/>
              </a:ext>
            </a:extLst>
          </p:cNvPr>
          <p:cNvSpPr>
            <a:spLocks noGrp="1"/>
          </p:cNvSpPr>
          <p:nvPr>
            <p:ph type="sldNum" sz="quarter" idx="12"/>
          </p:nvPr>
        </p:nvSpPr>
        <p:spPr/>
        <p:txBody>
          <a:bodyPr/>
          <a:lstStyle/>
          <a:p>
            <a:fld id="{4072BC8D-D296-40C7-BB87-C3ACFF7B6C6E}" type="slidenum">
              <a:rPr lang="en-US" smtClean="0"/>
              <a:pPr/>
              <a:t>12</a:t>
            </a:fld>
            <a:endParaRPr lang="en-US"/>
          </a:p>
        </p:txBody>
      </p:sp>
      <p:graphicFrame>
        <p:nvGraphicFramePr>
          <p:cNvPr id="5" name="Diagram 4">
            <a:extLst>
              <a:ext uri="{FF2B5EF4-FFF2-40B4-BE49-F238E27FC236}">
                <a16:creationId xmlns:a16="http://schemas.microsoft.com/office/drawing/2014/main" id="{9023B89C-AAE9-8DE6-3027-B5803D388CCD}"/>
              </a:ext>
            </a:extLst>
          </p:cNvPr>
          <p:cNvGraphicFramePr/>
          <p:nvPr>
            <p:extLst>
              <p:ext uri="{D42A27DB-BD31-4B8C-83A1-F6EECF244321}">
                <p14:modId xmlns:p14="http://schemas.microsoft.com/office/powerpoint/2010/main" val="3530854758"/>
              </p:ext>
            </p:extLst>
          </p:nvPr>
        </p:nvGraphicFramePr>
        <p:xfrm>
          <a:off x="2265916" y="1428067"/>
          <a:ext cx="8014677" cy="49015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rrow: Right 5">
            <a:extLst>
              <a:ext uri="{FF2B5EF4-FFF2-40B4-BE49-F238E27FC236}">
                <a16:creationId xmlns:a16="http://schemas.microsoft.com/office/drawing/2014/main" id="{2B842271-EE43-8AE5-B87F-8E77D218C0E9}"/>
              </a:ext>
            </a:extLst>
          </p:cNvPr>
          <p:cNvSpPr/>
          <p:nvPr/>
        </p:nvSpPr>
        <p:spPr>
          <a:xfrm>
            <a:off x="6096001" y="1641781"/>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8" name="Arrow: Right 7">
            <a:extLst>
              <a:ext uri="{FF2B5EF4-FFF2-40B4-BE49-F238E27FC236}">
                <a16:creationId xmlns:a16="http://schemas.microsoft.com/office/drawing/2014/main" id="{B6F2971F-F2BA-73DD-17D9-A22ED01B1B12}"/>
              </a:ext>
            </a:extLst>
          </p:cNvPr>
          <p:cNvSpPr/>
          <p:nvPr/>
        </p:nvSpPr>
        <p:spPr>
          <a:xfrm>
            <a:off x="6080501" y="2435873"/>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9" name="Arrow: Right 8">
            <a:extLst>
              <a:ext uri="{FF2B5EF4-FFF2-40B4-BE49-F238E27FC236}">
                <a16:creationId xmlns:a16="http://schemas.microsoft.com/office/drawing/2014/main" id="{7E4B48FB-0EB6-1F84-A49E-7F8550C3A923}"/>
              </a:ext>
            </a:extLst>
          </p:cNvPr>
          <p:cNvSpPr/>
          <p:nvPr/>
        </p:nvSpPr>
        <p:spPr>
          <a:xfrm>
            <a:off x="6080501" y="3297689"/>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0" name="Arrow: Right 9">
            <a:extLst>
              <a:ext uri="{FF2B5EF4-FFF2-40B4-BE49-F238E27FC236}">
                <a16:creationId xmlns:a16="http://schemas.microsoft.com/office/drawing/2014/main" id="{0880BEF1-BAD5-4E55-0466-54534FE1F166}"/>
              </a:ext>
            </a:extLst>
          </p:cNvPr>
          <p:cNvSpPr/>
          <p:nvPr/>
        </p:nvSpPr>
        <p:spPr>
          <a:xfrm>
            <a:off x="6080501" y="4133556"/>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1" name="Arrow: Right 10">
            <a:extLst>
              <a:ext uri="{FF2B5EF4-FFF2-40B4-BE49-F238E27FC236}">
                <a16:creationId xmlns:a16="http://schemas.microsoft.com/office/drawing/2014/main" id="{6B03AEED-1DED-A0B6-195C-7293ECD8C02E}"/>
              </a:ext>
            </a:extLst>
          </p:cNvPr>
          <p:cNvSpPr/>
          <p:nvPr/>
        </p:nvSpPr>
        <p:spPr>
          <a:xfrm>
            <a:off x="6096001" y="5010052"/>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2" name="Arrow: Right 11">
            <a:extLst>
              <a:ext uri="{FF2B5EF4-FFF2-40B4-BE49-F238E27FC236}">
                <a16:creationId xmlns:a16="http://schemas.microsoft.com/office/drawing/2014/main" id="{EB4D92B9-17A4-E9B3-5E87-FB5929F5C026}"/>
              </a:ext>
            </a:extLst>
          </p:cNvPr>
          <p:cNvSpPr/>
          <p:nvPr/>
        </p:nvSpPr>
        <p:spPr>
          <a:xfrm>
            <a:off x="6096001" y="5804144"/>
            <a:ext cx="331562" cy="262621"/>
          </a:xfrm>
          <a:prstGeom prst="rightArrow">
            <a:avLst>
              <a:gd name="adj1" fmla="val 66700"/>
              <a:gd name="adj2" fmla="val 50000"/>
            </a:avLst>
          </a:prstGeom>
          <a:solidFill>
            <a:srgbClr val="FECF0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4" name="Title 1">
            <a:extLst>
              <a:ext uri="{FF2B5EF4-FFF2-40B4-BE49-F238E27FC236}">
                <a16:creationId xmlns:a16="http://schemas.microsoft.com/office/drawing/2014/main" id="{F9F4501E-E231-7BA8-A4FB-5C8E35C4456F}"/>
              </a:ext>
            </a:extLst>
          </p:cNvPr>
          <p:cNvSpPr>
            <a:spLocks noGrp="1"/>
          </p:cNvSpPr>
          <p:nvPr>
            <p:ph type="title"/>
          </p:nvPr>
        </p:nvSpPr>
        <p:spPr>
          <a:xfrm>
            <a:off x="838200" y="365125"/>
            <a:ext cx="10515600" cy="1325563"/>
          </a:xfrm>
        </p:spPr>
        <p:txBody>
          <a:bodyPr/>
          <a:lstStyle/>
          <a:p>
            <a:r>
              <a:rPr lang="en-US">
                <a:latin typeface="PT Sans"/>
              </a:rPr>
              <a:t>Block Diagram</a:t>
            </a:r>
          </a:p>
        </p:txBody>
      </p:sp>
    </p:spTree>
    <p:extLst>
      <p:ext uri="{BB962C8B-B14F-4D97-AF65-F5344CB8AC3E}">
        <p14:creationId xmlns:p14="http://schemas.microsoft.com/office/powerpoint/2010/main" val="11090512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B3F5C-CB22-A8B5-0947-06BA0B6302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F60D5-B891-EE2C-5632-FD9FEFF54764}"/>
              </a:ext>
            </a:extLst>
          </p:cNvPr>
          <p:cNvSpPr>
            <a:spLocks noGrp="1"/>
          </p:cNvSpPr>
          <p:nvPr>
            <p:ph type="title"/>
          </p:nvPr>
        </p:nvSpPr>
        <p:spPr/>
        <p:txBody>
          <a:bodyPr/>
          <a:lstStyle/>
          <a:p>
            <a:r>
              <a:rPr lang="en-US">
                <a:latin typeface="PT Sans"/>
              </a:rPr>
              <a:t>Solution Operation</a:t>
            </a:r>
          </a:p>
        </p:txBody>
      </p:sp>
      <p:sp>
        <p:nvSpPr>
          <p:cNvPr id="4" name="Slide Number Placeholder 3">
            <a:extLst>
              <a:ext uri="{FF2B5EF4-FFF2-40B4-BE49-F238E27FC236}">
                <a16:creationId xmlns:a16="http://schemas.microsoft.com/office/drawing/2014/main" id="{3FA9F8C5-CCBB-346D-E5A6-785011D1F6E2}"/>
              </a:ext>
            </a:extLst>
          </p:cNvPr>
          <p:cNvSpPr>
            <a:spLocks noGrp="1"/>
          </p:cNvSpPr>
          <p:nvPr>
            <p:ph type="sldNum" sz="quarter" idx="12"/>
          </p:nvPr>
        </p:nvSpPr>
        <p:spPr/>
        <p:txBody>
          <a:bodyPr/>
          <a:lstStyle/>
          <a:p>
            <a:fld id="{4072BC8D-D296-40C7-BB87-C3ACFF7B6C6E}" type="slidenum">
              <a:rPr lang="en-US" smtClean="0"/>
              <a:pPr/>
              <a:t>13</a:t>
            </a:fld>
            <a:endParaRPr lang="en-US"/>
          </a:p>
        </p:txBody>
      </p:sp>
      <p:sp>
        <p:nvSpPr>
          <p:cNvPr id="9" name="Rectangle: Rounded Corners 8">
            <a:extLst>
              <a:ext uri="{FF2B5EF4-FFF2-40B4-BE49-F238E27FC236}">
                <a16:creationId xmlns:a16="http://schemas.microsoft.com/office/drawing/2014/main" id="{B139109F-AB4C-A81D-9484-7509A74F5D25}"/>
              </a:ext>
            </a:extLst>
          </p:cNvPr>
          <p:cNvSpPr/>
          <p:nvPr/>
        </p:nvSpPr>
        <p:spPr>
          <a:xfrm>
            <a:off x="837225" y="1587050"/>
            <a:ext cx="2180056" cy="815326"/>
          </a:xfrm>
          <a:prstGeom prst="round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a:solidFill>
                  <a:srgbClr val="FECF03"/>
                </a:solidFill>
                <a:ea typeface="Calibri"/>
                <a:cs typeface="Calibri"/>
              </a:rPr>
              <a:t>Document Initial Condition</a:t>
            </a:r>
          </a:p>
        </p:txBody>
      </p:sp>
      <p:sp>
        <p:nvSpPr>
          <p:cNvPr id="10" name="Rectangle: Rounded Corners 9">
            <a:extLst>
              <a:ext uri="{FF2B5EF4-FFF2-40B4-BE49-F238E27FC236}">
                <a16:creationId xmlns:a16="http://schemas.microsoft.com/office/drawing/2014/main" id="{7AA871CE-CA84-7212-6469-60FFAF1E2A61}"/>
              </a:ext>
            </a:extLst>
          </p:cNvPr>
          <p:cNvSpPr/>
          <p:nvPr/>
        </p:nvSpPr>
        <p:spPr>
          <a:xfrm>
            <a:off x="4557301" y="1587050"/>
            <a:ext cx="2170590"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Vehicle Preparation</a:t>
            </a:r>
            <a:endParaRPr lang="en-US" b="1"/>
          </a:p>
        </p:txBody>
      </p:sp>
      <p:sp>
        <p:nvSpPr>
          <p:cNvPr id="11" name="Rectangle: Rounded Corners 10">
            <a:extLst>
              <a:ext uri="{FF2B5EF4-FFF2-40B4-BE49-F238E27FC236}">
                <a16:creationId xmlns:a16="http://schemas.microsoft.com/office/drawing/2014/main" id="{31C4A85B-82E1-0483-3B2B-EAE02C67A3D7}"/>
              </a:ext>
            </a:extLst>
          </p:cNvPr>
          <p:cNvSpPr/>
          <p:nvPr/>
        </p:nvSpPr>
        <p:spPr>
          <a:xfrm>
            <a:off x="8267911" y="1587050"/>
            <a:ext cx="2180056"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Existing Kit Assembly</a:t>
            </a:r>
            <a:endParaRPr lang="en-US" b="1"/>
          </a:p>
        </p:txBody>
      </p:sp>
      <p:sp>
        <p:nvSpPr>
          <p:cNvPr id="12" name="Rectangle: Rounded Corners 11">
            <a:extLst>
              <a:ext uri="{FF2B5EF4-FFF2-40B4-BE49-F238E27FC236}">
                <a16:creationId xmlns:a16="http://schemas.microsoft.com/office/drawing/2014/main" id="{13F1C06D-5873-4289-6CCD-FE493152DD62}"/>
              </a:ext>
            </a:extLst>
          </p:cNvPr>
          <p:cNvSpPr/>
          <p:nvPr/>
        </p:nvSpPr>
        <p:spPr>
          <a:xfrm>
            <a:off x="8272642" y="2899654"/>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Existing Kit Wiring and Power</a:t>
            </a:r>
            <a:endParaRPr lang="en-US" b="1">
              <a:ea typeface="Calibri"/>
              <a:cs typeface="Calibri"/>
            </a:endParaRPr>
          </a:p>
        </p:txBody>
      </p:sp>
      <p:sp>
        <p:nvSpPr>
          <p:cNvPr id="13" name="Rectangle: Rounded Corners 12">
            <a:extLst>
              <a:ext uri="{FF2B5EF4-FFF2-40B4-BE49-F238E27FC236}">
                <a16:creationId xmlns:a16="http://schemas.microsoft.com/office/drawing/2014/main" id="{C81F23C1-9E2E-2105-84A9-96AA345F3F95}"/>
              </a:ext>
            </a:extLst>
          </p:cNvPr>
          <p:cNvSpPr/>
          <p:nvPr/>
        </p:nvSpPr>
        <p:spPr>
          <a:xfrm>
            <a:off x="4557300" y="2899654"/>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 Existing Kit Analysis</a:t>
            </a:r>
          </a:p>
        </p:txBody>
      </p:sp>
      <p:sp>
        <p:nvSpPr>
          <p:cNvPr id="14" name="Rectangle: Rounded Corners 13">
            <a:extLst>
              <a:ext uri="{FF2B5EF4-FFF2-40B4-BE49-F238E27FC236}">
                <a16:creationId xmlns:a16="http://schemas.microsoft.com/office/drawing/2014/main" id="{A4AEE0E0-57A2-FE6B-3C94-6F49021D7871}"/>
              </a:ext>
            </a:extLst>
          </p:cNvPr>
          <p:cNvSpPr/>
          <p:nvPr/>
        </p:nvSpPr>
        <p:spPr>
          <a:xfrm>
            <a:off x="837225" y="2915020"/>
            <a:ext cx="2184788" cy="815326"/>
          </a:xfrm>
          <a:prstGeom prst="round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FECF03"/>
                </a:solidFill>
                <a:ea typeface="Calibri"/>
                <a:cs typeface="Calibri"/>
              </a:rPr>
              <a:t>Existing Kit Documentation</a:t>
            </a:r>
          </a:p>
        </p:txBody>
      </p:sp>
      <p:sp>
        <p:nvSpPr>
          <p:cNvPr id="15" name="Rectangle: Rounded Corners 14">
            <a:extLst>
              <a:ext uri="{FF2B5EF4-FFF2-40B4-BE49-F238E27FC236}">
                <a16:creationId xmlns:a16="http://schemas.microsoft.com/office/drawing/2014/main" id="{54E40114-A110-C78C-08D6-3C3A17F92BB0}"/>
              </a:ext>
            </a:extLst>
          </p:cNvPr>
          <p:cNvSpPr/>
          <p:nvPr/>
        </p:nvSpPr>
        <p:spPr>
          <a:xfrm>
            <a:off x="837225" y="4212258"/>
            <a:ext cx="2184788" cy="815326"/>
          </a:xfrm>
          <a:prstGeom prst="round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FECF03"/>
                </a:solidFill>
                <a:ea typeface="Calibri"/>
                <a:cs typeface="Calibri"/>
              </a:rPr>
              <a:t>Universal Kit Design</a:t>
            </a:r>
          </a:p>
        </p:txBody>
      </p:sp>
      <p:sp>
        <p:nvSpPr>
          <p:cNvPr id="16" name="Rectangle: Rounded Corners 15">
            <a:extLst>
              <a:ext uri="{FF2B5EF4-FFF2-40B4-BE49-F238E27FC236}">
                <a16:creationId xmlns:a16="http://schemas.microsoft.com/office/drawing/2014/main" id="{DB0FE5F0-5EC6-E28D-6216-EC4E453B113E}"/>
              </a:ext>
            </a:extLst>
          </p:cNvPr>
          <p:cNvSpPr/>
          <p:nvPr/>
        </p:nvSpPr>
        <p:spPr>
          <a:xfrm>
            <a:off x="4557299" y="4212258"/>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Universal Kit Manufacturing</a:t>
            </a:r>
          </a:p>
        </p:txBody>
      </p:sp>
      <p:sp>
        <p:nvSpPr>
          <p:cNvPr id="17" name="Rectangle: Rounded Corners 16">
            <a:extLst>
              <a:ext uri="{FF2B5EF4-FFF2-40B4-BE49-F238E27FC236}">
                <a16:creationId xmlns:a16="http://schemas.microsoft.com/office/drawing/2014/main" id="{7E23323C-A4D0-6EF0-9A90-497A4D1E671C}"/>
              </a:ext>
            </a:extLst>
          </p:cNvPr>
          <p:cNvSpPr/>
          <p:nvPr/>
        </p:nvSpPr>
        <p:spPr>
          <a:xfrm>
            <a:off x="8277374" y="4212258"/>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 Universal Kit Assembly</a:t>
            </a:r>
          </a:p>
        </p:txBody>
      </p:sp>
      <p:sp>
        <p:nvSpPr>
          <p:cNvPr id="18" name="Rectangle: Rounded Corners 17">
            <a:extLst>
              <a:ext uri="{FF2B5EF4-FFF2-40B4-BE49-F238E27FC236}">
                <a16:creationId xmlns:a16="http://schemas.microsoft.com/office/drawing/2014/main" id="{DEC67D2A-3498-F016-5EDF-659E42FB60F1}"/>
              </a:ext>
            </a:extLst>
          </p:cNvPr>
          <p:cNvSpPr/>
          <p:nvPr/>
        </p:nvSpPr>
        <p:spPr>
          <a:xfrm>
            <a:off x="4557299" y="5524862"/>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 Universal Kit Testing &amp; Analysis</a:t>
            </a:r>
          </a:p>
        </p:txBody>
      </p:sp>
      <p:cxnSp>
        <p:nvCxnSpPr>
          <p:cNvPr id="19" name="Straight Arrow Connector 18">
            <a:extLst>
              <a:ext uri="{FF2B5EF4-FFF2-40B4-BE49-F238E27FC236}">
                <a16:creationId xmlns:a16="http://schemas.microsoft.com/office/drawing/2014/main" id="{A40887CB-98C3-CF10-B17C-A739FCEBAE96}"/>
              </a:ext>
            </a:extLst>
          </p:cNvPr>
          <p:cNvCxnSpPr>
            <a:cxnSpLocks/>
            <a:stCxn id="9" idx="3"/>
            <a:endCxn id="10" idx="1"/>
          </p:cNvCxnSpPr>
          <p:nvPr/>
        </p:nvCxnSpPr>
        <p:spPr>
          <a:xfrm>
            <a:off x="3017281" y="1994713"/>
            <a:ext cx="1540020"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87E9087-8BEC-1D72-2B7E-9CE2E1FAF4D2}"/>
              </a:ext>
            </a:extLst>
          </p:cNvPr>
          <p:cNvCxnSpPr>
            <a:cxnSpLocks/>
            <a:stCxn id="15" idx="3"/>
            <a:endCxn id="16" idx="1"/>
          </p:cNvCxnSpPr>
          <p:nvPr/>
        </p:nvCxnSpPr>
        <p:spPr>
          <a:xfrm>
            <a:off x="3022013" y="4619921"/>
            <a:ext cx="1535286"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495E748-4F23-DF87-93D5-392C35EC9301}"/>
              </a:ext>
            </a:extLst>
          </p:cNvPr>
          <p:cNvCxnSpPr>
            <a:cxnSpLocks/>
            <a:stCxn id="10" idx="3"/>
            <a:endCxn id="11" idx="1"/>
          </p:cNvCxnSpPr>
          <p:nvPr/>
        </p:nvCxnSpPr>
        <p:spPr>
          <a:xfrm>
            <a:off x="6727891" y="1994713"/>
            <a:ext cx="1540020"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050E623-8154-9286-87E6-C27F601D07CF}"/>
              </a:ext>
            </a:extLst>
          </p:cNvPr>
          <p:cNvCxnSpPr>
            <a:cxnSpLocks/>
            <a:stCxn id="11" idx="2"/>
            <a:endCxn id="12" idx="0"/>
          </p:cNvCxnSpPr>
          <p:nvPr/>
        </p:nvCxnSpPr>
        <p:spPr>
          <a:xfrm>
            <a:off x="9357939" y="2402376"/>
            <a:ext cx="7097" cy="497278"/>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6CBEB7F-364B-DDA9-7E2A-61E1D767DD60}"/>
              </a:ext>
            </a:extLst>
          </p:cNvPr>
          <p:cNvCxnSpPr>
            <a:cxnSpLocks/>
            <a:stCxn id="12" idx="1"/>
            <a:endCxn id="13" idx="3"/>
          </p:cNvCxnSpPr>
          <p:nvPr/>
        </p:nvCxnSpPr>
        <p:spPr>
          <a:xfrm flipH="1">
            <a:off x="6742088" y="3307317"/>
            <a:ext cx="1530554"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F39404B-39B8-DCB0-82ED-CEF69F8CA14B}"/>
              </a:ext>
            </a:extLst>
          </p:cNvPr>
          <p:cNvCxnSpPr>
            <a:cxnSpLocks/>
            <a:stCxn id="13" idx="1"/>
            <a:endCxn id="14" idx="3"/>
          </p:cNvCxnSpPr>
          <p:nvPr/>
        </p:nvCxnSpPr>
        <p:spPr>
          <a:xfrm flipH="1">
            <a:off x="3022013" y="3307317"/>
            <a:ext cx="1535287" cy="15366"/>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35AEFA6-2809-9B5B-19A8-99D1C429463A}"/>
              </a:ext>
            </a:extLst>
          </p:cNvPr>
          <p:cNvCxnSpPr>
            <a:cxnSpLocks/>
            <a:stCxn id="14" idx="2"/>
            <a:endCxn id="15" idx="0"/>
          </p:cNvCxnSpPr>
          <p:nvPr/>
        </p:nvCxnSpPr>
        <p:spPr>
          <a:xfrm>
            <a:off x="1929619" y="3730346"/>
            <a:ext cx="0" cy="481912"/>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F55517C5-42D3-C2C6-3C41-95EB7772A388}"/>
              </a:ext>
            </a:extLst>
          </p:cNvPr>
          <p:cNvCxnSpPr>
            <a:cxnSpLocks/>
            <a:stCxn id="16" idx="3"/>
            <a:endCxn id="17" idx="1"/>
          </p:cNvCxnSpPr>
          <p:nvPr/>
        </p:nvCxnSpPr>
        <p:spPr>
          <a:xfrm>
            <a:off x="6742087" y="4619921"/>
            <a:ext cx="1535287" cy="0"/>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9094811F-0EC5-0CDA-6B1F-4C0388C3FFBC}"/>
              </a:ext>
            </a:extLst>
          </p:cNvPr>
          <p:cNvCxnSpPr>
            <a:cxnSpLocks/>
            <a:stCxn id="3" idx="1"/>
            <a:endCxn id="18" idx="3"/>
          </p:cNvCxnSpPr>
          <p:nvPr/>
        </p:nvCxnSpPr>
        <p:spPr>
          <a:xfrm flipH="1">
            <a:off x="6742087" y="5932524"/>
            <a:ext cx="1521092" cy="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 name="Rectangle: Rounded Corners 2">
            <a:extLst>
              <a:ext uri="{FF2B5EF4-FFF2-40B4-BE49-F238E27FC236}">
                <a16:creationId xmlns:a16="http://schemas.microsoft.com/office/drawing/2014/main" id="{4FE51D26-3635-6768-23B8-E5862DC04684}"/>
              </a:ext>
            </a:extLst>
          </p:cNvPr>
          <p:cNvSpPr/>
          <p:nvPr/>
        </p:nvSpPr>
        <p:spPr>
          <a:xfrm>
            <a:off x="8263179" y="5524861"/>
            <a:ext cx="2184788" cy="815326"/>
          </a:xfrm>
          <a:prstGeom prst="roundRect">
            <a:avLst/>
          </a:prstGeom>
          <a:solidFill>
            <a:srgbClr val="FECF0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7030A0"/>
                </a:solidFill>
                <a:ea typeface="Calibri"/>
                <a:cs typeface="Calibri"/>
              </a:rPr>
              <a:t>Universal Kit Wiring and Power</a:t>
            </a:r>
            <a:endParaRPr lang="en-US" b="1">
              <a:ea typeface="Calibri"/>
              <a:cs typeface="Calibri"/>
            </a:endParaRPr>
          </a:p>
        </p:txBody>
      </p:sp>
      <p:cxnSp>
        <p:nvCxnSpPr>
          <p:cNvPr id="7" name="Straight Arrow Connector 6">
            <a:extLst>
              <a:ext uri="{FF2B5EF4-FFF2-40B4-BE49-F238E27FC236}">
                <a16:creationId xmlns:a16="http://schemas.microsoft.com/office/drawing/2014/main" id="{37DE9F6D-40C1-F6D8-6770-86DCD451524A}"/>
              </a:ext>
            </a:extLst>
          </p:cNvPr>
          <p:cNvCxnSpPr>
            <a:cxnSpLocks/>
            <a:stCxn id="17" idx="2"/>
            <a:endCxn id="3" idx="0"/>
          </p:cNvCxnSpPr>
          <p:nvPr/>
        </p:nvCxnSpPr>
        <p:spPr>
          <a:xfrm flipH="1">
            <a:off x="9355573" y="5027584"/>
            <a:ext cx="14195" cy="497277"/>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DF207212-6ABE-B628-3455-050906EE0664}"/>
              </a:ext>
            </a:extLst>
          </p:cNvPr>
          <p:cNvSpPr/>
          <p:nvPr/>
        </p:nvSpPr>
        <p:spPr>
          <a:xfrm>
            <a:off x="832493" y="5524861"/>
            <a:ext cx="2184788" cy="815326"/>
          </a:xfrm>
          <a:prstGeom prst="roundRect">
            <a:avLst/>
          </a:prstGeom>
          <a:solidFill>
            <a:srgbClr val="7030A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a:solidFill>
                  <a:srgbClr val="FECF03"/>
                </a:solidFill>
                <a:ea typeface="Calibri"/>
                <a:cs typeface="Calibri"/>
              </a:rPr>
              <a:t>Universal Kit Documentation</a:t>
            </a:r>
          </a:p>
        </p:txBody>
      </p:sp>
      <p:cxnSp>
        <p:nvCxnSpPr>
          <p:cNvPr id="24" name="Straight Arrow Connector 23">
            <a:extLst>
              <a:ext uri="{FF2B5EF4-FFF2-40B4-BE49-F238E27FC236}">
                <a16:creationId xmlns:a16="http://schemas.microsoft.com/office/drawing/2014/main" id="{0362AE72-FAB8-87FF-6F9C-7F0678F2D2E3}"/>
              </a:ext>
            </a:extLst>
          </p:cNvPr>
          <p:cNvCxnSpPr>
            <a:cxnSpLocks/>
            <a:stCxn id="18" idx="1"/>
            <a:endCxn id="22" idx="3"/>
          </p:cNvCxnSpPr>
          <p:nvPr/>
        </p:nvCxnSpPr>
        <p:spPr>
          <a:xfrm flipH="1" flipV="1">
            <a:off x="3017281" y="5932524"/>
            <a:ext cx="1540018" cy="1"/>
          </a:xfrm>
          <a:prstGeom prst="straightConnector1">
            <a:avLst/>
          </a:prstGeom>
          <a:ln w="571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3080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3D3EE-0159-885A-6033-0540590DC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77DFB-3D6F-0314-0BEC-DF538E32ED5D}"/>
              </a:ext>
            </a:extLst>
          </p:cNvPr>
          <p:cNvSpPr>
            <a:spLocks noGrp="1"/>
          </p:cNvSpPr>
          <p:nvPr>
            <p:ph type="title"/>
          </p:nvPr>
        </p:nvSpPr>
        <p:spPr/>
        <p:txBody>
          <a:bodyPr/>
          <a:lstStyle/>
          <a:p>
            <a:r>
              <a:rPr lang="en-US">
                <a:latin typeface="PT Sans"/>
              </a:rPr>
              <a:t>Detailed Design Subsystems</a:t>
            </a:r>
            <a:endParaRPr lang="en-US"/>
          </a:p>
        </p:txBody>
      </p:sp>
      <p:sp>
        <p:nvSpPr>
          <p:cNvPr id="3" name="Content Placeholder 2">
            <a:extLst>
              <a:ext uri="{FF2B5EF4-FFF2-40B4-BE49-F238E27FC236}">
                <a16:creationId xmlns:a16="http://schemas.microsoft.com/office/drawing/2014/main" id="{371A5E70-94FC-19B7-D0AA-39BAF121F624}"/>
              </a:ext>
            </a:extLst>
          </p:cNvPr>
          <p:cNvSpPr>
            <a:spLocks noGrp="1"/>
          </p:cNvSpPr>
          <p:nvPr>
            <p:ph idx="1"/>
          </p:nvPr>
        </p:nvSpPr>
        <p:spPr/>
        <p:txBody>
          <a:bodyPr vert="horz" lIns="91440" tIns="45720" rIns="91440" bIns="45720" rtlCol="0" anchor="t">
            <a:noAutofit/>
          </a:bodyPr>
          <a:lstStyle/>
          <a:p>
            <a:pPr marL="0" indent="0">
              <a:buNone/>
            </a:pPr>
            <a:r>
              <a:rPr lang="en-US" sz="2000" b="1">
                <a:latin typeface="PT Sans"/>
              </a:rPr>
              <a:t>Vehicle Preparation</a:t>
            </a:r>
            <a:endParaRPr lang="en-US" sz="2000">
              <a:latin typeface="PT Sans"/>
            </a:endParaRPr>
          </a:p>
          <a:p>
            <a:r>
              <a:rPr lang="en-US" sz="1400">
                <a:latin typeface="PT Sans"/>
              </a:rPr>
              <a:t>Prepare the existing golf car for retrofit</a:t>
            </a:r>
            <a:endParaRPr lang="en-US" sz="1400"/>
          </a:p>
          <a:p>
            <a:pPr marL="0" indent="0">
              <a:buNone/>
            </a:pPr>
            <a:r>
              <a:rPr lang="en-US" sz="2000" b="1">
                <a:latin typeface="PT Sans"/>
              </a:rPr>
              <a:t>Battery System Installation</a:t>
            </a:r>
            <a:endParaRPr lang="en-US" sz="2000">
              <a:latin typeface="PT Sans"/>
            </a:endParaRPr>
          </a:p>
          <a:p>
            <a:r>
              <a:rPr lang="en-US" sz="1400">
                <a:latin typeface="PT Sans"/>
              </a:rPr>
              <a:t>Install the battery, make necessary wire connections, and take any necessary safety precautions</a:t>
            </a:r>
            <a:endParaRPr lang="en-US" sz="1400"/>
          </a:p>
          <a:p>
            <a:pPr marL="0" indent="0">
              <a:buNone/>
            </a:pPr>
            <a:r>
              <a:rPr lang="en-US" sz="2000" b="1">
                <a:latin typeface="PT Sans"/>
              </a:rPr>
              <a:t>Structural Frame Design</a:t>
            </a:r>
            <a:endParaRPr lang="en-US" sz="2000">
              <a:latin typeface="PT Sans"/>
            </a:endParaRPr>
          </a:p>
          <a:p>
            <a:r>
              <a:rPr lang="en-US" sz="1400">
                <a:latin typeface="PT Sans"/>
              </a:rPr>
              <a:t>Design a mounting system for the solar panel that is compatible with the three primary golf car manufacturers</a:t>
            </a:r>
            <a:endParaRPr lang="en-US" sz="1400"/>
          </a:p>
          <a:p>
            <a:pPr marL="0" indent="0">
              <a:buNone/>
            </a:pPr>
            <a:r>
              <a:rPr lang="en-US" sz="2000" b="1">
                <a:latin typeface="PT Sans"/>
              </a:rPr>
              <a:t>Power Management and Charging</a:t>
            </a:r>
            <a:endParaRPr lang="en-US" sz="2000">
              <a:latin typeface="PT Sans"/>
            </a:endParaRPr>
          </a:p>
          <a:p>
            <a:pPr>
              <a:buFont typeface="Arial"/>
              <a:buChar char="•"/>
            </a:pPr>
            <a:r>
              <a:rPr lang="en-US" sz="1400">
                <a:latin typeface="PT Sans"/>
              </a:rPr>
              <a:t>Ensure the battery and solar panel are connected properly, and the wiring of the power system complies with regulations </a:t>
            </a:r>
          </a:p>
          <a:p>
            <a:pPr marL="0" indent="0">
              <a:buNone/>
            </a:pPr>
            <a:r>
              <a:rPr lang="en-US" sz="2000" b="1">
                <a:latin typeface="PT Sans"/>
              </a:rPr>
              <a:t>Solar Energy System</a:t>
            </a:r>
            <a:endParaRPr lang="en-US" sz="2000">
              <a:latin typeface="PT Sans"/>
            </a:endParaRPr>
          </a:p>
          <a:p>
            <a:r>
              <a:rPr lang="en-US" sz="1400">
                <a:latin typeface="PT Sans"/>
              </a:rPr>
              <a:t>Mount the solar panel and connect the wiring.</a:t>
            </a:r>
            <a:endParaRPr lang="en-US" sz="1400"/>
          </a:p>
        </p:txBody>
      </p:sp>
      <p:sp>
        <p:nvSpPr>
          <p:cNvPr id="4" name="Slide Number Placeholder 3">
            <a:extLst>
              <a:ext uri="{FF2B5EF4-FFF2-40B4-BE49-F238E27FC236}">
                <a16:creationId xmlns:a16="http://schemas.microsoft.com/office/drawing/2014/main" id="{E08D8487-6475-5D66-4FDB-037485ED5E36}"/>
              </a:ext>
            </a:extLst>
          </p:cNvPr>
          <p:cNvSpPr>
            <a:spLocks noGrp="1"/>
          </p:cNvSpPr>
          <p:nvPr>
            <p:ph type="sldNum" sz="quarter" idx="12"/>
          </p:nvPr>
        </p:nvSpPr>
        <p:spPr/>
        <p:txBody>
          <a:bodyPr/>
          <a:lstStyle/>
          <a:p>
            <a:fld id="{4072BC8D-D296-40C7-BB87-C3ACFF7B6C6E}" type="slidenum">
              <a:rPr lang="en-US" smtClean="0"/>
              <a:pPr/>
              <a:t>14</a:t>
            </a:fld>
            <a:endParaRPr lang="en-US"/>
          </a:p>
        </p:txBody>
      </p:sp>
    </p:spTree>
    <p:extLst>
      <p:ext uri="{BB962C8B-B14F-4D97-AF65-F5344CB8AC3E}">
        <p14:creationId xmlns:p14="http://schemas.microsoft.com/office/powerpoint/2010/main" val="705653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E9A9D-00C1-C024-9B35-49A45F33114E}"/>
            </a:ext>
          </a:extLst>
        </p:cNvPr>
        <p:cNvGrpSpPr/>
        <p:nvPr/>
      </p:nvGrpSpPr>
      <p:grpSpPr>
        <a:xfrm>
          <a:off x="0" y="0"/>
          <a:ext cx="0" cy="0"/>
          <a:chOff x="0" y="0"/>
          <a:chExt cx="0" cy="0"/>
        </a:xfrm>
      </p:grpSpPr>
      <p:sp>
        <p:nvSpPr>
          <p:cNvPr id="17" name="Text Placeholder 2">
            <a:extLst>
              <a:ext uri="{FF2B5EF4-FFF2-40B4-BE49-F238E27FC236}">
                <a16:creationId xmlns:a16="http://schemas.microsoft.com/office/drawing/2014/main" id="{C2E52800-A2C2-9252-3287-EF53C1B9C3A1}"/>
              </a:ext>
            </a:extLst>
          </p:cNvPr>
          <p:cNvSpPr txBox="1">
            <a:spLocks/>
          </p:cNvSpPr>
          <p:nvPr/>
        </p:nvSpPr>
        <p:spPr>
          <a:xfrm>
            <a:off x="840735" y="1682107"/>
            <a:ext cx="6198567" cy="2141031"/>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a:p>
        </p:txBody>
      </p:sp>
      <p:sp>
        <p:nvSpPr>
          <p:cNvPr id="2" name="Title 1">
            <a:extLst>
              <a:ext uri="{FF2B5EF4-FFF2-40B4-BE49-F238E27FC236}">
                <a16:creationId xmlns:a16="http://schemas.microsoft.com/office/drawing/2014/main" id="{D8A74C82-59A8-EFB2-9F92-9B6C6280FFCA}"/>
              </a:ext>
            </a:extLst>
          </p:cNvPr>
          <p:cNvSpPr>
            <a:spLocks noGrp="1"/>
          </p:cNvSpPr>
          <p:nvPr>
            <p:ph type="title"/>
          </p:nvPr>
        </p:nvSpPr>
        <p:spPr/>
        <p:txBody>
          <a:bodyPr>
            <a:normAutofit/>
          </a:bodyPr>
          <a:lstStyle/>
          <a:p>
            <a:r>
              <a:rPr lang="en-US">
                <a:latin typeface="PT Sans"/>
              </a:rPr>
              <a:t>Vehicle Preparation: Pre-conversion </a:t>
            </a:r>
            <a:endParaRPr lang="en-US"/>
          </a:p>
        </p:txBody>
      </p:sp>
      <p:sp>
        <p:nvSpPr>
          <p:cNvPr id="7" name="Slide Number Placeholder 6">
            <a:extLst>
              <a:ext uri="{FF2B5EF4-FFF2-40B4-BE49-F238E27FC236}">
                <a16:creationId xmlns:a16="http://schemas.microsoft.com/office/drawing/2014/main" id="{8228B44B-A7E2-6603-2504-E678B20C36EF}"/>
              </a:ext>
            </a:extLst>
          </p:cNvPr>
          <p:cNvSpPr>
            <a:spLocks noGrp="1"/>
          </p:cNvSpPr>
          <p:nvPr>
            <p:ph type="sldNum" sz="quarter" idx="12"/>
          </p:nvPr>
        </p:nvSpPr>
        <p:spPr/>
        <p:txBody>
          <a:bodyPr/>
          <a:lstStyle/>
          <a:p>
            <a:fld id="{4072BC8D-D296-40C7-BB87-C3ACFF7B6C6E}" type="slidenum">
              <a:rPr lang="en-US" smtClean="0"/>
              <a:pPr/>
              <a:t>15</a:t>
            </a:fld>
            <a:endParaRPr lang="en-US"/>
          </a:p>
        </p:txBody>
      </p:sp>
      <p:sp>
        <p:nvSpPr>
          <p:cNvPr id="21" name="Text Placeholder 4">
            <a:extLst>
              <a:ext uri="{FF2B5EF4-FFF2-40B4-BE49-F238E27FC236}">
                <a16:creationId xmlns:a16="http://schemas.microsoft.com/office/drawing/2014/main" id="{63263D03-5855-2993-5375-20EB96932851}"/>
              </a:ext>
            </a:extLst>
          </p:cNvPr>
          <p:cNvSpPr txBox="1">
            <a:spLocks/>
          </p:cNvSpPr>
          <p:nvPr/>
        </p:nvSpPr>
        <p:spPr>
          <a:xfrm>
            <a:off x="6173147" y="1677376"/>
            <a:ext cx="5183188" cy="450013"/>
          </a:xfrm>
          <a:prstGeom prst="rect">
            <a:avLst/>
          </a:prstGeom>
        </p:spPr>
        <p:txBody>
          <a:bodyPr vert="horz" lIns="91440" tIns="45720" rIns="91440" bIns="45720" rtlCol="0" anchor="b">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PT Sans" panose="020B0503020203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PT Sans" panose="020B0503020203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PT Sans" panose="020B0503020203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PT Sans" panose="020B0503020203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a:p>
        </p:txBody>
      </p:sp>
      <p:sp>
        <p:nvSpPr>
          <p:cNvPr id="23" name="Content Placeholder 5">
            <a:extLst>
              <a:ext uri="{FF2B5EF4-FFF2-40B4-BE49-F238E27FC236}">
                <a16:creationId xmlns:a16="http://schemas.microsoft.com/office/drawing/2014/main" id="{3B725B4F-4225-8B7F-EB7B-A34981F559FF}"/>
              </a:ext>
            </a:extLst>
          </p:cNvPr>
          <p:cNvSpPr txBox="1">
            <a:spLocks/>
          </p:cNvSpPr>
          <p:nvPr/>
        </p:nvSpPr>
        <p:spPr>
          <a:xfrm>
            <a:off x="6169366" y="2132121"/>
            <a:ext cx="5426264" cy="4195742"/>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800"/>
          </a:p>
        </p:txBody>
      </p:sp>
      <p:sp>
        <p:nvSpPr>
          <p:cNvPr id="4" name="TextBox 3">
            <a:extLst>
              <a:ext uri="{FF2B5EF4-FFF2-40B4-BE49-F238E27FC236}">
                <a16:creationId xmlns:a16="http://schemas.microsoft.com/office/drawing/2014/main" id="{3DFCB707-0547-31F7-F38B-7D04D5BD7999}"/>
              </a:ext>
            </a:extLst>
          </p:cNvPr>
          <p:cNvSpPr txBox="1"/>
          <p:nvPr/>
        </p:nvSpPr>
        <p:spPr>
          <a:xfrm>
            <a:off x="1079938" y="1690688"/>
            <a:ext cx="6921062" cy="1200329"/>
          </a:xfrm>
          <a:prstGeom prst="rect">
            <a:avLst/>
          </a:prstGeom>
          <a:noFill/>
        </p:spPr>
        <p:txBody>
          <a:bodyPr wrap="square" lIns="91440" tIns="45720" rIns="91440" bIns="45720" rtlCol="0" anchor="t">
            <a:spAutoFit/>
          </a:bodyPr>
          <a:lstStyle/>
          <a:p>
            <a:pPr marL="342900" indent="-342900">
              <a:buFont typeface="Arial" panose="020B0604020202020204" pitchFamily="34" charset="0"/>
              <a:buChar char="•"/>
            </a:pPr>
            <a:r>
              <a:rPr lang="en-US" sz="2400" b="1"/>
              <a:t>Specifications and Constraints </a:t>
            </a:r>
            <a:endParaRPr lang="en-US"/>
          </a:p>
          <a:p>
            <a:pPr marL="342900" indent="-342900">
              <a:buFont typeface="Arial" panose="020B0604020202020204" pitchFamily="34" charset="0"/>
              <a:buChar char="•"/>
            </a:pPr>
            <a:r>
              <a:rPr lang="en-US" sz="2400" b="1"/>
              <a:t>Proposed Solution </a:t>
            </a:r>
            <a:endParaRPr lang="en-US" sz="2400" b="1">
              <a:ea typeface="Calibri" panose="020F0502020204030204"/>
              <a:cs typeface="Calibri" panose="020F0502020204030204"/>
            </a:endParaRPr>
          </a:p>
          <a:p>
            <a:pPr marL="342900" indent="-342900">
              <a:buFont typeface="Arial" panose="020B0604020202020204" pitchFamily="34" charset="0"/>
              <a:buChar char="•"/>
            </a:pPr>
            <a:r>
              <a:rPr lang="en-US" sz="2400" b="1"/>
              <a:t>Interface with other Subsystems </a:t>
            </a:r>
            <a:endParaRPr lang="en-US" sz="2400" b="1">
              <a:ea typeface="Calibri" panose="020F0502020204030204"/>
              <a:cs typeface="Calibri" panose="020F0502020204030204"/>
            </a:endParaRPr>
          </a:p>
        </p:txBody>
      </p:sp>
    </p:spTree>
    <p:extLst>
      <p:ext uri="{BB962C8B-B14F-4D97-AF65-F5344CB8AC3E}">
        <p14:creationId xmlns:p14="http://schemas.microsoft.com/office/powerpoint/2010/main" val="1040391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2C24E-2795-799A-208D-C282BDAB8F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268A2-6E5C-06D3-3D80-188C22848C12}"/>
              </a:ext>
            </a:extLst>
          </p:cNvPr>
          <p:cNvSpPr>
            <a:spLocks noGrp="1"/>
          </p:cNvSpPr>
          <p:nvPr>
            <p:ph type="title"/>
          </p:nvPr>
        </p:nvSpPr>
        <p:spPr/>
        <p:txBody>
          <a:bodyPr/>
          <a:lstStyle/>
          <a:p>
            <a:r>
              <a:rPr lang="en-US">
                <a:latin typeface="PT Sans"/>
              </a:rPr>
              <a:t>Vehicle Preparation: Specifications &amp; Constraints</a:t>
            </a:r>
            <a:endParaRPr lang="en-US"/>
          </a:p>
        </p:txBody>
      </p:sp>
      <p:sp>
        <p:nvSpPr>
          <p:cNvPr id="3" name="Content Placeholder 2">
            <a:extLst>
              <a:ext uri="{FF2B5EF4-FFF2-40B4-BE49-F238E27FC236}">
                <a16:creationId xmlns:a16="http://schemas.microsoft.com/office/drawing/2014/main" id="{2FE0C69D-99E8-47FD-D87A-631C281E5487}"/>
              </a:ext>
            </a:extLst>
          </p:cNvPr>
          <p:cNvSpPr>
            <a:spLocks noGrp="1"/>
          </p:cNvSpPr>
          <p:nvPr>
            <p:ph idx="1"/>
          </p:nvPr>
        </p:nvSpPr>
        <p:spPr/>
        <p:txBody>
          <a:bodyPr vert="horz" lIns="91440" tIns="45720" rIns="91440" bIns="45720" rtlCol="0" anchor="t">
            <a:noAutofit/>
          </a:bodyPr>
          <a:lstStyle/>
          <a:p>
            <a:pPr marL="0" indent="0">
              <a:buNone/>
            </a:pPr>
            <a:r>
              <a:rPr lang="en-US" sz="2000" b="1">
                <a:latin typeface="PT Sans"/>
              </a:rPr>
              <a:t>OSHA Electrical Safety</a:t>
            </a:r>
            <a:endParaRPr lang="en-US" sz="2000">
              <a:latin typeface="PT Sans"/>
            </a:endParaRPr>
          </a:p>
          <a:p>
            <a:pPr lvl="1">
              <a:buFont typeface="Courier New" panose="020B0604020202020204" pitchFamily="34" charset="0"/>
              <a:buChar char="o"/>
            </a:pPr>
            <a:r>
              <a:rPr lang="en-US" sz="1600">
                <a:latin typeface="PT Sans"/>
              </a:rPr>
              <a:t>29 CFR 1919.147</a:t>
            </a:r>
          </a:p>
          <a:p>
            <a:pPr lvl="1">
              <a:buFont typeface="Courier New" panose="020B0604020202020204" pitchFamily="34" charset="0"/>
              <a:buChar char="o"/>
            </a:pPr>
            <a:r>
              <a:rPr lang="en-US" sz="1600">
                <a:latin typeface="PT Sans"/>
              </a:rPr>
              <a:t>NFPA 70E</a:t>
            </a:r>
            <a:endParaRPr lang="en-US" sz="1600"/>
          </a:p>
          <a:p>
            <a:pPr marL="0" indent="0">
              <a:buNone/>
            </a:pPr>
            <a:r>
              <a:rPr lang="en-US" sz="2000" b="1">
                <a:latin typeface="PT Sans"/>
              </a:rPr>
              <a:t>EPA &amp; State Environmental Regulations </a:t>
            </a:r>
            <a:endParaRPr lang="en-US" sz="2000">
              <a:latin typeface="PT Sans"/>
            </a:endParaRPr>
          </a:p>
          <a:p>
            <a:pPr lvl="1">
              <a:buFont typeface="Courier New" panose="020B0604020202020204" pitchFamily="34" charset="0"/>
              <a:buChar char="o"/>
            </a:pPr>
            <a:r>
              <a:rPr lang="en-US" sz="1600">
                <a:latin typeface="PT Sans"/>
              </a:rPr>
              <a:t>Lead-acid battery removal </a:t>
            </a:r>
            <a:endParaRPr lang="en-US" sz="1600"/>
          </a:p>
          <a:p>
            <a:pPr marL="0" indent="0">
              <a:buNone/>
            </a:pPr>
            <a:r>
              <a:rPr lang="en-US" sz="2000" b="1">
                <a:latin typeface="PT Sans"/>
              </a:rPr>
              <a:t>Physics / Structural Constraints </a:t>
            </a:r>
          </a:p>
          <a:p>
            <a:pPr lvl="1">
              <a:buFont typeface="Courier New" panose="020B0604020202020204" pitchFamily="34" charset="0"/>
              <a:buChar char="o"/>
            </a:pPr>
            <a:r>
              <a:rPr lang="en-US" sz="1600">
                <a:latin typeface="PT Sans"/>
              </a:rPr>
              <a:t>Parts Removed </a:t>
            </a:r>
          </a:p>
          <a:p>
            <a:pPr lvl="1">
              <a:buFont typeface="Courier New" panose="020B0604020202020204" pitchFamily="34" charset="0"/>
              <a:buChar char="o"/>
            </a:pPr>
            <a:r>
              <a:rPr lang="en-US" sz="1600">
                <a:latin typeface="PT Sans"/>
              </a:rPr>
              <a:t>Battery compartment inspected </a:t>
            </a:r>
          </a:p>
          <a:p>
            <a:pPr marL="0" indent="0">
              <a:buNone/>
            </a:pPr>
            <a:r>
              <a:rPr lang="en-US" sz="2000" b="1">
                <a:latin typeface="PT Sans"/>
              </a:rPr>
              <a:t>Socio-Economic Constraints </a:t>
            </a:r>
          </a:p>
          <a:p>
            <a:pPr lvl="1">
              <a:buFont typeface="Courier New" panose="020B0604020202020204" pitchFamily="34" charset="0"/>
              <a:buChar char="o"/>
            </a:pPr>
            <a:r>
              <a:rPr lang="en-US" sz="1600">
                <a:latin typeface="PT Sans"/>
              </a:rPr>
              <a:t>Removed components removed labeled </a:t>
            </a:r>
          </a:p>
          <a:p>
            <a:endParaRPr lang="en-US" sz="1400"/>
          </a:p>
          <a:p>
            <a:pPr marL="0" indent="0">
              <a:buNone/>
            </a:pPr>
            <a:endParaRPr lang="en-US" sz="1400">
              <a:latin typeface="PT Sans"/>
            </a:endParaRPr>
          </a:p>
          <a:p>
            <a:endParaRPr lang="en-US" sz="2400"/>
          </a:p>
        </p:txBody>
      </p:sp>
      <p:sp>
        <p:nvSpPr>
          <p:cNvPr id="4" name="Slide Number Placeholder 3">
            <a:extLst>
              <a:ext uri="{FF2B5EF4-FFF2-40B4-BE49-F238E27FC236}">
                <a16:creationId xmlns:a16="http://schemas.microsoft.com/office/drawing/2014/main" id="{7C39A922-5881-17B0-C8FC-F99ACA027B30}"/>
              </a:ext>
            </a:extLst>
          </p:cNvPr>
          <p:cNvSpPr>
            <a:spLocks noGrp="1"/>
          </p:cNvSpPr>
          <p:nvPr>
            <p:ph type="sldNum" sz="quarter" idx="12"/>
          </p:nvPr>
        </p:nvSpPr>
        <p:spPr/>
        <p:txBody>
          <a:bodyPr/>
          <a:lstStyle/>
          <a:p>
            <a:fld id="{4072BC8D-D296-40C7-BB87-C3ACFF7B6C6E}" type="slidenum">
              <a:rPr lang="en-US" smtClean="0"/>
              <a:pPr/>
              <a:t>16</a:t>
            </a:fld>
            <a:endParaRPr lang="en-US"/>
          </a:p>
        </p:txBody>
      </p:sp>
    </p:spTree>
    <p:extLst>
      <p:ext uri="{BB962C8B-B14F-4D97-AF65-F5344CB8AC3E}">
        <p14:creationId xmlns:p14="http://schemas.microsoft.com/office/powerpoint/2010/main" val="922926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FD32A-9605-73B1-D4EA-344C352AF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43EAC-9191-572A-9412-630187B7C16A}"/>
              </a:ext>
            </a:extLst>
          </p:cNvPr>
          <p:cNvSpPr>
            <a:spLocks noGrp="1"/>
          </p:cNvSpPr>
          <p:nvPr>
            <p:ph type="title"/>
          </p:nvPr>
        </p:nvSpPr>
        <p:spPr/>
        <p:txBody>
          <a:bodyPr/>
          <a:lstStyle/>
          <a:p>
            <a:r>
              <a:rPr lang="en-US">
                <a:latin typeface="PT Sans"/>
              </a:rPr>
              <a:t>Vehicle Preparation: Overview </a:t>
            </a:r>
            <a:endParaRPr lang="en-US"/>
          </a:p>
        </p:txBody>
      </p:sp>
      <p:sp>
        <p:nvSpPr>
          <p:cNvPr id="3" name="Content Placeholder 2">
            <a:extLst>
              <a:ext uri="{FF2B5EF4-FFF2-40B4-BE49-F238E27FC236}">
                <a16:creationId xmlns:a16="http://schemas.microsoft.com/office/drawing/2014/main" id="{1B066327-4557-E080-86EA-E645FFCB7285}"/>
              </a:ext>
            </a:extLst>
          </p:cNvPr>
          <p:cNvSpPr>
            <a:spLocks noGrp="1"/>
          </p:cNvSpPr>
          <p:nvPr>
            <p:ph idx="1"/>
          </p:nvPr>
        </p:nvSpPr>
        <p:spPr/>
        <p:txBody>
          <a:bodyPr vert="horz" lIns="91440" tIns="45720" rIns="91440" bIns="45720" rtlCol="0" anchor="t">
            <a:noAutofit/>
          </a:bodyPr>
          <a:lstStyle/>
          <a:p>
            <a:pPr marL="0" indent="0">
              <a:buNone/>
            </a:pPr>
            <a:r>
              <a:rPr lang="en-US" sz="2000" b="1">
                <a:latin typeface="PT Sans"/>
              </a:rPr>
              <a:t>Vehicle Condition </a:t>
            </a:r>
            <a:endParaRPr lang="en-US" sz="2000">
              <a:latin typeface="PT Sans"/>
            </a:endParaRPr>
          </a:p>
          <a:p>
            <a:r>
              <a:rPr lang="en-US" sz="1400">
                <a:latin typeface="PT Sans"/>
              </a:rPr>
              <a:t>Pre-modification</a:t>
            </a:r>
            <a:endParaRPr lang="en-US" sz="1400"/>
          </a:p>
          <a:p>
            <a:pPr marL="0" indent="0">
              <a:buNone/>
            </a:pPr>
            <a:r>
              <a:rPr lang="en-US" sz="2000" b="1">
                <a:latin typeface="PT Sans"/>
              </a:rPr>
              <a:t>Lockout / Tagout  </a:t>
            </a:r>
            <a:endParaRPr lang="en-US" sz="2000">
              <a:latin typeface="PT Sans"/>
            </a:endParaRPr>
          </a:p>
          <a:p>
            <a:r>
              <a:rPr lang="en-US" sz="1400">
                <a:latin typeface="PT Sans"/>
              </a:rPr>
              <a:t>De-energize </a:t>
            </a:r>
            <a:endParaRPr lang="en-US" sz="1400"/>
          </a:p>
          <a:p>
            <a:pPr marL="0" indent="0">
              <a:buNone/>
            </a:pPr>
            <a:r>
              <a:rPr lang="en-US" sz="2000" b="1">
                <a:latin typeface="PT Sans"/>
              </a:rPr>
              <a:t>Clear Obstructions </a:t>
            </a:r>
          </a:p>
          <a:p>
            <a:r>
              <a:rPr lang="en-US" sz="1400"/>
              <a:t>Removal of components </a:t>
            </a:r>
          </a:p>
          <a:p>
            <a:endParaRPr lang="en-US" sz="1400"/>
          </a:p>
          <a:p>
            <a:pPr marL="0" indent="0">
              <a:buNone/>
            </a:pPr>
            <a:endParaRPr lang="en-US" sz="1400">
              <a:latin typeface="PT Sans"/>
            </a:endParaRPr>
          </a:p>
          <a:p>
            <a:endParaRPr lang="en-US" sz="2400"/>
          </a:p>
        </p:txBody>
      </p:sp>
      <p:sp>
        <p:nvSpPr>
          <p:cNvPr id="4" name="Slide Number Placeholder 3">
            <a:extLst>
              <a:ext uri="{FF2B5EF4-FFF2-40B4-BE49-F238E27FC236}">
                <a16:creationId xmlns:a16="http://schemas.microsoft.com/office/drawing/2014/main" id="{AC71E25B-9C51-FA46-B900-53ED0ABADC6F}"/>
              </a:ext>
            </a:extLst>
          </p:cNvPr>
          <p:cNvSpPr>
            <a:spLocks noGrp="1"/>
          </p:cNvSpPr>
          <p:nvPr>
            <p:ph type="sldNum" sz="quarter" idx="12"/>
          </p:nvPr>
        </p:nvSpPr>
        <p:spPr/>
        <p:txBody>
          <a:bodyPr/>
          <a:lstStyle/>
          <a:p>
            <a:fld id="{4072BC8D-D296-40C7-BB87-C3ACFF7B6C6E}" type="slidenum">
              <a:rPr lang="en-US" smtClean="0"/>
              <a:pPr/>
              <a:t>17</a:t>
            </a:fld>
            <a:endParaRPr lang="en-US"/>
          </a:p>
        </p:txBody>
      </p:sp>
    </p:spTree>
    <p:extLst>
      <p:ext uri="{BB962C8B-B14F-4D97-AF65-F5344CB8AC3E}">
        <p14:creationId xmlns:p14="http://schemas.microsoft.com/office/powerpoint/2010/main" val="2769936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F15AF-D519-D7E0-790B-F48BF6C9B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4BE216-BEF7-BD96-64D5-322BDE9C1C9B}"/>
              </a:ext>
            </a:extLst>
          </p:cNvPr>
          <p:cNvSpPr>
            <a:spLocks noGrp="1"/>
          </p:cNvSpPr>
          <p:nvPr>
            <p:ph type="title"/>
          </p:nvPr>
        </p:nvSpPr>
        <p:spPr/>
        <p:txBody>
          <a:bodyPr/>
          <a:lstStyle/>
          <a:p>
            <a:r>
              <a:rPr lang="en-US">
                <a:latin typeface="PT Sans"/>
              </a:rPr>
              <a:t>Vehicle Preparation: Interface with Other Subsystems</a:t>
            </a:r>
          </a:p>
        </p:txBody>
      </p:sp>
      <p:sp>
        <p:nvSpPr>
          <p:cNvPr id="3" name="Text Placeholder 2">
            <a:extLst>
              <a:ext uri="{FF2B5EF4-FFF2-40B4-BE49-F238E27FC236}">
                <a16:creationId xmlns:a16="http://schemas.microsoft.com/office/drawing/2014/main" id="{7AB664A4-655D-FDEB-5302-99BA69D7085F}"/>
              </a:ext>
            </a:extLst>
          </p:cNvPr>
          <p:cNvSpPr>
            <a:spLocks noGrp="1"/>
          </p:cNvSpPr>
          <p:nvPr>
            <p:ph type="body" idx="1"/>
          </p:nvPr>
        </p:nvSpPr>
        <p:spPr>
          <a:xfrm>
            <a:off x="839788" y="1285319"/>
            <a:ext cx="5157787" cy="823912"/>
          </a:xfrm>
        </p:spPr>
        <p:txBody>
          <a:bodyPr/>
          <a:lstStyle/>
          <a:p>
            <a:r>
              <a:rPr lang="en-US"/>
              <a:t>Electrical Subsystem </a:t>
            </a:r>
          </a:p>
        </p:txBody>
      </p:sp>
      <p:sp>
        <p:nvSpPr>
          <p:cNvPr id="4" name="Content Placeholder 3">
            <a:extLst>
              <a:ext uri="{FF2B5EF4-FFF2-40B4-BE49-F238E27FC236}">
                <a16:creationId xmlns:a16="http://schemas.microsoft.com/office/drawing/2014/main" id="{8581DE42-DF10-B65A-6A23-05F20C69F2B6}"/>
              </a:ext>
            </a:extLst>
          </p:cNvPr>
          <p:cNvSpPr>
            <a:spLocks noGrp="1"/>
          </p:cNvSpPr>
          <p:nvPr>
            <p:ph sz="half" idx="2"/>
          </p:nvPr>
        </p:nvSpPr>
        <p:spPr>
          <a:xfrm>
            <a:off x="839788" y="2109231"/>
            <a:ext cx="5181114" cy="4383644"/>
          </a:xfrm>
        </p:spPr>
        <p:txBody>
          <a:bodyPr vert="horz" lIns="91440" tIns="45720" rIns="91440" bIns="45720" rtlCol="0" anchor="t">
            <a:normAutofit/>
          </a:bodyPr>
          <a:lstStyle/>
          <a:p>
            <a:r>
              <a:rPr lang="en-US">
                <a:latin typeface="PT Sans"/>
              </a:rPr>
              <a:t>Mounting locations </a:t>
            </a:r>
          </a:p>
          <a:p>
            <a:r>
              <a:rPr lang="en-US">
                <a:latin typeface="PT Sans"/>
              </a:rPr>
              <a:t>Controller mounting Surface</a:t>
            </a:r>
          </a:p>
          <a:p>
            <a:r>
              <a:rPr lang="en-US">
                <a:latin typeface="PT Sans"/>
              </a:rPr>
              <a:t>Wire management </a:t>
            </a:r>
          </a:p>
        </p:txBody>
      </p:sp>
      <p:sp>
        <p:nvSpPr>
          <p:cNvPr id="5" name="Text Placeholder 4">
            <a:extLst>
              <a:ext uri="{FF2B5EF4-FFF2-40B4-BE49-F238E27FC236}">
                <a16:creationId xmlns:a16="http://schemas.microsoft.com/office/drawing/2014/main" id="{DDA796AC-4826-D590-7C1D-D11ED4FF0FE8}"/>
              </a:ext>
            </a:extLst>
          </p:cNvPr>
          <p:cNvSpPr>
            <a:spLocks noGrp="1"/>
          </p:cNvSpPr>
          <p:nvPr>
            <p:ph type="body" sz="quarter" idx="3"/>
          </p:nvPr>
        </p:nvSpPr>
        <p:spPr>
          <a:xfrm>
            <a:off x="6172200" y="1285319"/>
            <a:ext cx="5183188" cy="823912"/>
          </a:xfrm>
        </p:spPr>
        <p:txBody>
          <a:bodyPr/>
          <a:lstStyle/>
          <a:p>
            <a:r>
              <a:rPr lang="en-US"/>
              <a:t>Battery / Power Subsystem </a:t>
            </a:r>
          </a:p>
        </p:txBody>
      </p:sp>
      <p:sp>
        <p:nvSpPr>
          <p:cNvPr id="6" name="Content Placeholder 5">
            <a:extLst>
              <a:ext uri="{FF2B5EF4-FFF2-40B4-BE49-F238E27FC236}">
                <a16:creationId xmlns:a16="http://schemas.microsoft.com/office/drawing/2014/main" id="{936F2666-BCB2-6ED7-6515-A29694A40F27}"/>
              </a:ext>
            </a:extLst>
          </p:cNvPr>
          <p:cNvSpPr>
            <a:spLocks noGrp="1"/>
          </p:cNvSpPr>
          <p:nvPr>
            <p:ph sz="quarter" idx="4"/>
          </p:nvPr>
        </p:nvSpPr>
        <p:spPr>
          <a:xfrm>
            <a:off x="6172200" y="2109230"/>
            <a:ext cx="5183188" cy="4383643"/>
          </a:xfrm>
        </p:spPr>
        <p:txBody>
          <a:bodyPr vert="horz" lIns="91440" tIns="45720" rIns="91440" bIns="45720" rtlCol="0" anchor="t">
            <a:normAutofit/>
          </a:bodyPr>
          <a:lstStyle/>
          <a:p>
            <a:r>
              <a:rPr lang="en-US">
                <a:latin typeface="PT Sans"/>
              </a:rPr>
              <a:t>Cleared battery compartment </a:t>
            </a:r>
          </a:p>
          <a:p>
            <a:r>
              <a:rPr lang="en-US">
                <a:latin typeface="PT Sans"/>
              </a:rPr>
              <a:t>Level mounting surface</a:t>
            </a:r>
          </a:p>
          <a:p>
            <a:r>
              <a:rPr lang="en-US">
                <a:latin typeface="PT Sans"/>
              </a:rPr>
              <a:t>Battery housing / enclosure </a:t>
            </a:r>
          </a:p>
          <a:p>
            <a:r>
              <a:rPr lang="en-US">
                <a:latin typeface="PT Sans"/>
              </a:rPr>
              <a:t>Assessable compartment for wiring and maintenance </a:t>
            </a:r>
          </a:p>
        </p:txBody>
      </p:sp>
      <p:sp>
        <p:nvSpPr>
          <p:cNvPr id="7" name="Slide Number Placeholder 6">
            <a:extLst>
              <a:ext uri="{FF2B5EF4-FFF2-40B4-BE49-F238E27FC236}">
                <a16:creationId xmlns:a16="http://schemas.microsoft.com/office/drawing/2014/main" id="{A3712E1A-B7CA-B961-33E3-E28151703A4F}"/>
              </a:ext>
            </a:extLst>
          </p:cNvPr>
          <p:cNvSpPr>
            <a:spLocks noGrp="1"/>
          </p:cNvSpPr>
          <p:nvPr>
            <p:ph type="sldNum" sz="quarter" idx="12"/>
          </p:nvPr>
        </p:nvSpPr>
        <p:spPr/>
        <p:txBody>
          <a:bodyPr/>
          <a:lstStyle/>
          <a:p>
            <a:fld id="{4072BC8D-D296-40C7-BB87-C3ACFF7B6C6E}" type="slidenum">
              <a:rPr lang="en-US" smtClean="0"/>
              <a:pPr/>
              <a:t>18</a:t>
            </a:fld>
            <a:endParaRPr lang="en-US"/>
          </a:p>
        </p:txBody>
      </p:sp>
    </p:spTree>
    <p:extLst>
      <p:ext uri="{BB962C8B-B14F-4D97-AF65-F5344CB8AC3E}">
        <p14:creationId xmlns:p14="http://schemas.microsoft.com/office/powerpoint/2010/main" val="1607387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5ACE7-483C-F39A-1EDC-6DF6DDE82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8809C9-3344-D99D-8E5B-21AB6D241332}"/>
              </a:ext>
            </a:extLst>
          </p:cNvPr>
          <p:cNvSpPr>
            <a:spLocks noGrp="1"/>
          </p:cNvSpPr>
          <p:nvPr>
            <p:ph type="title"/>
          </p:nvPr>
        </p:nvSpPr>
        <p:spPr/>
        <p:txBody>
          <a:bodyPr/>
          <a:lstStyle/>
          <a:p>
            <a:r>
              <a:rPr lang="en-US">
                <a:latin typeface="PT Sans"/>
              </a:rPr>
              <a:t>Battery Installation</a:t>
            </a:r>
            <a:endParaRPr lang="en-US"/>
          </a:p>
        </p:txBody>
      </p:sp>
      <p:sp>
        <p:nvSpPr>
          <p:cNvPr id="5" name="TextBox 4">
            <a:extLst>
              <a:ext uri="{FF2B5EF4-FFF2-40B4-BE49-F238E27FC236}">
                <a16:creationId xmlns:a16="http://schemas.microsoft.com/office/drawing/2014/main" id="{57FE7EA4-1E4E-4723-8D63-3FDF4C0E2505}"/>
              </a:ext>
            </a:extLst>
          </p:cNvPr>
          <p:cNvSpPr txBox="1"/>
          <p:nvPr/>
        </p:nvSpPr>
        <p:spPr>
          <a:xfrm>
            <a:off x="844103" y="2159990"/>
            <a:ext cx="5543327"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a:latin typeface="PT Sans"/>
                <a:ea typeface="Calibri" panose="020F0502020204030204"/>
                <a:cs typeface="Times New Roman"/>
              </a:rPr>
              <a:t>Main source of power</a:t>
            </a:r>
          </a:p>
          <a:p>
            <a:pPr marL="742950" lvl="1" indent="-285750">
              <a:buFont typeface="Courier New"/>
              <a:buChar char="o"/>
            </a:pPr>
            <a:r>
              <a:rPr lang="en-US">
                <a:latin typeface="PT Sans"/>
                <a:ea typeface="Calibri" panose="020F0502020204030204"/>
                <a:cs typeface="Times New Roman"/>
              </a:rPr>
              <a:t>Six 8V batteries --&gt; One 51.2V battery</a:t>
            </a:r>
          </a:p>
          <a:p>
            <a:pPr marL="342900" indent="-342900">
              <a:buFont typeface="Arial" panose="020B0604020202020204" pitchFamily="34" charset="0"/>
              <a:buChar char="•"/>
            </a:pPr>
            <a:r>
              <a:rPr lang="en-US" sz="2400">
                <a:latin typeface="PT Sans"/>
                <a:ea typeface="Calibri" panose="020F0502020204030204"/>
                <a:cs typeface="Times New Roman"/>
              </a:rPr>
              <a:t>Dual charging</a:t>
            </a:r>
          </a:p>
          <a:p>
            <a:pPr marL="742950" lvl="1" indent="-285750">
              <a:buFont typeface="Courier New" panose="020B0604020202020204" pitchFamily="34" charset="0"/>
              <a:buChar char="o"/>
            </a:pPr>
            <a:r>
              <a:rPr lang="en-US">
                <a:latin typeface="PT Sans"/>
                <a:ea typeface="Calibri" panose="020F0502020204030204"/>
                <a:cs typeface="Times New Roman"/>
              </a:rPr>
              <a:t>Solar panel</a:t>
            </a:r>
            <a:endParaRPr lang="en-US">
              <a:ea typeface="Calibri" panose="020F0502020204030204"/>
              <a:cs typeface="Calibri" panose="020F0502020204030204"/>
            </a:endParaRPr>
          </a:p>
          <a:p>
            <a:pPr marL="742950" lvl="1" indent="-285750">
              <a:buFont typeface="Courier New" panose="020B0604020202020204" pitchFamily="34" charset="0"/>
              <a:buChar char="o"/>
            </a:pPr>
            <a:r>
              <a:rPr lang="en-US">
                <a:latin typeface="PT Sans"/>
                <a:ea typeface="Calibri" panose="020F0502020204030204"/>
                <a:cs typeface="Times New Roman"/>
              </a:rPr>
              <a:t>Wall outlet</a:t>
            </a:r>
          </a:p>
          <a:p>
            <a:pPr marL="342900" indent="-342900">
              <a:buFont typeface="Arial"/>
              <a:buChar char="•"/>
            </a:pPr>
            <a:endParaRPr lang="en-US" sz="2400">
              <a:latin typeface="PT Sans"/>
              <a:ea typeface="Calibri" panose="020F0502020204030204"/>
              <a:cs typeface="Times New Roman"/>
            </a:endParaRPr>
          </a:p>
          <a:p>
            <a:endParaRPr lang="en-US" sz="2400">
              <a:latin typeface="PT Sans"/>
              <a:ea typeface="Calibri" panose="020F0502020204030204"/>
              <a:cs typeface="Times New Roman"/>
            </a:endParaRPr>
          </a:p>
        </p:txBody>
      </p:sp>
      <p:sp>
        <p:nvSpPr>
          <p:cNvPr id="4" name="Slide Number Placeholder 3">
            <a:extLst>
              <a:ext uri="{FF2B5EF4-FFF2-40B4-BE49-F238E27FC236}">
                <a16:creationId xmlns:a16="http://schemas.microsoft.com/office/drawing/2014/main" id="{873EA53B-17DE-BEFA-55AB-9B2EB3C0136B}"/>
              </a:ext>
            </a:extLst>
          </p:cNvPr>
          <p:cNvSpPr>
            <a:spLocks noGrp="1"/>
          </p:cNvSpPr>
          <p:nvPr>
            <p:ph type="sldNum" sz="quarter" idx="12"/>
          </p:nvPr>
        </p:nvSpPr>
        <p:spPr/>
        <p:txBody>
          <a:bodyPr/>
          <a:lstStyle/>
          <a:p>
            <a:fld id="{4072BC8D-D296-40C7-BB87-C3ACFF7B6C6E}" type="slidenum">
              <a:rPr lang="en-US" smtClean="0"/>
              <a:pPr/>
              <a:t>19</a:t>
            </a:fld>
            <a:endParaRPr lang="en-US"/>
          </a:p>
        </p:txBody>
      </p:sp>
      <p:sp>
        <p:nvSpPr>
          <p:cNvPr id="7" name="Text Placeholder 2">
            <a:extLst>
              <a:ext uri="{FF2B5EF4-FFF2-40B4-BE49-F238E27FC236}">
                <a16:creationId xmlns:a16="http://schemas.microsoft.com/office/drawing/2014/main" id="{8DAF2175-1F08-47E8-D75B-1CABEEBD9CFE}"/>
              </a:ext>
            </a:extLst>
          </p:cNvPr>
          <p:cNvSpPr txBox="1">
            <a:spLocks/>
          </p:cNvSpPr>
          <p:nvPr/>
        </p:nvSpPr>
        <p:spPr>
          <a:xfrm>
            <a:off x="839788" y="1285319"/>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PT Sans"/>
              </a:rPr>
              <a:t>Function</a:t>
            </a:r>
            <a:endParaRPr lang="en-US" sz="2400" b="1"/>
          </a:p>
        </p:txBody>
      </p:sp>
      <p:sp>
        <p:nvSpPr>
          <p:cNvPr id="3" name="Text Placeholder 2">
            <a:extLst>
              <a:ext uri="{FF2B5EF4-FFF2-40B4-BE49-F238E27FC236}">
                <a16:creationId xmlns:a16="http://schemas.microsoft.com/office/drawing/2014/main" id="{D996272A-5256-22ED-0484-A3451E25DBF8}"/>
              </a:ext>
            </a:extLst>
          </p:cNvPr>
          <p:cNvSpPr txBox="1">
            <a:spLocks/>
          </p:cNvSpPr>
          <p:nvPr/>
        </p:nvSpPr>
        <p:spPr>
          <a:xfrm>
            <a:off x="839788" y="3878098"/>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PT Sans"/>
              </a:rPr>
              <a:t>Specifications</a:t>
            </a:r>
            <a:endParaRPr lang="en-US" sz="2400" b="1"/>
          </a:p>
        </p:txBody>
      </p:sp>
      <p:sp>
        <p:nvSpPr>
          <p:cNvPr id="6" name="TextBox 5">
            <a:extLst>
              <a:ext uri="{FF2B5EF4-FFF2-40B4-BE49-F238E27FC236}">
                <a16:creationId xmlns:a16="http://schemas.microsoft.com/office/drawing/2014/main" id="{7C18F258-92C8-8AC4-E59E-7ECCCC1B2C78}"/>
              </a:ext>
            </a:extLst>
          </p:cNvPr>
          <p:cNvSpPr txBox="1"/>
          <p:nvPr/>
        </p:nvSpPr>
        <p:spPr>
          <a:xfrm>
            <a:off x="844103" y="4732977"/>
            <a:ext cx="554332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a:latin typeface="PT Sans"/>
                <a:ea typeface="Calibri" panose="020F0502020204030204"/>
                <a:cs typeface="Times New Roman"/>
              </a:rPr>
              <a:t>Documentation of installation process</a:t>
            </a:r>
          </a:p>
          <a:p>
            <a:pPr marL="342900" indent="-342900">
              <a:buFont typeface="Arial" panose="020B0604020202020204" pitchFamily="34" charset="0"/>
              <a:buChar char="•"/>
            </a:pPr>
            <a:endParaRPr lang="en-US" sz="2400">
              <a:latin typeface="PT Sans"/>
              <a:ea typeface="Calibri" panose="020F0502020204030204"/>
              <a:cs typeface="Times New Roman"/>
            </a:endParaRPr>
          </a:p>
          <a:p>
            <a:pPr marL="342900" indent="-342900">
              <a:buFont typeface="Arial"/>
              <a:buChar char="•"/>
            </a:pPr>
            <a:endParaRPr lang="en-US" sz="2400">
              <a:latin typeface="PT Sans"/>
              <a:ea typeface="Calibri" panose="020F0502020204030204"/>
              <a:cs typeface="Times New Roman"/>
            </a:endParaRPr>
          </a:p>
          <a:p>
            <a:endParaRPr lang="en-US" sz="2400">
              <a:latin typeface="PT Sans"/>
              <a:ea typeface="Calibri" panose="020F0502020204030204"/>
              <a:cs typeface="Times New Roman"/>
            </a:endParaRPr>
          </a:p>
        </p:txBody>
      </p:sp>
      <p:sp>
        <p:nvSpPr>
          <p:cNvPr id="8" name="Text Placeholder 2">
            <a:extLst>
              <a:ext uri="{FF2B5EF4-FFF2-40B4-BE49-F238E27FC236}">
                <a16:creationId xmlns:a16="http://schemas.microsoft.com/office/drawing/2014/main" id="{9C6A420F-3271-9D91-969E-DDCCC7DF77C5}"/>
              </a:ext>
            </a:extLst>
          </p:cNvPr>
          <p:cNvSpPr txBox="1">
            <a:spLocks/>
          </p:cNvSpPr>
          <p:nvPr/>
        </p:nvSpPr>
        <p:spPr>
          <a:xfrm>
            <a:off x="6193580" y="1334799"/>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PT Sans"/>
              </a:rPr>
              <a:t>Constraints</a:t>
            </a:r>
            <a:endParaRPr lang="en-US" sz="2400" b="1"/>
          </a:p>
        </p:txBody>
      </p:sp>
      <p:sp>
        <p:nvSpPr>
          <p:cNvPr id="9" name="TextBox 8">
            <a:extLst>
              <a:ext uri="{FF2B5EF4-FFF2-40B4-BE49-F238E27FC236}">
                <a16:creationId xmlns:a16="http://schemas.microsoft.com/office/drawing/2014/main" id="{D3D9137D-3419-A8CA-8F62-1E6FA1B5334E}"/>
              </a:ext>
            </a:extLst>
          </p:cNvPr>
          <p:cNvSpPr txBox="1"/>
          <p:nvPr/>
        </p:nvSpPr>
        <p:spPr>
          <a:xfrm>
            <a:off x="6197895" y="2110509"/>
            <a:ext cx="5543327"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panose="020B0604020202020204" pitchFamily="34" charset="0"/>
              <a:buChar char="•"/>
            </a:pPr>
            <a:r>
              <a:rPr lang="en-US" sz="2400">
                <a:latin typeface="PT Sans"/>
                <a:ea typeface="Calibri" panose="020F0502020204030204"/>
                <a:cs typeface="Times New Roman"/>
              </a:rPr>
              <a:t>Mounting</a:t>
            </a:r>
          </a:p>
          <a:p>
            <a:pPr marL="800100" lvl="1" indent="-342900">
              <a:buFont typeface="Courier New,monospace" panose="020B0604020202020204" pitchFamily="34" charset="0"/>
              <a:buChar char="o"/>
            </a:pPr>
            <a:r>
              <a:rPr lang="en-US">
                <a:latin typeface="PT Sans"/>
                <a:ea typeface="Calibri" panose="020F0502020204030204"/>
                <a:cs typeface="Times New Roman"/>
              </a:rPr>
              <a:t>Configuration to housing compartment</a:t>
            </a:r>
          </a:p>
          <a:p>
            <a:pPr marL="342900" indent="-342900">
              <a:buFont typeface="Arial" panose="020B0604020202020204" pitchFamily="34" charset="0"/>
              <a:buChar char="•"/>
            </a:pPr>
            <a:r>
              <a:rPr lang="en-US" sz="2400">
                <a:latin typeface="PT Sans"/>
                <a:ea typeface="Calibri" panose="020F0502020204030204"/>
                <a:cs typeface="Times New Roman"/>
              </a:rPr>
              <a:t>Electrical</a:t>
            </a:r>
          </a:p>
          <a:p>
            <a:pPr marL="800100" lvl="1" indent="-342900">
              <a:buFont typeface="Courier New,monospace" panose="020B0604020202020204" pitchFamily="34" charset="0"/>
              <a:buChar char="o"/>
            </a:pPr>
            <a:r>
              <a:rPr lang="en-US">
                <a:latin typeface="PT Sans"/>
                <a:ea typeface="Calibri" panose="020F0502020204030204"/>
                <a:cs typeface="Times New Roman"/>
              </a:rPr>
              <a:t>Correct battery is chosen</a:t>
            </a:r>
          </a:p>
          <a:p>
            <a:pPr marL="342900" indent="-342900">
              <a:buFont typeface="Arial"/>
              <a:buChar char="•"/>
            </a:pPr>
            <a:r>
              <a:rPr lang="en-US" sz="2400">
                <a:latin typeface="PT Sans"/>
                <a:ea typeface="Calibri" panose="020F0502020204030204"/>
                <a:cs typeface="Times New Roman"/>
              </a:rPr>
              <a:t>Circuit</a:t>
            </a:r>
          </a:p>
          <a:p>
            <a:pPr marL="800100" lvl="1" indent="-342900">
              <a:buFont typeface="Courier New,monospace"/>
              <a:buChar char="o"/>
            </a:pPr>
            <a:r>
              <a:rPr lang="en-US">
                <a:latin typeface="PT Sans"/>
                <a:ea typeface="Calibri" panose="020F0502020204030204"/>
                <a:cs typeface="Times New Roman"/>
              </a:rPr>
              <a:t>Replace old or improper wiring</a:t>
            </a:r>
          </a:p>
          <a:p>
            <a:pPr marL="342900" indent="-342900">
              <a:buFont typeface="Arial"/>
              <a:buChar char="•"/>
            </a:pPr>
            <a:r>
              <a:rPr lang="en-US" sz="2400">
                <a:latin typeface="PT Sans"/>
                <a:ea typeface="Calibri" panose="020F0502020204030204"/>
                <a:cs typeface="Times New Roman"/>
              </a:rPr>
              <a:t>Environmental</a:t>
            </a:r>
          </a:p>
          <a:p>
            <a:pPr marL="800100" lvl="1" indent="-342900">
              <a:buFont typeface="Courier New,monospace"/>
              <a:buChar char="o"/>
            </a:pPr>
            <a:r>
              <a:rPr lang="en-US">
                <a:latin typeface="PT Sans"/>
                <a:ea typeface="Calibri" panose="020F0502020204030204"/>
                <a:cs typeface="Times New Roman"/>
              </a:rPr>
              <a:t>Water damage to wiring and battery</a:t>
            </a:r>
          </a:p>
          <a:p>
            <a:pPr marL="800100" lvl="1" indent="-342900">
              <a:buFont typeface="Courier New,monospace"/>
              <a:buChar char="o"/>
            </a:pPr>
            <a:r>
              <a:rPr lang="en-US">
                <a:latin typeface="PT Sans"/>
                <a:ea typeface="Calibri" panose="020F0502020204030204"/>
                <a:cs typeface="Times New Roman"/>
              </a:rPr>
              <a:t>Lightning strikes</a:t>
            </a:r>
          </a:p>
          <a:p>
            <a:endParaRPr lang="en-US" sz="2400">
              <a:latin typeface="PT Sans"/>
              <a:ea typeface="Calibri" panose="020F0502020204030204"/>
              <a:cs typeface="Times New Roman"/>
            </a:endParaRPr>
          </a:p>
        </p:txBody>
      </p:sp>
    </p:spTree>
    <p:extLst>
      <p:ext uri="{BB962C8B-B14F-4D97-AF65-F5344CB8AC3E}">
        <p14:creationId xmlns:p14="http://schemas.microsoft.com/office/powerpoint/2010/main" val="2628113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588C2-C6A9-4F80-5062-415558AD0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FF93F-108C-6330-2B22-C7748D2C316C}"/>
              </a:ext>
            </a:extLst>
          </p:cNvPr>
          <p:cNvSpPr>
            <a:spLocks noGrp="1"/>
          </p:cNvSpPr>
          <p:nvPr>
            <p:ph type="title"/>
          </p:nvPr>
        </p:nvSpPr>
        <p:spPr>
          <a:xfrm>
            <a:off x="186369" y="277908"/>
            <a:ext cx="10515600" cy="1325563"/>
          </a:xfrm>
        </p:spPr>
        <p:txBody>
          <a:bodyPr/>
          <a:lstStyle/>
          <a:p>
            <a:r>
              <a:rPr lang="en-US">
                <a:latin typeface="PT Sans"/>
              </a:rPr>
              <a:t>Battery Installation</a:t>
            </a:r>
            <a:endParaRPr lang="en-US"/>
          </a:p>
        </p:txBody>
      </p:sp>
      <p:sp>
        <p:nvSpPr>
          <p:cNvPr id="4" name="Slide Number Placeholder 3">
            <a:extLst>
              <a:ext uri="{FF2B5EF4-FFF2-40B4-BE49-F238E27FC236}">
                <a16:creationId xmlns:a16="http://schemas.microsoft.com/office/drawing/2014/main" id="{47546584-EFAD-7D86-A98A-135B7EDE22FD}"/>
              </a:ext>
            </a:extLst>
          </p:cNvPr>
          <p:cNvSpPr>
            <a:spLocks noGrp="1"/>
          </p:cNvSpPr>
          <p:nvPr>
            <p:ph type="sldNum" sz="quarter" idx="12"/>
          </p:nvPr>
        </p:nvSpPr>
        <p:spPr/>
        <p:txBody>
          <a:bodyPr/>
          <a:lstStyle/>
          <a:p>
            <a:fld id="{4072BC8D-D296-40C7-BB87-C3ACFF7B6C6E}" type="slidenum">
              <a:rPr lang="en-US" smtClean="0"/>
              <a:pPr/>
              <a:t>20</a:t>
            </a:fld>
            <a:endParaRPr lang="en-US"/>
          </a:p>
        </p:txBody>
      </p:sp>
      <p:sp>
        <p:nvSpPr>
          <p:cNvPr id="5" name="TextBox 4">
            <a:extLst>
              <a:ext uri="{FF2B5EF4-FFF2-40B4-BE49-F238E27FC236}">
                <a16:creationId xmlns:a16="http://schemas.microsoft.com/office/drawing/2014/main" id="{DCACF07B-DF4F-696F-2493-9589A0489E66}"/>
              </a:ext>
            </a:extLst>
          </p:cNvPr>
          <p:cNvSpPr txBox="1"/>
          <p:nvPr/>
        </p:nvSpPr>
        <p:spPr>
          <a:xfrm>
            <a:off x="192272" y="2072773"/>
            <a:ext cx="554332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latin typeface="PT Sans"/>
                <a:ea typeface="Calibri" panose="020F0502020204030204"/>
                <a:cs typeface="Times New Roman"/>
              </a:rPr>
              <a:t>LiFePO4</a:t>
            </a:r>
            <a:endParaRPr lang="en-US">
              <a:ea typeface="Calibri" panose="020F0502020204030204"/>
              <a:cs typeface="Calibri" panose="020F0502020204030204"/>
            </a:endParaRPr>
          </a:p>
          <a:p>
            <a:pPr marL="800100" lvl="1" indent="-342900">
              <a:buFont typeface="Courier New,monospace" panose="020B0604020202020204" pitchFamily="34" charset="0"/>
              <a:buChar char="o"/>
            </a:pPr>
            <a:r>
              <a:rPr lang="en-US">
                <a:latin typeface="PT Sans"/>
                <a:ea typeface="Calibri" panose="020F0502020204030204"/>
                <a:cs typeface="Times New Roman"/>
              </a:rPr>
              <a:t>Light Weight</a:t>
            </a:r>
          </a:p>
          <a:p>
            <a:pPr marL="800100" lvl="1" indent="-342900">
              <a:buFont typeface="Courier New,monospace" panose="020B0604020202020204" pitchFamily="34" charset="0"/>
              <a:buChar char="o"/>
            </a:pPr>
            <a:r>
              <a:rPr lang="en-US">
                <a:latin typeface="PT Sans"/>
                <a:ea typeface="Calibri" panose="020F0502020204030204"/>
                <a:cs typeface="Times New Roman"/>
              </a:rPr>
              <a:t>Constant voltage</a:t>
            </a:r>
          </a:p>
          <a:p>
            <a:pPr marL="800100" lvl="1" indent="-342900">
              <a:buFont typeface="Courier New,monospace" panose="020B0604020202020204" pitchFamily="34" charset="0"/>
              <a:buChar char="o"/>
            </a:pPr>
            <a:r>
              <a:rPr lang="en-US">
                <a:latin typeface="PT Sans"/>
                <a:ea typeface="Calibri" panose="020F0502020204030204"/>
                <a:cs typeface="Times New Roman"/>
              </a:rPr>
              <a:t>Battery Management System (BMS)</a:t>
            </a:r>
          </a:p>
          <a:p>
            <a:pPr marL="342900" indent="-342900">
              <a:buFont typeface="Arial" panose="020B0604020202020204" pitchFamily="34" charset="0"/>
              <a:buChar char="•"/>
            </a:pPr>
            <a:r>
              <a:rPr lang="en-US" sz="2400">
                <a:latin typeface="PT Sans"/>
                <a:ea typeface="Calibri" panose="020F0502020204030204"/>
                <a:cs typeface="Times New Roman"/>
              </a:rPr>
              <a:t>Waterproof insulation</a:t>
            </a:r>
          </a:p>
          <a:p>
            <a:pPr marL="800100" lvl="1" indent="-342900">
              <a:buFont typeface="Courier New,monospace" panose="020B0604020202020204" pitchFamily="34" charset="0"/>
              <a:buChar char="o"/>
            </a:pPr>
            <a:r>
              <a:rPr lang="en-US">
                <a:latin typeface="PT Sans"/>
                <a:ea typeface="Calibri" panose="020F0502020204030204"/>
                <a:cs typeface="Times New Roman"/>
              </a:rPr>
              <a:t>Create a mold for any golf cart</a:t>
            </a:r>
          </a:p>
        </p:txBody>
      </p:sp>
      <p:sp>
        <p:nvSpPr>
          <p:cNvPr id="7" name="Text Placeholder 2">
            <a:extLst>
              <a:ext uri="{FF2B5EF4-FFF2-40B4-BE49-F238E27FC236}">
                <a16:creationId xmlns:a16="http://schemas.microsoft.com/office/drawing/2014/main" id="{B47DBEDD-327A-E349-474C-3CB70DF703C9}"/>
              </a:ext>
            </a:extLst>
          </p:cNvPr>
          <p:cNvSpPr txBox="1">
            <a:spLocks/>
          </p:cNvSpPr>
          <p:nvPr/>
        </p:nvSpPr>
        <p:spPr>
          <a:xfrm>
            <a:off x="187957" y="1198102"/>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PT Sans"/>
              </a:rPr>
              <a:t>Overview</a:t>
            </a:r>
            <a:endParaRPr lang="en-US" sz="2400" b="1"/>
          </a:p>
        </p:txBody>
      </p:sp>
      <p:sp>
        <p:nvSpPr>
          <p:cNvPr id="10" name="Text Placeholder 2">
            <a:extLst>
              <a:ext uri="{FF2B5EF4-FFF2-40B4-BE49-F238E27FC236}">
                <a16:creationId xmlns:a16="http://schemas.microsoft.com/office/drawing/2014/main" id="{86701393-EF3C-D208-E4DD-B22F35B4BAB4}"/>
              </a:ext>
            </a:extLst>
          </p:cNvPr>
          <p:cNvSpPr txBox="1">
            <a:spLocks/>
          </p:cNvSpPr>
          <p:nvPr/>
        </p:nvSpPr>
        <p:spPr>
          <a:xfrm>
            <a:off x="187956" y="4014188"/>
            <a:ext cx="5157787" cy="823912"/>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T Sans" panose="020B05030202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T Sans" panose="020B05030202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T Sans" panose="020B05030202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T Sans" panose="020B05030202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latin typeface="PT Sans"/>
              </a:rPr>
              <a:t>Summer Tasks</a:t>
            </a:r>
            <a:endParaRPr lang="en-US" sz="2400" b="1"/>
          </a:p>
        </p:txBody>
      </p:sp>
      <p:sp>
        <p:nvSpPr>
          <p:cNvPr id="11" name="TextBox 10">
            <a:extLst>
              <a:ext uri="{FF2B5EF4-FFF2-40B4-BE49-F238E27FC236}">
                <a16:creationId xmlns:a16="http://schemas.microsoft.com/office/drawing/2014/main" id="{84463072-BD7C-E78C-E0B3-912BCEFDB721}"/>
              </a:ext>
            </a:extLst>
          </p:cNvPr>
          <p:cNvSpPr txBox="1"/>
          <p:nvPr/>
        </p:nvSpPr>
        <p:spPr>
          <a:xfrm>
            <a:off x="185645" y="4829224"/>
            <a:ext cx="554332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latin typeface="PT Sans"/>
                <a:ea typeface="Calibri" panose="020F0502020204030204"/>
                <a:cs typeface="Times New Roman"/>
              </a:rPr>
              <a:t>Install LiFePO4 Battery</a:t>
            </a:r>
          </a:p>
          <a:p>
            <a:pPr marL="342900" indent="-342900">
              <a:buFont typeface="Arial"/>
              <a:buChar char="•"/>
            </a:pPr>
            <a:r>
              <a:rPr lang="en-US" sz="2400">
                <a:latin typeface="PT Sans"/>
                <a:ea typeface="Calibri" panose="020F0502020204030204"/>
                <a:cs typeface="Times New Roman"/>
              </a:rPr>
              <a:t>Fit and install Waterproof insulation</a:t>
            </a:r>
          </a:p>
          <a:p>
            <a:pPr marL="342900" indent="-342900">
              <a:buFont typeface="Arial"/>
              <a:buChar char="•"/>
            </a:pPr>
            <a:r>
              <a:rPr lang="en-US" sz="2400">
                <a:latin typeface="PT Sans"/>
                <a:ea typeface="Calibri" panose="020F0502020204030204"/>
                <a:cs typeface="Times New Roman"/>
              </a:rPr>
              <a:t>Replace worn out wiring or electrical components</a:t>
            </a:r>
          </a:p>
        </p:txBody>
      </p:sp>
      <p:pic>
        <p:nvPicPr>
          <p:cNvPr id="12" name="Picture 11" descr="A wiring diagram of the Club car's main harness, or the location and immediate connections to and from the battery.">
            <a:extLst>
              <a:ext uri="{FF2B5EF4-FFF2-40B4-BE49-F238E27FC236}">
                <a16:creationId xmlns:a16="http://schemas.microsoft.com/office/drawing/2014/main" id="{38A04C98-BA43-4352-1096-159AC27D5AE5}"/>
              </a:ext>
            </a:extLst>
          </p:cNvPr>
          <p:cNvPicPr>
            <a:picLocks noChangeAspect="1"/>
          </p:cNvPicPr>
          <p:nvPr/>
        </p:nvPicPr>
        <p:blipFill>
          <a:blip r:embed="rId2"/>
          <a:stretch>
            <a:fillRect/>
          </a:stretch>
        </p:blipFill>
        <p:spPr>
          <a:xfrm>
            <a:off x="5076806" y="295607"/>
            <a:ext cx="7081161" cy="4862632"/>
          </a:xfrm>
          <a:prstGeom prst="rect">
            <a:avLst/>
          </a:prstGeom>
          <a:solidFill>
            <a:srgbClr val="FFFFFF">
              <a:shade val="85000"/>
            </a:srgbClr>
          </a:solidFill>
          <a:ln w="6350" cap="sq">
            <a:solidFill>
              <a:srgbClr val="FF0000"/>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3" name="TextBox 12">
            <a:extLst>
              <a:ext uri="{FF2B5EF4-FFF2-40B4-BE49-F238E27FC236}">
                <a16:creationId xmlns:a16="http://schemas.microsoft.com/office/drawing/2014/main" id="{AA956DB8-0D73-D6FC-6B0D-3C371FCD7CFE}"/>
              </a:ext>
            </a:extLst>
          </p:cNvPr>
          <p:cNvSpPr txBox="1"/>
          <p:nvPr/>
        </p:nvSpPr>
        <p:spPr>
          <a:xfrm>
            <a:off x="6556483" y="5342504"/>
            <a:ext cx="4117650" cy="10095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en-US" sz="2400">
                <a:latin typeface="PT Sans"/>
                <a:ea typeface="Calibri" panose="020F0502020204030204"/>
                <a:cs typeface="Times New Roman"/>
              </a:rPr>
              <a:t>Diagram of main harness</a:t>
            </a:r>
          </a:p>
          <a:p>
            <a:pPr marL="800100" lvl="1" indent="-342900">
              <a:buFont typeface="Courier New"/>
              <a:buChar char="o"/>
            </a:pPr>
            <a:r>
              <a:rPr lang="en-US">
                <a:latin typeface="PT Sans"/>
                <a:ea typeface="Calibri" panose="020F0502020204030204"/>
                <a:cs typeface="Times New Roman"/>
              </a:rPr>
              <a:t>Location of battery</a:t>
            </a:r>
          </a:p>
          <a:p>
            <a:pPr marL="800100" lvl="1" indent="-342900">
              <a:buFont typeface="Courier New"/>
              <a:buChar char="o"/>
            </a:pPr>
            <a:r>
              <a:rPr lang="en-US">
                <a:latin typeface="PT Sans"/>
                <a:ea typeface="Calibri" panose="020F0502020204030204"/>
                <a:cs typeface="Times New Roman"/>
              </a:rPr>
              <a:t>Depicts main connections</a:t>
            </a:r>
          </a:p>
        </p:txBody>
      </p:sp>
    </p:spTree>
    <p:extLst>
      <p:ext uri="{BB962C8B-B14F-4D97-AF65-F5344CB8AC3E}">
        <p14:creationId xmlns:p14="http://schemas.microsoft.com/office/powerpoint/2010/main" val="30443404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A8B3F-5DCB-0F12-45FD-4A578F5CCB1C}"/>
              </a:ext>
            </a:extLst>
          </p:cNvPr>
          <p:cNvSpPr>
            <a:spLocks noGrp="1"/>
          </p:cNvSpPr>
          <p:nvPr>
            <p:ph type="title"/>
          </p:nvPr>
        </p:nvSpPr>
        <p:spPr/>
        <p:txBody>
          <a:bodyPr/>
          <a:lstStyle/>
          <a:p>
            <a:r>
              <a:rPr lang="en-US">
                <a:latin typeface="PT Sans"/>
              </a:rPr>
              <a:t>Structural Frame Design </a:t>
            </a:r>
            <a:endParaRPr lang="en-US" b="0">
              <a:latin typeface="PT Sans"/>
            </a:endParaRPr>
          </a:p>
        </p:txBody>
      </p:sp>
      <p:sp>
        <p:nvSpPr>
          <p:cNvPr id="3" name="Text Placeholder 2">
            <a:extLst>
              <a:ext uri="{FF2B5EF4-FFF2-40B4-BE49-F238E27FC236}">
                <a16:creationId xmlns:a16="http://schemas.microsoft.com/office/drawing/2014/main" id="{9B4C4979-86AC-162F-7534-076602E1FE0E}"/>
              </a:ext>
            </a:extLst>
          </p:cNvPr>
          <p:cNvSpPr>
            <a:spLocks noGrp="1"/>
          </p:cNvSpPr>
          <p:nvPr>
            <p:ph type="body" idx="1"/>
          </p:nvPr>
        </p:nvSpPr>
        <p:spPr/>
        <p:txBody>
          <a:bodyPr/>
          <a:lstStyle/>
          <a:p>
            <a:r>
              <a:rPr lang="en-US">
                <a:latin typeface="PT Sans"/>
              </a:rPr>
              <a:t>Functions</a:t>
            </a:r>
            <a:endParaRPr lang="en-US"/>
          </a:p>
        </p:txBody>
      </p:sp>
      <p:sp>
        <p:nvSpPr>
          <p:cNvPr id="4" name="Content Placeholder 3">
            <a:extLst>
              <a:ext uri="{FF2B5EF4-FFF2-40B4-BE49-F238E27FC236}">
                <a16:creationId xmlns:a16="http://schemas.microsoft.com/office/drawing/2014/main" id="{D0F62A88-4194-69CB-6413-74D744D946D4}"/>
              </a:ext>
            </a:extLst>
          </p:cNvPr>
          <p:cNvSpPr>
            <a:spLocks noGrp="1"/>
          </p:cNvSpPr>
          <p:nvPr>
            <p:ph sz="half" idx="2"/>
          </p:nvPr>
        </p:nvSpPr>
        <p:spPr/>
        <p:txBody>
          <a:bodyPr vert="horz" lIns="91440" tIns="45720" rIns="91440" bIns="45720" rtlCol="0" anchor="t">
            <a:normAutofit fontScale="77500" lnSpcReduction="20000"/>
          </a:bodyPr>
          <a:lstStyle/>
          <a:p>
            <a:r>
              <a:rPr lang="en-US"/>
              <a:t>Supports and secures rigid roof-mounted solar panel</a:t>
            </a:r>
          </a:p>
          <a:p>
            <a:r>
              <a:rPr lang="en-US"/>
              <a:t>Interfaces with OEM golf cart chassis</a:t>
            </a:r>
          </a:p>
          <a:p>
            <a:r>
              <a:rPr lang="en-US"/>
              <a:t>Provides structural mounting points:</a:t>
            </a:r>
          </a:p>
          <a:p>
            <a:pPr lvl="1">
              <a:buFont typeface="Courier New" panose="02070309020205020404" pitchFamily="49" charset="0"/>
              <a:buChar char="o"/>
            </a:pPr>
            <a:r>
              <a:rPr lang="en-US"/>
              <a:t>Solar panel</a:t>
            </a:r>
          </a:p>
          <a:p>
            <a:pPr lvl="1">
              <a:buFont typeface="Courier New" panose="02070309020205020404" pitchFamily="49" charset="0"/>
              <a:buChar char="o"/>
            </a:pPr>
            <a:r>
              <a:rPr lang="en-US"/>
              <a:t>Electrical routing components</a:t>
            </a:r>
          </a:p>
          <a:p>
            <a:pPr lvl="1">
              <a:buFont typeface="Courier New" panose="02070309020205020404" pitchFamily="49" charset="0"/>
              <a:buChar char="o"/>
            </a:pPr>
            <a:r>
              <a:rPr lang="en-US"/>
              <a:t>Optional charge controller enclosure</a:t>
            </a:r>
          </a:p>
          <a:p>
            <a:r>
              <a:rPr lang="en-US"/>
              <a:t>Protects and routes electrical wiring </a:t>
            </a:r>
          </a:p>
          <a:p>
            <a:r>
              <a:rPr lang="en-US"/>
              <a:t>Maintains structural integrity under:</a:t>
            </a:r>
          </a:p>
          <a:p>
            <a:pPr lvl="1">
              <a:buFont typeface="Courier New" panose="02070309020205020404" pitchFamily="49" charset="0"/>
              <a:buChar char="o"/>
            </a:pPr>
            <a:r>
              <a:rPr lang="en-US"/>
              <a:t>Static loading (self-weight + solar panel)</a:t>
            </a:r>
          </a:p>
          <a:p>
            <a:pPr lvl="1">
              <a:buFont typeface="Courier New" panose="02070309020205020404" pitchFamily="49" charset="0"/>
              <a:buChar char="o"/>
            </a:pPr>
            <a:r>
              <a:rPr lang="en-US"/>
              <a:t>Dynamic loading (vehicle motion, vibration, wind)</a:t>
            </a:r>
          </a:p>
          <a:p>
            <a:endParaRPr lang="en-US"/>
          </a:p>
        </p:txBody>
      </p:sp>
      <p:sp>
        <p:nvSpPr>
          <p:cNvPr id="5" name="Text Placeholder 4">
            <a:extLst>
              <a:ext uri="{FF2B5EF4-FFF2-40B4-BE49-F238E27FC236}">
                <a16:creationId xmlns:a16="http://schemas.microsoft.com/office/drawing/2014/main" id="{E2572C72-3ACE-0F60-5FEA-2A70C0B3CD81}"/>
              </a:ext>
            </a:extLst>
          </p:cNvPr>
          <p:cNvSpPr>
            <a:spLocks noGrp="1"/>
          </p:cNvSpPr>
          <p:nvPr>
            <p:ph type="body" sz="quarter" idx="3"/>
          </p:nvPr>
        </p:nvSpPr>
        <p:spPr/>
        <p:txBody>
          <a:bodyPr/>
          <a:lstStyle/>
          <a:p>
            <a:r>
              <a:rPr lang="en-US"/>
              <a:t>Compatibility </a:t>
            </a:r>
          </a:p>
        </p:txBody>
      </p:sp>
      <p:sp>
        <p:nvSpPr>
          <p:cNvPr id="6" name="Content Placeholder 5">
            <a:extLst>
              <a:ext uri="{FF2B5EF4-FFF2-40B4-BE49-F238E27FC236}">
                <a16:creationId xmlns:a16="http://schemas.microsoft.com/office/drawing/2014/main" id="{F1274D16-EBE7-CB13-ADE3-9BD864237924}"/>
              </a:ext>
            </a:extLst>
          </p:cNvPr>
          <p:cNvSpPr>
            <a:spLocks noGrp="1"/>
          </p:cNvSpPr>
          <p:nvPr>
            <p:ph sz="quarter" idx="4"/>
          </p:nvPr>
        </p:nvSpPr>
        <p:spPr/>
        <p:txBody>
          <a:bodyPr>
            <a:normAutofit fontScale="77500" lnSpcReduction="20000"/>
          </a:bodyPr>
          <a:lstStyle/>
          <a:p>
            <a:r>
              <a:rPr lang="en-US"/>
              <a:t>Adjustable mounting architecture</a:t>
            </a:r>
          </a:p>
          <a:p>
            <a:r>
              <a:rPr lang="en-US"/>
              <a:t>Must be </a:t>
            </a:r>
            <a:r>
              <a:rPr lang="en-US" b="1"/>
              <a:t>universal</a:t>
            </a:r>
          </a:p>
          <a:p>
            <a:pPr lvl="1">
              <a:buFont typeface="Courier New" panose="02070309020205020404" pitchFamily="49" charset="0"/>
              <a:buChar char="o"/>
            </a:pPr>
            <a:r>
              <a:rPr lang="en-US"/>
              <a:t>Club Car</a:t>
            </a:r>
          </a:p>
          <a:p>
            <a:pPr lvl="1">
              <a:buFont typeface="Courier New" panose="02070309020205020404" pitchFamily="49" charset="0"/>
              <a:buChar char="o"/>
            </a:pPr>
            <a:r>
              <a:rPr lang="en-US"/>
              <a:t>E-Z-GO</a:t>
            </a:r>
          </a:p>
          <a:p>
            <a:pPr lvl="1">
              <a:buFont typeface="Courier New" panose="02070309020205020404" pitchFamily="49" charset="0"/>
              <a:buChar char="o"/>
            </a:pPr>
            <a:r>
              <a:rPr lang="en-US"/>
              <a:t>Yamaha</a:t>
            </a:r>
          </a:p>
          <a:p>
            <a:pPr marL="457200" lvl="1" indent="0">
              <a:buNone/>
            </a:pPr>
            <a:endParaRPr lang="en-US"/>
          </a:p>
        </p:txBody>
      </p:sp>
      <p:sp>
        <p:nvSpPr>
          <p:cNvPr id="7" name="Slide Number Placeholder 6">
            <a:extLst>
              <a:ext uri="{FF2B5EF4-FFF2-40B4-BE49-F238E27FC236}">
                <a16:creationId xmlns:a16="http://schemas.microsoft.com/office/drawing/2014/main" id="{1A2C33EC-AAFB-DA75-0A0A-C5FA1298FEC6}"/>
              </a:ext>
            </a:extLst>
          </p:cNvPr>
          <p:cNvSpPr>
            <a:spLocks noGrp="1"/>
          </p:cNvSpPr>
          <p:nvPr>
            <p:ph type="sldNum" sz="quarter" idx="12"/>
          </p:nvPr>
        </p:nvSpPr>
        <p:spPr/>
        <p:txBody>
          <a:bodyPr/>
          <a:lstStyle/>
          <a:p>
            <a:fld id="{4072BC8D-D296-40C7-BB87-C3ACFF7B6C6E}" type="slidenum">
              <a:rPr lang="en-US" smtClean="0"/>
              <a:pPr/>
              <a:t>21</a:t>
            </a:fld>
            <a:endParaRPr lang="en-US"/>
          </a:p>
        </p:txBody>
      </p:sp>
    </p:spTree>
    <p:extLst>
      <p:ext uri="{BB962C8B-B14F-4D97-AF65-F5344CB8AC3E}">
        <p14:creationId xmlns:p14="http://schemas.microsoft.com/office/powerpoint/2010/main" val="2390762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B57ADB3-5FA7-AA22-BE76-FB7CA9231831}"/>
              </a:ext>
            </a:extLst>
          </p:cNvPr>
          <p:cNvSpPr>
            <a:spLocks noGrp="1"/>
          </p:cNvSpPr>
          <p:nvPr>
            <p:ph sz="half" idx="2"/>
          </p:nvPr>
        </p:nvSpPr>
        <p:spPr>
          <a:xfrm>
            <a:off x="839788" y="1681163"/>
            <a:ext cx="5157787" cy="4508500"/>
          </a:xfrm>
        </p:spPr>
        <p:txBody>
          <a:bodyPr>
            <a:normAutofit lnSpcReduction="10000"/>
          </a:bodyPr>
          <a:lstStyle/>
          <a:p>
            <a:r>
              <a:rPr lang="en-US"/>
              <a:t>Mechanical</a:t>
            </a:r>
          </a:p>
          <a:p>
            <a:pPr lvl="1">
              <a:buFont typeface="Courier New" panose="02070309020205020404" pitchFamily="49" charset="0"/>
              <a:buChar char="o"/>
            </a:pPr>
            <a:r>
              <a:rPr lang="en-US"/>
              <a:t>Static + dynamic loads</a:t>
            </a:r>
          </a:p>
          <a:p>
            <a:pPr lvl="1">
              <a:buFont typeface="Courier New" panose="02070309020205020404" pitchFamily="49" charset="0"/>
              <a:buChar char="o"/>
            </a:pPr>
            <a:r>
              <a:rPr lang="en-US"/>
              <a:t>Deflection parameters</a:t>
            </a:r>
          </a:p>
          <a:p>
            <a:pPr lvl="1">
              <a:buFont typeface="Courier New" panose="02070309020205020404" pitchFamily="49" charset="0"/>
              <a:buChar char="o"/>
            </a:pPr>
            <a:r>
              <a:rPr lang="en-US"/>
              <a:t>Safety factors</a:t>
            </a:r>
          </a:p>
          <a:p>
            <a:r>
              <a:rPr lang="en-US"/>
              <a:t>Geometric Constraints </a:t>
            </a:r>
          </a:p>
          <a:p>
            <a:pPr lvl="1">
              <a:buFont typeface="Courier New" panose="02070309020205020404" pitchFamily="49" charset="0"/>
              <a:buChar char="o"/>
            </a:pPr>
            <a:r>
              <a:rPr lang="en-US"/>
              <a:t>Designed for specific makes and models</a:t>
            </a:r>
          </a:p>
          <a:p>
            <a:pPr lvl="1">
              <a:buFont typeface="Courier New" panose="02070309020205020404" pitchFamily="49" charset="0"/>
              <a:buChar char="o"/>
            </a:pPr>
            <a:r>
              <a:rPr lang="en-US"/>
              <a:t>Should not hinder usability </a:t>
            </a:r>
          </a:p>
          <a:p>
            <a:r>
              <a:rPr lang="en-US"/>
              <a:t>Electrical Integration</a:t>
            </a:r>
          </a:p>
          <a:p>
            <a:pPr lvl="1">
              <a:buFont typeface="Courier New" panose="02070309020205020404" pitchFamily="49" charset="0"/>
              <a:buChar char="o"/>
            </a:pPr>
            <a:r>
              <a:rPr lang="en-US"/>
              <a:t>Wire routing</a:t>
            </a:r>
          </a:p>
          <a:p>
            <a:pPr lvl="1">
              <a:buFont typeface="Courier New" panose="02070309020205020404" pitchFamily="49" charset="0"/>
              <a:buChar char="o"/>
            </a:pPr>
            <a:r>
              <a:rPr lang="en-US"/>
              <a:t>Electrical protection</a:t>
            </a:r>
          </a:p>
          <a:p>
            <a:endParaRPr lang="en-US"/>
          </a:p>
        </p:txBody>
      </p:sp>
      <p:sp>
        <p:nvSpPr>
          <p:cNvPr id="2" name="Title 1">
            <a:extLst>
              <a:ext uri="{FF2B5EF4-FFF2-40B4-BE49-F238E27FC236}">
                <a16:creationId xmlns:a16="http://schemas.microsoft.com/office/drawing/2014/main" id="{E82AF1D4-534A-3376-CB46-9CC84A299A85}"/>
              </a:ext>
            </a:extLst>
          </p:cNvPr>
          <p:cNvSpPr>
            <a:spLocks noGrp="1"/>
          </p:cNvSpPr>
          <p:nvPr>
            <p:ph type="title"/>
          </p:nvPr>
        </p:nvSpPr>
        <p:spPr/>
        <p:txBody>
          <a:bodyPr/>
          <a:lstStyle/>
          <a:p>
            <a:r>
              <a:rPr lang="en-US"/>
              <a:t>Structural Frame Design - Constraints</a:t>
            </a:r>
          </a:p>
        </p:txBody>
      </p:sp>
      <p:sp>
        <p:nvSpPr>
          <p:cNvPr id="6" name="Content Placeholder 5">
            <a:extLst>
              <a:ext uri="{FF2B5EF4-FFF2-40B4-BE49-F238E27FC236}">
                <a16:creationId xmlns:a16="http://schemas.microsoft.com/office/drawing/2014/main" id="{DED7122F-F529-50BB-E52E-5CF6EC965B3E}"/>
              </a:ext>
            </a:extLst>
          </p:cNvPr>
          <p:cNvSpPr>
            <a:spLocks noGrp="1"/>
          </p:cNvSpPr>
          <p:nvPr>
            <p:ph sz="quarter" idx="4"/>
          </p:nvPr>
        </p:nvSpPr>
        <p:spPr>
          <a:xfrm>
            <a:off x="6172200" y="1681163"/>
            <a:ext cx="5183188" cy="4508500"/>
          </a:xfrm>
        </p:spPr>
        <p:txBody>
          <a:bodyPr>
            <a:normAutofit lnSpcReduction="10000"/>
          </a:bodyPr>
          <a:lstStyle/>
          <a:p>
            <a:r>
              <a:rPr lang="en-US"/>
              <a:t>Environmental Durability</a:t>
            </a:r>
          </a:p>
          <a:p>
            <a:pPr lvl="1">
              <a:buFont typeface="Courier New" panose="02070309020205020404" pitchFamily="49" charset="0"/>
              <a:buChar char="o"/>
            </a:pPr>
            <a:r>
              <a:rPr lang="en-US"/>
              <a:t>Rain, heat, cold, UV, humidity</a:t>
            </a:r>
          </a:p>
          <a:p>
            <a:pPr lvl="1">
              <a:buFont typeface="Courier New" panose="02070309020205020404" pitchFamily="49" charset="0"/>
              <a:buChar char="o"/>
            </a:pPr>
            <a:r>
              <a:rPr lang="en-US"/>
              <a:t>Corrosion resistance</a:t>
            </a:r>
          </a:p>
          <a:p>
            <a:r>
              <a:rPr lang="en-US"/>
              <a:t>Manufacturing</a:t>
            </a:r>
          </a:p>
          <a:p>
            <a:pPr lvl="1">
              <a:buFont typeface="Courier New" panose="02070309020205020404" pitchFamily="49" charset="0"/>
              <a:buChar char="o"/>
            </a:pPr>
            <a:r>
              <a:rPr lang="en-US"/>
              <a:t>Welded prototype</a:t>
            </a:r>
          </a:p>
          <a:p>
            <a:pPr lvl="1">
              <a:buFont typeface="Courier New" panose="02070309020205020404" pitchFamily="49" charset="0"/>
              <a:buChar char="o"/>
            </a:pPr>
            <a:r>
              <a:rPr lang="en-US"/>
              <a:t>Bolt-on final design</a:t>
            </a:r>
          </a:p>
          <a:p>
            <a:pPr lvl="1">
              <a:buFont typeface="Courier New" panose="02070309020205020404" pitchFamily="49" charset="0"/>
              <a:buChar char="o"/>
            </a:pPr>
            <a:r>
              <a:rPr lang="en-US"/>
              <a:t>Aluminum extrusion </a:t>
            </a:r>
          </a:p>
          <a:p>
            <a:pPr lvl="1">
              <a:buFont typeface="Courier New" panose="02070309020205020404" pitchFamily="49" charset="0"/>
              <a:buChar char="o"/>
            </a:pPr>
            <a:r>
              <a:rPr lang="en-US"/>
              <a:t>CNC-machined brackets</a:t>
            </a:r>
          </a:p>
          <a:p>
            <a:r>
              <a:rPr lang="en-US"/>
              <a:t>Governing Agencies</a:t>
            </a:r>
          </a:p>
          <a:p>
            <a:pPr lvl="1">
              <a:buFont typeface="Courier New" panose="02070309020205020404" pitchFamily="49" charset="0"/>
              <a:buChar char="o"/>
            </a:pPr>
            <a:r>
              <a:rPr lang="en-US"/>
              <a:t>OSHA, SAE, ANSI, NEC…</a:t>
            </a:r>
          </a:p>
        </p:txBody>
      </p:sp>
      <p:sp>
        <p:nvSpPr>
          <p:cNvPr id="7" name="Slide Number Placeholder 6">
            <a:extLst>
              <a:ext uri="{FF2B5EF4-FFF2-40B4-BE49-F238E27FC236}">
                <a16:creationId xmlns:a16="http://schemas.microsoft.com/office/drawing/2014/main" id="{18F48134-7493-9342-379F-B0B35E9ABB54}"/>
              </a:ext>
            </a:extLst>
          </p:cNvPr>
          <p:cNvSpPr>
            <a:spLocks noGrp="1"/>
          </p:cNvSpPr>
          <p:nvPr>
            <p:ph type="sldNum" sz="quarter" idx="12"/>
          </p:nvPr>
        </p:nvSpPr>
        <p:spPr/>
        <p:txBody>
          <a:bodyPr/>
          <a:lstStyle/>
          <a:p>
            <a:fld id="{4072BC8D-D296-40C7-BB87-C3ACFF7B6C6E}" type="slidenum">
              <a:rPr lang="en-US" smtClean="0"/>
              <a:pPr/>
              <a:t>22</a:t>
            </a:fld>
            <a:endParaRPr lang="en-US"/>
          </a:p>
        </p:txBody>
      </p:sp>
    </p:spTree>
    <p:extLst>
      <p:ext uri="{BB962C8B-B14F-4D97-AF65-F5344CB8AC3E}">
        <p14:creationId xmlns:p14="http://schemas.microsoft.com/office/powerpoint/2010/main" val="170462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D3FC41C-C1E4-59F0-CF75-FEAF8BF21308}"/>
              </a:ext>
            </a:extLst>
          </p:cNvPr>
          <p:cNvSpPr>
            <a:spLocks noGrp="1"/>
          </p:cNvSpPr>
          <p:nvPr>
            <p:ph sz="half" idx="2"/>
          </p:nvPr>
        </p:nvSpPr>
        <p:spPr>
          <a:xfrm>
            <a:off x="839788" y="1690687"/>
            <a:ext cx="5157787" cy="4498975"/>
          </a:xfrm>
        </p:spPr>
        <p:txBody>
          <a:bodyPr/>
          <a:lstStyle/>
          <a:p>
            <a:r>
              <a:rPr lang="en-US"/>
              <a:t>Design</a:t>
            </a:r>
          </a:p>
          <a:p>
            <a:pPr lvl="1">
              <a:buFont typeface="Courier New" panose="02070309020205020404" pitchFamily="49" charset="0"/>
              <a:buChar char="o"/>
            </a:pPr>
            <a:r>
              <a:rPr lang="en-US"/>
              <a:t>Vertical supports (4x)</a:t>
            </a:r>
          </a:p>
          <a:p>
            <a:pPr lvl="1">
              <a:buFont typeface="Courier New" panose="02070309020205020404" pitchFamily="49" charset="0"/>
              <a:buChar char="o"/>
            </a:pPr>
            <a:r>
              <a:rPr lang="en-US"/>
              <a:t>Horizontal cross-members (4x)</a:t>
            </a:r>
          </a:p>
          <a:p>
            <a:pPr lvl="1">
              <a:buFont typeface="Courier New" panose="02070309020205020404" pitchFamily="49" charset="0"/>
              <a:buChar char="o"/>
            </a:pPr>
            <a:r>
              <a:rPr lang="en-US"/>
              <a:t>Top mount plate / Rail system</a:t>
            </a:r>
          </a:p>
          <a:p>
            <a:r>
              <a:rPr lang="en-US"/>
              <a:t>Universal mount</a:t>
            </a:r>
          </a:p>
          <a:p>
            <a:pPr lvl="1">
              <a:buFont typeface="Courier New" panose="02070309020205020404" pitchFamily="49" charset="0"/>
              <a:buChar char="o"/>
            </a:pPr>
            <a:r>
              <a:rPr lang="en-US"/>
              <a:t>Adjustable base brackets</a:t>
            </a:r>
          </a:p>
          <a:p>
            <a:pPr lvl="1">
              <a:buFont typeface="Courier New" panose="02070309020205020404" pitchFamily="49" charset="0"/>
              <a:buChar char="o"/>
            </a:pPr>
            <a:r>
              <a:rPr lang="en-US"/>
              <a:t>Telescoping cross-members</a:t>
            </a:r>
          </a:p>
          <a:p>
            <a:pPr lvl="1">
              <a:buFont typeface="Courier New" panose="02070309020205020404" pitchFamily="49" charset="0"/>
              <a:buChar char="o"/>
            </a:pPr>
            <a:r>
              <a:rPr lang="en-US"/>
              <a:t>Modular roof interface plate</a:t>
            </a:r>
          </a:p>
          <a:p>
            <a:endParaRPr lang="en-US"/>
          </a:p>
        </p:txBody>
      </p:sp>
      <p:sp>
        <p:nvSpPr>
          <p:cNvPr id="2" name="Title 1">
            <a:extLst>
              <a:ext uri="{FF2B5EF4-FFF2-40B4-BE49-F238E27FC236}">
                <a16:creationId xmlns:a16="http://schemas.microsoft.com/office/drawing/2014/main" id="{6ADDBE4F-036E-3C64-69F5-1471D99B7FD2}"/>
              </a:ext>
            </a:extLst>
          </p:cNvPr>
          <p:cNvSpPr>
            <a:spLocks noGrp="1"/>
          </p:cNvSpPr>
          <p:nvPr>
            <p:ph type="title"/>
          </p:nvPr>
        </p:nvSpPr>
        <p:spPr/>
        <p:txBody>
          <a:bodyPr/>
          <a:lstStyle/>
          <a:p>
            <a:r>
              <a:rPr lang="en-US"/>
              <a:t>Structural Frame Design - Overview</a:t>
            </a:r>
          </a:p>
        </p:txBody>
      </p:sp>
      <p:sp>
        <p:nvSpPr>
          <p:cNvPr id="6" name="Content Placeholder 5">
            <a:extLst>
              <a:ext uri="{FF2B5EF4-FFF2-40B4-BE49-F238E27FC236}">
                <a16:creationId xmlns:a16="http://schemas.microsoft.com/office/drawing/2014/main" id="{38E9D9C1-5066-C6F1-9962-09061D97E840}"/>
              </a:ext>
            </a:extLst>
          </p:cNvPr>
          <p:cNvSpPr>
            <a:spLocks noGrp="1"/>
          </p:cNvSpPr>
          <p:nvPr>
            <p:ph sz="quarter" idx="4"/>
          </p:nvPr>
        </p:nvSpPr>
        <p:spPr>
          <a:xfrm>
            <a:off x="6172200" y="1690688"/>
            <a:ext cx="5183188" cy="4498975"/>
          </a:xfrm>
        </p:spPr>
        <p:txBody>
          <a:bodyPr/>
          <a:lstStyle/>
          <a:p>
            <a:r>
              <a:rPr lang="en-US"/>
              <a:t>Electrical integration</a:t>
            </a:r>
          </a:p>
          <a:p>
            <a:pPr lvl="1">
              <a:buFont typeface="Courier New" panose="02070309020205020404" pitchFamily="49" charset="0"/>
              <a:buChar char="o"/>
            </a:pPr>
            <a:r>
              <a:rPr lang="en-US"/>
              <a:t>Hollow frame channels</a:t>
            </a:r>
          </a:p>
          <a:p>
            <a:pPr lvl="1">
              <a:buFont typeface="Courier New" panose="02070309020205020404" pitchFamily="49" charset="0"/>
              <a:buChar char="o"/>
            </a:pPr>
            <a:r>
              <a:rPr lang="en-US"/>
              <a:t>Grommet-protected ports</a:t>
            </a:r>
          </a:p>
          <a:p>
            <a:pPr lvl="1">
              <a:buFont typeface="Courier New" panose="02070309020205020404" pitchFamily="49" charset="0"/>
              <a:buChar char="o"/>
            </a:pPr>
            <a:r>
              <a:rPr lang="en-US"/>
              <a:t>Underside enclosures</a:t>
            </a:r>
          </a:p>
          <a:p>
            <a:pPr marL="0" indent="0">
              <a:buNone/>
            </a:pPr>
            <a:endParaRPr lang="en-US"/>
          </a:p>
        </p:txBody>
      </p:sp>
      <p:sp>
        <p:nvSpPr>
          <p:cNvPr id="7" name="Slide Number Placeholder 6">
            <a:extLst>
              <a:ext uri="{FF2B5EF4-FFF2-40B4-BE49-F238E27FC236}">
                <a16:creationId xmlns:a16="http://schemas.microsoft.com/office/drawing/2014/main" id="{81096D92-B95E-862D-E1F7-AE731FFA3E86}"/>
              </a:ext>
            </a:extLst>
          </p:cNvPr>
          <p:cNvSpPr>
            <a:spLocks noGrp="1"/>
          </p:cNvSpPr>
          <p:nvPr>
            <p:ph type="sldNum" sz="quarter" idx="12"/>
          </p:nvPr>
        </p:nvSpPr>
        <p:spPr/>
        <p:txBody>
          <a:bodyPr/>
          <a:lstStyle/>
          <a:p>
            <a:fld id="{4072BC8D-D296-40C7-BB87-C3ACFF7B6C6E}" type="slidenum">
              <a:rPr lang="en-US" smtClean="0"/>
              <a:pPr/>
              <a:t>23</a:t>
            </a:fld>
            <a:endParaRPr lang="en-US"/>
          </a:p>
        </p:txBody>
      </p:sp>
    </p:spTree>
    <p:extLst>
      <p:ext uri="{BB962C8B-B14F-4D97-AF65-F5344CB8AC3E}">
        <p14:creationId xmlns:p14="http://schemas.microsoft.com/office/powerpoint/2010/main" val="19372198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651E3-E97C-A795-F6C2-2C732E191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2F6CD2-7AE5-BF3A-FB96-78F72A193E08}"/>
              </a:ext>
            </a:extLst>
          </p:cNvPr>
          <p:cNvSpPr>
            <a:spLocks noGrp="1"/>
          </p:cNvSpPr>
          <p:nvPr>
            <p:ph type="title"/>
          </p:nvPr>
        </p:nvSpPr>
        <p:spPr/>
        <p:txBody>
          <a:bodyPr/>
          <a:lstStyle/>
          <a:p>
            <a:r>
              <a:rPr lang="en-US"/>
              <a:t>Power Management Subsystem</a:t>
            </a:r>
          </a:p>
        </p:txBody>
      </p:sp>
      <p:sp>
        <p:nvSpPr>
          <p:cNvPr id="6" name="Text Placeholder 5">
            <a:extLst>
              <a:ext uri="{FF2B5EF4-FFF2-40B4-BE49-F238E27FC236}">
                <a16:creationId xmlns:a16="http://schemas.microsoft.com/office/drawing/2014/main" id="{917DE4D4-3241-F5DA-B7AB-907C706C2656}"/>
              </a:ext>
            </a:extLst>
          </p:cNvPr>
          <p:cNvSpPr>
            <a:spLocks noGrp="1"/>
          </p:cNvSpPr>
          <p:nvPr>
            <p:ph type="body" idx="1"/>
          </p:nvPr>
        </p:nvSpPr>
        <p:spPr/>
        <p:txBody>
          <a:bodyPr>
            <a:normAutofit/>
          </a:bodyPr>
          <a:lstStyle/>
          <a:p>
            <a:r>
              <a:rPr lang="en-US" sz="3200">
                <a:latin typeface="PT Sans"/>
              </a:rPr>
              <a:t>Functions</a:t>
            </a:r>
            <a:endParaRPr lang="en-US" sz="3200"/>
          </a:p>
        </p:txBody>
      </p:sp>
      <p:sp>
        <p:nvSpPr>
          <p:cNvPr id="3" name="Content Placeholder 2">
            <a:extLst>
              <a:ext uri="{FF2B5EF4-FFF2-40B4-BE49-F238E27FC236}">
                <a16:creationId xmlns:a16="http://schemas.microsoft.com/office/drawing/2014/main" id="{54B7D391-5F28-E528-F68C-9C3903145E06}"/>
              </a:ext>
            </a:extLst>
          </p:cNvPr>
          <p:cNvSpPr>
            <a:spLocks noGrp="1"/>
          </p:cNvSpPr>
          <p:nvPr>
            <p:ph sz="half" idx="2"/>
          </p:nvPr>
        </p:nvSpPr>
        <p:spPr/>
        <p:txBody>
          <a:bodyPr vert="horz" lIns="91440" tIns="45720" rIns="91440" bIns="45720" rtlCol="0" anchor="t">
            <a:normAutofit/>
          </a:bodyPr>
          <a:lstStyle/>
          <a:p>
            <a:r>
              <a:rPr lang="en-US" sz="2400">
                <a:latin typeface="PT Sans"/>
              </a:rPr>
              <a:t>Safely Transfer Power</a:t>
            </a:r>
            <a:endParaRPr lang="en-US"/>
          </a:p>
          <a:p>
            <a:pPr lvl="1">
              <a:buFont typeface="Courier New" panose="020B0604020202020204" pitchFamily="34" charset="0"/>
              <a:buChar char="o"/>
            </a:pPr>
            <a:r>
              <a:rPr lang="en-US" sz="2000">
                <a:latin typeface="PT Sans"/>
              </a:rPr>
              <a:t>Solar Panel --&gt; Battery</a:t>
            </a:r>
            <a:endParaRPr lang="en-US" sz="2000"/>
          </a:p>
          <a:p>
            <a:r>
              <a:rPr lang="en-US" sz="2400">
                <a:latin typeface="PT Sans"/>
              </a:rPr>
              <a:t>Existing Electrical Architecture</a:t>
            </a:r>
            <a:endParaRPr lang="en-US" sz="2400"/>
          </a:p>
          <a:p>
            <a:pPr lvl="1">
              <a:buFont typeface="Courier New" panose="020B0604020202020204" pitchFamily="34" charset="0"/>
              <a:buChar char="o"/>
            </a:pPr>
            <a:r>
              <a:rPr lang="en-US" sz="2000">
                <a:latin typeface="PT Sans"/>
              </a:rPr>
              <a:t>Lights, turn signals, horn</a:t>
            </a:r>
            <a:endParaRPr lang="en-US" sz="2000"/>
          </a:p>
          <a:p>
            <a:pPr lvl="2"/>
            <a:r>
              <a:rPr lang="en-US" sz="1600">
                <a:latin typeface="PT Sans"/>
              </a:rPr>
              <a:t>Remain fully functional</a:t>
            </a:r>
            <a:endParaRPr lang="en-US" sz="1600"/>
          </a:p>
          <a:p>
            <a:r>
              <a:rPr lang="en-US" sz="2400">
                <a:latin typeface="PT Sans"/>
              </a:rPr>
              <a:t>Provide Protection</a:t>
            </a:r>
            <a:endParaRPr lang="en-US" sz="2400"/>
          </a:p>
          <a:p>
            <a:pPr lvl="1">
              <a:buFont typeface="Courier New" panose="020B0604020202020204" pitchFamily="34" charset="0"/>
              <a:buChar char="o"/>
            </a:pPr>
            <a:r>
              <a:rPr lang="en-US" sz="2000">
                <a:latin typeface="PT Sans"/>
              </a:rPr>
              <a:t>Power Surges</a:t>
            </a:r>
            <a:endParaRPr lang="en-US" sz="2000"/>
          </a:p>
          <a:p>
            <a:pPr lvl="1">
              <a:buFont typeface="Courier New" panose="020B0604020202020204" pitchFamily="34" charset="0"/>
              <a:buChar char="o"/>
            </a:pPr>
            <a:r>
              <a:rPr lang="en-US" sz="2000">
                <a:latin typeface="PT Sans"/>
              </a:rPr>
              <a:t>Weather Resistant</a:t>
            </a:r>
            <a:endParaRPr lang="en-US" sz="2000"/>
          </a:p>
          <a:p>
            <a:endParaRPr lang="en-US" sz="2400"/>
          </a:p>
          <a:p>
            <a:endParaRPr lang="en-US" sz="2400"/>
          </a:p>
          <a:p>
            <a:endParaRPr lang="en-US" sz="2400"/>
          </a:p>
          <a:p>
            <a:endParaRPr lang="en-US" sz="2400"/>
          </a:p>
          <a:p>
            <a:endParaRPr lang="en-US" sz="2400"/>
          </a:p>
          <a:p>
            <a:endParaRPr lang="en-US" sz="2400"/>
          </a:p>
          <a:p>
            <a:endParaRPr lang="en-US" sz="2400"/>
          </a:p>
        </p:txBody>
      </p:sp>
      <p:sp>
        <p:nvSpPr>
          <p:cNvPr id="7" name="Text Placeholder 6">
            <a:extLst>
              <a:ext uri="{FF2B5EF4-FFF2-40B4-BE49-F238E27FC236}">
                <a16:creationId xmlns:a16="http://schemas.microsoft.com/office/drawing/2014/main" id="{8021F494-FAA5-0A66-DD17-7713C484AF3D}"/>
              </a:ext>
            </a:extLst>
          </p:cNvPr>
          <p:cNvSpPr>
            <a:spLocks noGrp="1"/>
          </p:cNvSpPr>
          <p:nvPr>
            <p:ph type="body" sz="quarter" idx="3"/>
          </p:nvPr>
        </p:nvSpPr>
        <p:spPr/>
        <p:txBody>
          <a:bodyPr>
            <a:normAutofit/>
          </a:bodyPr>
          <a:lstStyle/>
          <a:p>
            <a:r>
              <a:rPr lang="en-US" sz="3200">
                <a:latin typeface="PT Sans"/>
              </a:rPr>
              <a:t>Compatibility</a:t>
            </a:r>
            <a:endParaRPr lang="en-US" sz="3200"/>
          </a:p>
        </p:txBody>
      </p:sp>
      <p:sp>
        <p:nvSpPr>
          <p:cNvPr id="5" name="Content Placeholder 4">
            <a:extLst>
              <a:ext uri="{FF2B5EF4-FFF2-40B4-BE49-F238E27FC236}">
                <a16:creationId xmlns:a16="http://schemas.microsoft.com/office/drawing/2014/main" id="{12C5E598-20D1-A87F-B54D-673BD5C4AFEB}"/>
              </a:ext>
            </a:extLst>
          </p:cNvPr>
          <p:cNvSpPr>
            <a:spLocks noGrp="1"/>
          </p:cNvSpPr>
          <p:nvPr>
            <p:ph sz="quarter" idx="4"/>
          </p:nvPr>
        </p:nvSpPr>
        <p:spPr/>
        <p:txBody>
          <a:bodyPr vert="horz" lIns="91440" tIns="45720" rIns="91440" bIns="45720" rtlCol="0" anchor="t">
            <a:normAutofit/>
          </a:bodyPr>
          <a:lstStyle/>
          <a:p>
            <a:r>
              <a:rPr lang="en-US" sz="2400">
                <a:latin typeface="PT Sans"/>
              </a:rPr>
              <a:t>Installation Easily Replicated</a:t>
            </a:r>
            <a:endParaRPr lang="en-US"/>
          </a:p>
          <a:p>
            <a:pPr marL="0" indent="0">
              <a:buNone/>
            </a:pPr>
            <a:endParaRPr lang="en-US">
              <a:latin typeface="PT Sans"/>
            </a:endParaRPr>
          </a:p>
          <a:p>
            <a:r>
              <a:rPr lang="en-US" sz="2400">
                <a:latin typeface="PT Sans"/>
              </a:rPr>
              <a:t>Universal</a:t>
            </a:r>
            <a:endParaRPr lang="en-US" sz="2400"/>
          </a:p>
          <a:p>
            <a:pPr lvl="1">
              <a:buFont typeface="Courier New" panose="020B0604020202020204" pitchFamily="34" charset="0"/>
              <a:buChar char="o"/>
            </a:pPr>
            <a:r>
              <a:rPr lang="en-US" sz="2000">
                <a:latin typeface="PT Sans"/>
              </a:rPr>
              <a:t>E-Z-GO</a:t>
            </a:r>
          </a:p>
          <a:p>
            <a:pPr lvl="1">
              <a:buFont typeface="Courier New" panose="020B0604020202020204" pitchFamily="34" charset="0"/>
              <a:buChar char="o"/>
            </a:pPr>
            <a:r>
              <a:rPr lang="en-US" sz="2000">
                <a:latin typeface="PT Sans"/>
              </a:rPr>
              <a:t>Yamaha</a:t>
            </a:r>
          </a:p>
          <a:p>
            <a:pPr lvl="1">
              <a:buFont typeface="Courier New" panose="020B0604020202020204" pitchFamily="34" charset="0"/>
              <a:buChar char="o"/>
            </a:pPr>
            <a:r>
              <a:rPr lang="en-US" sz="2000">
                <a:latin typeface="PT Sans"/>
              </a:rPr>
              <a:t>Club Car</a:t>
            </a:r>
          </a:p>
        </p:txBody>
      </p:sp>
      <p:sp>
        <p:nvSpPr>
          <p:cNvPr id="4" name="Slide Number Placeholder 3">
            <a:extLst>
              <a:ext uri="{FF2B5EF4-FFF2-40B4-BE49-F238E27FC236}">
                <a16:creationId xmlns:a16="http://schemas.microsoft.com/office/drawing/2014/main" id="{FE55CA2E-2CF3-758C-A9B1-FC4C9759E639}"/>
              </a:ext>
            </a:extLst>
          </p:cNvPr>
          <p:cNvSpPr>
            <a:spLocks noGrp="1"/>
          </p:cNvSpPr>
          <p:nvPr>
            <p:ph type="sldNum" sz="quarter" idx="12"/>
          </p:nvPr>
        </p:nvSpPr>
        <p:spPr/>
        <p:txBody>
          <a:bodyPr/>
          <a:lstStyle/>
          <a:p>
            <a:fld id="{4072BC8D-D296-40C7-BB87-C3ACFF7B6C6E}" type="slidenum">
              <a:rPr lang="en-US" smtClean="0"/>
              <a:pPr/>
              <a:t>24</a:t>
            </a:fld>
            <a:endParaRPr lang="en-US"/>
          </a:p>
        </p:txBody>
      </p:sp>
    </p:spTree>
    <p:extLst>
      <p:ext uri="{BB962C8B-B14F-4D97-AF65-F5344CB8AC3E}">
        <p14:creationId xmlns:p14="http://schemas.microsoft.com/office/powerpoint/2010/main" val="39209076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5656-9C3B-C480-AE04-4255214AF8C9}"/>
              </a:ext>
            </a:extLst>
          </p:cNvPr>
          <p:cNvSpPr>
            <a:spLocks noGrp="1"/>
          </p:cNvSpPr>
          <p:nvPr>
            <p:ph type="title"/>
          </p:nvPr>
        </p:nvSpPr>
        <p:spPr/>
        <p:txBody>
          <a:bodyPr/>
          <a:lstStyle/>
          <a:p>
            <a:r>
              <a:rPr lang="en-US">
                <a:latin typeface="PT Sans"/>
              </a:rPr>
              <a:t>Power Management Subsystem</a:t>
            </a:r>
            <a:endParaRPr lang="en-US"/>
          </a:p>
        </p:txBody>
      </p:sp>
      <p:sp>
        <p:nvSpPr>
          <p:cNvPr id="8" name="Text Placeholder 7">
            <a:extLst>
              <a:ext uri="{FF2B5EF4-FFF2-40B4-BE49-F238E27FC236}">
                <a16:creationId xmlns:a16="http://schemas.microsoft.com/office/drawing/2014/main" id="{F32F3C87-38D7-1743-7C57-57CE571B6CB9}"/>
              </a:ext>
            </a:extLst>
          </p:cNvPr>
          <p:cNvSpPr>
            <a:spLocks noGrp="1"/>
          </p:cNvSpPr>
          <p:nvPr>
            <p:ph type="body" idx="1"/>
          </p:nvPr>
        </p:nvSpPr>
        <p:spPr/>
        <p:txBody>
          <a:bodyPr/>
          <a:lstStyle/>
          <a:p>
            <a:r>
              <a:rPr lang="en-US" sz="3200">
                <a:latin typeface="PT Sans"/>
              </a:rPr>
              <a:t>Constraints</a:t>
            </a:r>
            <a:r>
              <a:rPr lang="en-US">
                <a:latin typeface="PT Sans"/>
              </a:rPr>
              <a:t> </a:t>
            </a:r>
          </a:p>
        </p:txBody>
      </p:sp>
      <p:sp>
        <p:nvSpPr>
          <p:cNvPr id="3" name="Content Placeholder 2">
            <a:extLst>
              <a:ext uri="{FF2B5EF4-FFF2-40B4-BE49-F238E27FC236}">
                <a16:creationId xmlns:a16="http://schemas.microsoft.com/office/drawing/2014/main" id="{B9697E9F-5C21-FD1D-8BB1-1481299DD33F}"/>
              </a:ext>
            </a:extLst>
          </p:cNvPr>
          <p:cNvSpPr>
            <a:spLocks noGrp="1"/>
          </p:cNvSpPr>
          <p:nvPr>
            <p:ph sz="half" idx="2"/>
          </p:nvPr>
        </p:nvSpPr>
        <p:spPr/>
        <p:txBody>
          <a:bodyPr vert="horz" lIns="91440" tIns="45720" rIns="91440" bIns="45720" rtlCol="0" anchor="t">
            <a:normAutofit/>
          </a:bodyPr>
          <a:lstStyle/>
          <a:p>
            <a:r>
              <a:rPr lang="en-US" sz="2200">
                <a:latin typeface="PT Sans"/>
              </a:rPr>
              <a:t>Existing Architecture</a:t>
            </a:r>
            <a:endParaRPr lang="en-US">
              <a:latin typeface="PT Sans"/>
            </a:endParaRPr>
          </a:p>
          <a:p>
            <a:pPr lvl="1">
              <a:buFont typeface="Courier New,monospace" panose="020B0604020202020204" pitchFamily="34" charset="0"/>
              <a:buChar char="o"/>
            </a:pPr>
            <a:r>
              <a:rPr lang="en-US" sz="1800"/>
              <a:t>Existing golf car</a:t>
            </a:r>
          </a:p>
          <a:p>
            <a:pPr lvl="1">
              <a:buFont typeface="Courier New,monospace" panose="020B0604020202020204" pitchFamily="34" charset="0"/>
              <a:buChar char="o"/>
            </a:pPr>
            <a:r>
              <a:rPr lang="en-US" sz="1800"/>
              <a:t>Limited space in electrical housing</a:t>
            </a:r>
          </a:p>
          <a:p>
            <a:pPr lvl="2"/>
            <a:r>
              <a:rPr lang="en-US" sz="1400"/>
              <a:t>New battery</a:t>
            </a:r>
          </a:p>
          <a:p>
            <a:pPr lvl="2"/>
            <a:r>
              <a:rPr lang="en-US" sz="1400"/>
              <a:t>Charging unit</a:t>
            </a:r>
          </a:p>
          <a:p>
            <a:r>
              <a:rPr lang="en-US" sz="2200"/>
              <a:t>Battery Change</a:t>
            </a:r>
          </a:p>
          <a:p>
            <a:pPr lvl="1">
              <a:buFont typeface="Courier New,monospace" panose="020B0604020202020204" pitchFamily="34" charset="0"/>
              <a:buChar char="o"/>
            </a:pPr>
            <a:r>
              <a:rPr lang="en-US" sz="1800"/>
              <a:t>Six 8V batteries  --&gt; One 51.2V battery</a:t>
            </a:r>
          </a:p>
          <a:p>
            <a:pPr lvl="2"/>
            <a:r>
              <a:rPr lang="en-US" sz="1400"/>
              <a:t>Fewer connection points</a:t>
            </a:r>
          </a:p>
          <a:p>
            <a:r>
              <a:rPr lang="en-US" sz="2200"/>
              <a:t>Power Generation</a:t>
            </a:r>
          </a:p>
          <a:p>
            <a:pPr lvl="1">
              <a:buFont typeface="Courier New,monospace" panose="020B0604020202020204" pitchFamily="34" charset="0"/>
              <a:buChar char="o"/>
            </a:pPr>
            <a:r>
              <a:rPr lang="en-US" sz="1800"/>
              <a:t>Varying conditions</a:t>
            </a:r>
          </a:p>
          <a:p>
            <a:pPr lvl="1">
              <a:buFont typeface="Courier New,monospace" panose="020B0604020202020204" pitchFamily="34" charset="0"/>
              <a:buChar char="o"/>
            </a:pPr>
            <a:r>
              <a:rPr lang="en-US" sz="1800"/>
              <a:t>Limited space for panel</a:t>
            </a:r>
          </a:p>
          <a:p>
            <a:endParaRPr lang="en-US"/>
          </a:p>
        </p:txBody>
      </p:sp>
      <p:sp>
        <p:nvSpPr>
          <p:cNvPr id="9" name="Text Placeholder 8">
            <a:extLst>
              <a:ext uri="{FF2B5EF4-FFF2-40B4-BE49-F238E27FC236}">
                <a16:creationId xmlns:a16="http://schemas.microsoft.com/office/drawing/2014/main" id="{B3BFDCCF-96E6-D21E-FF73-3542570B795C}"/>
              </a:ext>
            </a:extLst>
          </p:cNvPr>
          <p:cNvSpPr>
            <a:spLocks noGrp="1"/>
          </p:cNvSpPr>
          <p:nvPr>
            <p:ph type="body" sz="quarter" idx="3"/>
          </p:nvPr>
        </p:nvSpPr>
        <p:spPr/>
        <p:txBody>
          <a:bodyPr>
            <a:normAutofit/>
          </a:bodyPr>
          <a:lstStyle/>
          <a:p>
            <a:r>
              <a:rPr lang="en-US" sz="3200">
                <a:latin typeface="PT Sans"/>
              </a:rPr>
              <a:t>Overview of Solutions</a:t>
            </a:r>
          </a:p>
        </p:txBody>
      </p:sp>
      <p:sp>
        <p:nvSpPr>
          <p:cNvPr id="5" name="Content Placeholder 4">
            <a:extLst>
              <a:ext uri="{FF2B5EF4-FFF2-40B4-BE49-F238E27FC236}">
                <a16:creationId xmlns:a16="http://schemas.microsoft.com/office/drawing/2014/main" id="{FC00E2AA-DA85-FDB6-A254-4346DF12B788}"/>
              </a:ext>
            </a:extLst>
          </p:cNvPr>
          <p:cNvSpPr>
            <a:spLocks noGrp="1"/>
          </p:cNvSpPr>
          <p:nvPr>
            <p:ph sz="quarter" idx="4"/>
          </p:nvPr>
        </p:nvSpPr>
        <p:spPr>
          <a:xfrm>
            <a:off x="6129271" y="2505075"/>
            <a:ext cx="5226117" cy="3298222"/>
          </a:xfrm>
        </p:spPr>
        <p:txBody>
          <a:bodyPr vert="horz" lIns="91440" tIns="45720" rIns="91440" bIns="45720" rtlCol="0" anchor="t">
            <a:normAutofit/>
          </a:bodyPr>
          <a:lstStyle/>
          <a:p>
            <a:r>
              <a:rPr lang="en-US" sz="2200">
                <a:latin typeface="PT Sans"/>
              </a:rPr>
              <a:t>Plastic Housing</a:t>
            </a:r>
            <a:endParaRPr lang="en-US"/>
          </a:p>
          <a:p>
            <a:pPr lvl="1">
              <a:buFont typeface="Courier New" panose="020B0604020202020204" pitchFamily="34" charset="0"/>
              <a:buChar char="o"/>
            </a:pPr>
            <a:r>
              <a:rPr lang="en-US" sz="1800">
                <a:latin typeface="PT Sans"/>
              </a:rPr>
              <a:t>Shaped to fit</a:t>
            </a:r>
          </a:p>
          <a:p>
            <a:pPr lvl="1">
              <a:buFont typeface="Courier New" panose="020B0604020202020204" pitchFamily="34" charset="0"/>
              <a:buChar char="o"/>
            </a:pPr>
            <a:r>
              <a:rPr lang="en-US" sz="1800">
                <a:latin typeface="PT Sans"/>
              </a:rPr>
              <a:t>Increased structural stability</a:t>
            </a:r>
          </a:p>
          <a:p>
            <a:endParaRPr lang="en-US" sz="2200">
              <a:latin typeface="PT Sans"/>
            </a:endParaRPr>
          </a:p>
          <a:p>
            <a:r>
              <a:rPr lang="en-US" sz="2200">
                <a:latin typeface="PT Sans"/>
              </a:rPr>
              <a:t>Fuses Implemented Throughout</a:t>
            </a:r>
          </a:p>
          <a:p>
            <a:pPr lvl="1">
              <a:buFont typeface="Courier New" panose="020B0604020202020204" pitchFamily="34" charset="0"/>
              <a:buChar char="o"/>
            </a:pPr>
            <a:r>
              <a:rPr lang="en-US" sz="1800">
                <a:latin typeface="PT Sans"/>
              </a:rPr>
              <a:t>Overcurrent</a:t>
            </a:r>
          </a:p>
          <a:p>
            <a:endParaRPr lang="en-US" sz="1800">
              <a:latin typeface="PT Sans"/>
            </a:endParaRPr>
          </a:p>
          <a:p>
            <a:r>
              <a:rPr lang="en-US" sz="2200">
                <a:latin typeface="PT Sans"/>
              </a:rPr>
              <a:t>MPPT Controller</a:t>
            </a:r>
            <a:endParaRPr lang="en-US" sz="1800">
              <a:latin typeface="PT Sans"/>
            </a:endParaRPr>
          </a:p>
          <a:p>
            <a:pPr lvl="1">
              <a:buFont typeface="Courier New" panose="020B0604020202020204" pitchFamily="34" charset="0"/>
              <a:buChar char="o"/>
            </a:pPr>
            <a:r>
              <a:rPr lang="en-US" sz="1800">
                <a:latin typeface="PT Sans"/>
              </a:rPr>
              <a:t>Increase efficiency</a:t>
            </a:r>
          </a:p>
        </p:txBody>
      </p:sp>
      <p:sp>
        <p:nvSpPr>
          <p:cNvPr id="4" name="Slide Number Placeholder 3">
            <a:extLst>
              <a:ext uri="{FF2B5EF4-FFF2-40B4-BE49-F238E27FC236}">
                <a16:creationId xmlns:a16="http://schemas.microsoft.com/office/drawing/2014/main" id="{9F690CC5-8383-BC95-FD54-57912B6F078F}"/>
              </a:ext>
            </a:extLst>
          </p:cNvPr>
          <p:cNvSpPr>
            <a:spLocks noGrp="1"/>
          </p:cNvSpPr>
          <p:nvPr>
            <p:ph type="sldNum" sz="quarter" idx="12"/>
          </p:nvPr>
        </p:nvSpPr>
        <p:spPr/>
        <p:txBody>
          <a:bodyPr/>
          <a:lstStyle/>
          <a:p>
            <a:fld id="{4072BC8D-D296-40C7-BB87-C3ACFF7B6C6E}" type="slidenum">
              <a:rPr lang="en-US" smtClean="0"/>
              <a:pPr/>
              <a:t>25</a:t>
            </a:fld>
            <a:endParaRPr lang="en-US"/>
          </a:p>
        </p:txBody>
      </p:sp>
    </p:spTree>
    <p:extLst>
      <p:ext uri="{BB962C8B-B14F-4D97-AF65-F5344CB8AC3E}">
        <p14:creationId xmlns:p14="http://schemas.microsoft.com/office/powerpoint/2010/main" val="1760162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66262-FBB8-0C39-4002-FE6154042A28}"/>
              </a:ext>
            </a:extLst>
          </p:cNvPr>
          <p:cNvSpPr>
            <a:spLocks noGrp="1"/>
          </p:cNvSpPr>
          <p:nvPr>
            <p:ph type="title"/>
          </p:nvPr>
        </p:nvSpPr>
        <p:spPr/>
        <p:txBody>
          <a:bodyPr/>
          <a:lstStyle/>
          <a:p>
            <a:r>
              <a:rPr lang="en-US">
                <a:latin typeface="PT Sans"/>
              </a:rPr>
              <a:t>Solar Energy Subsystem</a:t>
            </a:r>
            <a:endParaRPr lang="en-US"/>
          </a:p>
        </p:txBody>
      </p:sp>
      <p:sp>
        <p:nvSpPr>
          <p:cNvPr id="4" name="Content Placeholder 3">
            <a:extLst>
              <a:ext uri="{FF2B5EF4-FFF2-40B4-BE49-F238E27FC236}">
                <a16:creationId xmlns:a16="http://schemas.microsoft.com/office/drawing/2014/main" id="{B6DCD490-9FDA-1361-0593-294D7FFBA8BE}"/>
              </a:ext>
            </a:extLst>
          </p:cNvPr>
          <p:cNvSpPr>
            <a:spLocks noGrp="1"/>
          </p:cNvSpPr>
          <p:nvPr>
            <p:ph sz="half" idx="1"/>
          </p:nvPr>
        </p:nvSpPr>
        <p:spPr/>
        <p:txBody>
          <a:bodyPr vert="horz" lIns="91440" tIns="45720" rIns="91440" bIns="45720" rtlCol="0" anchor="t">
            <a:normAutofit/>
          </a:bodyPr>
          <a:lstStyle/>
          <a:p>
            <a:r>
              <a:rPr lang="en-US">
                <a:highlight>
                  <a:srgbClr val="FFFFFF"/>
                </a:highlight>
                <a:latin typeface="PT Sans"/>
              </a:rPr>
              <a:t>Function</a:t>
            </a:r>
            <a:endParaRPr lang="en-US">
              <a:latin typeface="PT Sans"/>
            </a:endParaRPr>
          </a:p>
          <a:p>
            <a:pPr lvl="1">
              <a:buFont typeface="Courier New,monospace" panose="020B0604020202020204" pitchFamily="34" charset="0"/>
              <a:buChar char="o"/>
            </a:pPr>
            <a:r>
              <a:rPr lang="en-US">
                <a:highlight>
                  <a:srgbClr val="FFFFFF"/>
                </a:highlight>
                <a:latin typeface="PT Sans"/>
              </a:rPr>
              <a:t>Supply energy</a:t>
            </a:r>
            <a:endParaRPr lang="en-US">
              <a:latin typeface="PT Sans"/>
            </a:endParaRPr>
          </a:p>
          <a:p>
            <a:pPr lvl="2"/>
            <a:r>
              <a:rPr lang="en-US">
                <a:highlight>
                  <a:srgbClr val="FFFFFF"/>
                </a:highlight>
                <a:latin typeface="PT Sans"/>
              </a:rPr>
              <a:t>Solar to electrical energy</a:t>
            </a:r>
            <a:endParaRPr lang="en-US">
              <a:latin typeface="PT Sans"/>
            </a:endParaRPr>
          </a:p>
          <a:p>
            <a:pPr lvl="1">
              <a:buFont typeface="Courier New,monospace" panose="020B0604020202020204" pitchFamily="34" charset="0"/>
              <a:buChar char="o"/>
            </a:pPr>
            <a:r>
              <a:rPr lang="en-US">
                <a:highlight>
                  <a:srgbClr val="FFFFFF"/>
                </a:highlight>
                <a:latin typeface="PT Sans"/>
              </a:rPr>
              <a:t>Supply covering</a:t>
            </a:r>
            <a:endParaRPr lang="en-US">
              <a:latin typeface="PT Sans"/>
            </a:endParaRPr>
          </a:p>
          <a:p>
            <a:pPr lvl="2"/>
            <a:r>
              <a:rPr lang="en-US">
                <a:highlight>
                  <a:srgbClr val="FFFFFF"/>
                </a:highlight>
                <a:latin typeface="PT Sans"/>
              </a:rPr>
              <a:t>Acts in place of a roof</a:t>
            </a:r>
            <a:endParaRPr lang="en-US">
              <a:latin typeface="PT Sans"/>
            </a:endParaRPr>
          </a:p>
          <a:p>
            <a:endParaRPr lang="en-US">
              <a:latin typeface="PT Sans"/>
            </a:endParaRPr>
          </a:p>
        </p:txBody>
      </p:sp>
      <p:sp>
        <p:nvSpPr>
          <p:cNvPr id="6" name="Content Placeholder 5">
            <a:extLst>
              <a:ext uri="{FF2B5EF4-FFF2-40B4-BE49-F238E27FC236}">
                <a16:creationId xmlns:a16="http://schemas.microsoft.com/office/drawing/2014/main" id="{7B188A5F-C01B-DF93-8D21-A945E6A2B4EA}"/>
              </a:ext>
            </a:extLst>
          </p:cNvPr>
          <p:cNvSpPr>
            <a:spLocks noGrp="1"/>
          </p:cNvSpPr>
          <p:nvPr>
            <p:ph sz="half" idx="2"/>
          </p:nvPr>
        </p:nvSpPr>
        <p:spPr/>
        <p:txBody>
          <a:bodyPr vert="horz" lIns="91440" tIns="45720" rIns="91440" bIns="45720" rtlCol="0" anchor="t">
            <a:normAutofit/>
          </a:bodyPr>
          <a:lstStyle/>
          <a:p>
            <a:r>
              <a:rPr lang="en-US">
                <a:solidFill>
                  <a:srgbClr val="000000"/>
                </a:solidFill>
                <a:highlight>
                  <a:srgbClr val="FFFFFF"/>
                </a:highlight>
                <a:latin typeface="PT Sans"/>
              </a:rPr>
              <a:t>Constraints</a:t>
            </a:r>
          </a:p>
          <a:p>
            <a:pPr lvl="1">
              <a:buFont typeface="Courier New,monospace" panose="020B0604020202020204" pitchFamily="34" charset="0"/>
              <a:buChar char="o"/>
            </a:pPr>
            <a:r>
              <a:rPr lang="en-US">
                <a:solidFill>
                  <a:srgbClr val="000000"/>
                </a:solidFill>
                <a:highlight>
                  <a:srgbClr val="FFFFFF"/>
                </a:highlight>
                <a:latin typeface="PT Sans"/>
              </a:rPr>
              <a:t>Panel frame</a:t>
            </a:r>
          </a:p>
          <a:p>
            <a:pPr lvl="2"/>
            <a:r>
              <a:rPr lang="en-US">
                <a:solidFill>
                  <a:srgbClr val="000000"/>
                </a:solidFill>
                <a:highlight>
                  <a:srgbClr val="FFFFFF"/>
                </a:highlight>
                <a:latin typeface="PT Sans"/>
              </a:rPr>
              <a:t>Does not fit frame</a:t>
            </a:r>
          </a:p>
          <a:p>
            <a:pPr lvl="1">
              <a:buFont typeface="Courier New,monospace" panose="020B0604020202020204" pitchFamily="34" charset="0"/>
              <a:buChar char="o"/>
            </a:pPr>
            <a:r>
              <a:rPr lang="en-US">
                <a:solidFill>
                  <a:srgbClr val="000000"/>
                </a:solidFill>
                <a:highlight>
                  <a:srgbClr val="FFFFFF"/>
                </a:highlight>
                <a:latin typeface="PT Sans"/>
              </a:rPr>
              <a:t>Panel wiring</a:t>
            </a:r>
          </a:p>
          <a:p>
            <a:pPr lvl="2"/>
            <a:r>
              <a:rPr lang="en-US">
                <a:solidFill>
                  <a:srgbClr val="000000"/>
                </a:solidFill>
                <a:highlight>
                  <a:srgbClr val="FFFFFF"/>
                </a:highlight>
                <a:latin typeface="PT Sans"/>
              </a:rPr>
              <a:t>No direct path</a:t>
            </a:r>
            <a:endParaRPr lang="en-US">
              <a:solidFill>
                <a:srgbClr val="000000"/>
              </a:solidFill>
              <a:highlight>
                <a:srgbClr val="FFFFFF"/>
              </a:highlight>
            </a:endParaRPr>
          </a:p>
        </p:txBody>
      </p:sp>
      <p:sp>
        <p:nvSpPr>
          <p:cNvPr id="7" name="Slide Number Placeholder 6">
            <a:extLst>
              <a:ext uri="{FF2B5EF4-FFF2-40B4-BE49-F238E27FC236}">
                <a16:creationId xmlns:a16="http://schemas.microsoft.com/office/drawing/2014/main" id="{CF1EB6E8-1604-79D1-30CF-07223D3789CD}"/>
              </a:ext>
            </a:extLst>
          </p:cNvPr>
          <p:cNvSpPr>
            <a:spLocks noGrp="1"/>
          </p:cNvSpPr>
          <p:nvPr>
            <p:ph type="sldNum" sz="quarter" idx="12"/>
          </p:nvPr>
        </p:nvSpPr>
        <p:spPr/>
        <p:txBody>
          <a:bodyPr/>
          <a:lstStyle/>
          <a:p>
            <a:fld id="{4072BC8D-D296-40C7-BB87-C3ACFF7B6C6E}" type="slidenum">
              <a:rPr lang="en-US" smtClean="0"/>
              <a:pPr/>
              <a:t>26</a:t>
            </a:fld>
            <a:endParaRPr lang="en-US"/>
          </a:p>
        </p:txBody>
      </p:sp>
    </p:spTree>
    <p:extLst>
      <p:ext uri="{BB962C8B-B14F-4D97-AF65-F5344CB8AC3E}">
        <p14:creationId xmlns:p14="http://schemas.microsoft.com/office/powerpoint/2010/main" val="27644673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BF08E-CBC1-AF1D-23E7-766AF3279984}"/>
              </a:ext>
            </a:extLst>
          </p:cNvPr>
          <p:cNvSpPr>
            <a:spLocks noGrp="1"/>
          </p:cNvSpPr>
          <p:nvPr>
            <p:ph type="title"/>
          </p:nvPr>
        </p:nvSpPr>
        <p:spPr/>
        <p:txBody>
          <a:bodyPr/>
          <a:lstStyle/>
          <a:p>
            <a:r>
              <a:rPr lang="en-US">
                <a:latin typeface="PT Sans"/>
              </a:rPr>
              <a:t>Solar Energy Subsystem</a:t>
            </a:r>
            <a:endParaRPr lang="en-US" err="1"/>
          </a:p>
        </p:txBody>
      </p:sp>
      <p:sp>
        <p:nvSpPr>
          <p:cNvPr id="3" name="Content Placeholder 2">
            <a:extLst>
              <a:ext uri="{FF2B5EF4-FFF2-40B4-BE49-F238E27FC236}">
                <a16:creationId xmlns:a16="http://schemas.microsoft.com/office/drawing/2014/main" id="{0A04F4E3-FEEC-0604-0D05-78280D57EEE6}"/>
              </a:ext>
            </a:extLst>
          </p:cNvPr>
          <p:cNvSpPr>
            <a:spLocks noGrp="1"/>
          </p:cNvSpPr>
          <p:nvPr>
            <p:ph sz="half" idx="1"/>
          </p:nvPr>
        </p:nvSpPr>
        <p:spPr>
          <a:xfrm>
            <a:off x="838200" y="1314147"/>
            <a:ext cx="5014585" cy="4862816"/>
          </a:xfrm>
        </p:spPr>
        <p:txBody>
          <a:bodyPr vert="horz" lIns="91440" tIns="45720" rIns="91440" bIns="45720" rtlCol="0" anchor="t">
            <a:normAutofit/>
          </a:bodyPr>
          <a:lstStyle/>
          <a:p>
            <a:pPr marL="0" indent="0">
              <a:buNone/>
            </a:pPr>
            <a:endParaRPr lang="en-US"/>
          </a:p>
          <a:p>
            <a:r>
              <a:rPr lang="en-US">
                <a:solidFill>
                  <a:srgbClr val="1F2328"/>
                </a:solidFill>
                <a:highlight>
                  <a:srgbClr val="FFFFFF"/>
                </a:highlight>
                <a:latin typeface="PT Sans"/>
              </a:rPr>
              <a:t>Interface with OtherSubsystems</a:t>
            </a:r>
            <a:endParaRPr lang="en-US">
              <a:latin typeface="PT Sans"/>
            </a:endParaRPr>
          </a:p>
          <a:p>
            <a:pPr lvl="1">
              <a:buFont typeface="Courier New,monospace" panose="020B0604020202020204" pitchFamily="34" charset="0"/>
              <a:buChar char="o"/>
            </a:pPr>
            <a:r>
              <a:rPr lang="en-US"/>
              <a:t>Panel to structure frame</a:t>
            </a:r>
          </a:p>
          <a:p>
            <a:pPr lvl="1">
              <a:buFont typeface="Courier New,monospace" panose="020B0604020202020204" pitchFamily="34" charset="0"/>
              <a:buChar char="o"/>
            </a:pPr>
            <a:r>
              <a:rPr lang="en-US"/>
              <a:t>Panel wiring to battery</a:t>
            </a:r>
          </a:p>
        </p:txBody>
      </p:sp>
      <p:sp>
        <p:nvSpPr>
          <p:cNvPr id="4" name="Content Placeholder 3">
            <a:extLst>
              <a:ext uri="{FF2B5EF4-FFF2-40B4-BE49-F238E27FC236}">
                <a16:creationId xmlns:a16="http://schemas.microsoft.com/office/drawing/2014/main" id="{BD7360A2-4541-0AF2-AE20-E0A6E7180FD9}"/>
              </a:ext>
            </a:extLst>
          </p:cNvPr>
          <p:cNvSpPr>
            <a:spLocks noGrp="1"/>
          </p:cNvSpPr>
          <p:nvPr>
            <p:ph sz="half" idx="2"/>
          </p:nvPr>
        </p:nvSpPr>
        <p:spPr/>
        <p:txBody>
          <a:bodyPr vert="horz" lIns="91440" tIns="45720" rIns="91440" bIns="45720" rtlCol="0" anchor="t">
            <a:normAutofit/>
          </a:bodyPr>
          <a:lstStyle/>
          <a:p>
            <a:r>
              <a:rPr lang="en-US">
                <a:latin typeface="PT Sans"/>
              </a:rPr>
              <a:t>Summer Tasks</a:t>
            </a:r>
          </a:p>
          <a:p>
            <a:pPr lvl="1"/>
            <a:r>
              <a:rPr lang="en-US">
                <a:solidFill>
                  <a:srgbClr val="1F2328"/>
                </a:solidFill>
                <a:highlight>
                  <a:srgbClr val="FFFFFF"/>
                </a:highlight>
                <a:latin typeface="PT Sans"/>
              </a:rPr>
              <a:t>3D Model of Custom Mechanical Components</a:t>
            </a:r>
            <a:endParaRPr lang="en-US">
              <a:latin typeface="PT Sans"/>
            </a:endParaRPr>
          </a:p>
          <a:p>
            <a:pPr lvl="1"/>
            <a:r>
              <a:rPr lang="en-US">
                <a:solidFill>
                  <a:srgbClr val="1F2328"/>
                </a:solidFill>
                <a:highlight>
                  <a:srgbClr val="FFFFFF"/>
                </a:highlight>
                <a:latin typeface="PT Sans"/>
              </a:rPr>
              <a:t>Buildable Schematic</a:t>
            </a:r>
          </a:p>
          <a:p>
            <a:pPr lvl="1"/>
            <a:r>
              <a:rPr lang="en-US">
                <a:solidFill>
                  <a:srgbClr val="1F2328"/>
                </a:solidFill>
                <a:highlight>
                  <a:srgbClr val="FFFFFF"/>
                </a:highlight>
                <a:latin typeface="PT Sans"/>
              </a:rPr>
              <a:t>Flowchart</a:t>
            </a:r>
          </a:p>
          <a:p>
            <a:pPr lvl="1"/>
            <a:endParaRPr lang="en-US" b="1">
              <a:solidFill>
                <a:srgbClr val="1F2328"/>
              </a:solidFill>
              <a:highlight>
                <a:srgbClr val="FFFFFF"/>
              </a:highlight>
            </a:endParaRPr>
          </a:p>
        </p:txBody>
      </p:sp>
      <p:sp>
        <p:nvSpPr>
          <p:cNvPr id="5" name="Slide Number Placeholder 4">
            <a:extLst>
              <a:ext uri="{FF2B5EF4-FFF2-40B4-BE49-F238E27FC236}">
                <a16:creationId xmlns:a16="http://schemas.microsoft.com/office/drawing/2014/main" id="{32365F6C-F5EA-8E20-5B81-9C13BAFE9D86}"/>
              </a:ext>
            </a:extLst>
          </p:cNvPr>
          <p:cNvSpPr>
            <a:spLocks noGrp="1"/>
          </p:cNvSpPr>
          <p:nvPr>
            <p:ph type="sldNum" sz="quarter" idx="12"/>
          </p:nvPr>
        </p:nvSpPr>
        <p:spPr/>
        <p:txBody>
          <a:bodyPr/>
          <a:lstStyle/>
          <a:p>
            <a:fld id="{4072BC8D-D296-40C7-BB87-C3ACFF7B6C6E}" type="slidenum">
              <a:rPr lang="en-US" smtClean="0"/>
              <a:pPr/>
              <a:t>27</a:t>
            </a:fld>
            <a:endParaRPr lang="en-US"/>
          </a:p>
        </p:txBody>
      </p:sp>
    </p:spTree>
    <p:extLst>
      <p:ext uri="{BB962C8B-B14F-4D97-AF65-F5344CB8AC3E}">
        <p14:creationId xmlns:p14="http://schemas.microsoft.com/office/powerpoint/2010/main" val="1700295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5830D-E05A-4693-B6F6-AC960FFB21B7}"/>
              </a:ext>
            </a:extLst>
          </p:cNvPr>
          <p:cNvSpPr>
            <a:spLocks noGrp="1"/>
          </p:cNvSpPr>
          <p:nvPr>
            <p:ph type="title"/>
          </p:nvPr>
        </p:nvSpPr>
        <p:spPr/>
        <p:txBody>
          <a:bodyPr/>
          <a:lstStyle/>
          <a:p>
            <a:r>
              <a:rPr lang="en-US"/>
              <a:t>Statement of Contributions</a:t>
            </a:r>
          </a:p>
        </p:txBody>
      </p:sp>
      <p:sp>
        <p:nvSpPr>
          <p:cNvPr id="3" name="Content Placeholder 2">
            <a:extLst>
              <a:ext uri="{FF2B5EF4-FFF2-40B4-BE49-F238E27FC236}">
                <a16:creationId xmlns:a16="http://schemas.microsoft.com/office/drawing/2014/main" id="{CBB08CD6-772C-42CA-8064-637D47DE7829}"/>
              </a:ext>
            </a:extLst>
          </p:cNvPr>
          <p:cNvSpPr>
            <a:spLocks noGrp="1"/>
          </p:cNvSpPr>
          <p:nvPr>
            <p:ph idx="1"/>
          </p:nvPr>
        </p:nvSpPr>
        <p:spPr>
          <a:xfrm>
            <a:off x="838200" y="1825625"/>
            <a:ext cx="10515600" cy="4771436"/>
          </a:xfrm>
        </p:spPr>
        <p:txBody>
          <a:bodyPr vert="horz" lIns="91440" tIns="45720" rIns="91440" bIns="45720" rtlCol="0" anchor="t">
            <a:normAutofit fontScale="85000" lnSpcReduction="20000"/>
          </a:bodyPr>
          <a:lstStyle/>
          <a:p>
            <a:r>
              <a:rPr lang="en-US" sz="2600"/>
              <a:t>Alec Snodgrass</a:t>
            </a:r>
          </a:p>
          <a:p>
            <a:pPr lvl="1">
              <a:buFont typeface="Courier New" panose="02070309020205020404" pitchFamily="49" charset="0"/>
              <a:buChar char="o"/>
            </a:pPr>
            <a:r>
              <a:rPr lang="en-US" sz="2200"/>
              <a:t>Stakeholders</a:t>
            </a:r>
          </a:p>
          <a:p>
            <a:pPr lvl="1">
              <a:buFont typeface="Courier New" panose="02070309020205020404" pitchFamily="49" charset="0"/>
              <a:buChar char="o"/>
            </a:pPr>
            <a:r>
              <a:rPr lang="en-US" sz="2200"/>
              <a:t>Problem Formulation</a:t>
            </a:r>
          </a:p>
          <a:p>
            <a:pPr lvl="1">
              <a:buFont typeface="Courier New" panose="02070309020205020404" pitchFamily="49" charset="0"/>
              <a:buChar char="o"/>
            </a:pPr>
            <a:r>
              <a:rPr lang="en-US" sz="2200"/>
              <a:t>Solution Operation</a:t>
            </a:r>
          </a:p>
          <a:p>
            <a:r>
              <a:rPr lang="en-US" sz="2600">
                <a:latin typeface="PT Sans"/>
              </a:rPr>
              <a:t>George </a:t>
            </a:r>
            <a:r>
              <a:rPr lang="en-US" sz="2600" err="1">
                <a:latin typeface="PT Sans"/>
              </a:rPr>
              <a:t>Vaporis</a:t>
            </a:r>
            <a:r>
              <a:rPr lang="en-US" sz="2600">
                <a:latin typeface="PT Sans"/>
              </a:rPr>
              <a:t>       </a:t>
            </a:r>
          </a:p>
          <a:p>
            <a:pPr lvl="1">
              <a:buFont typeface="Courier New" panose="02070309020205020404" pitchFamily="49" charset="0"/>
              <a:buChar char="o"/>
            </a:pPr>
            <a:r>
              <a:rPr lang="en-US" sz="2200">
                <a:latin typeface="PT Sans"/>
              </a:rPr>
              <a:t>Broader Impacts</a:t>
            </a:r>
          </a:p>
          <a:p>
            <a:pPr lvl="1">
              <a:buFont typeface="Courier New" panose="02070309020205020404" pitchFamily="49" charset="0"/>
              <a:buChar char="o"/>
            </a:pPr>
            <a:r>
              <a:rPr lang="en-US" sz="2200">
                <a:latin typeface="PT Sans"/>
              </a:rPr>
              <a:t>Power Management Subsystem</a:t>
            </a:r>
          </a:p>
          <a:p>
            <a:r>
              <a:rPr lang="en-US" sz="2600">
                <a:latin typeface="PT Sans"/>
              </a:rPr>
              <a:t>Landon Paul</a:t>
            </a:r>
          </a:p>
          <a:p>
            <a:pPr lvl="1">
              <a:buFont typeface="Courier New" panose="02070309020205020404" pitchFamily="49" charset="0"/>
              <a:buChar char="o"/>
            </a:pPr>
            <a:r>
              <a:rPr lang="en-US" sz="2200">
                <a:latin typeface="PT Sans"/>
              </a:rPr>
              <a:t>Background</a:t>
            </a:r>
          </a:p>
          <a:p>
            <a:pPr lvl="1">
              <a:buFont typeface="Courier New" panose="02070309020205020404" pitchFamily="49" charset="0"/>
              <a:buChar char="o"/>
            </a:pPr>
            <a:r>
              <a:rPr lang="en-US" sz="2200">
                <a:latin typeface="PT Sans"/>
              </a:rPr>
              <a:t>Battery Installation</a:t>
            </a:r>
          </a:p>
          <a:p>
            <a:r>
              <a:rPr lang="en-US" sz="2600">
                <a:latin typeface="PT Sans"/>
              </a:rPr>
              <a:t>Nathan Galloway</a:t>
            </a:r>
          </a:p>
          <a:p>
            <a:pPr lvl="1">
              <a:buFont typeface="Courier New" panose="02070309020205020404" pitchFamily="49" charset="0"/>
              <a:buChar char="o"/>
            </a:pPr>
            <a:r>
              <a:rPr lang="en-US" sz="2200">
                <a:latin typeface="PT Sans"/>
              </a:rPr>
              <a:t>Existing Solutions</a:t>
            </a:r>
          </a:p>
          <a:p>
            <a:pPr lvl="1">
              <a:buFont typeface="Courier New" panose="02070309020205020404" pitchFamily="49" charset="0"/>
              <a:buChar char="o"/>
            </a:pPr>
            <a:r>
              <a:rPr lang="en-US" sz="2200">
                <a:latin typeface="PT Sans"/>
              </a:rPr>
              <a:t>Solar energy Subsystem</a:t>
            </a:r>
          </a:p>
          <a:p>
            <a:r>
              <a:rPr lang="en-US" sz="2600">
                <a:latin typeface="PT Sans"/>
              </a:rPr>
              <a:t>Parker Branson </a:t>
            </a:r>
          </a:p>
          <a:p>
            <a:pPr lvl="1">
              <a:buFont typeface="Courier New" panose="02070309020205020404" pitchFamily="49" charset="0"/>
              <a:buChar char="o"/>
            </a:pPr>
            <a:r>
              <a:rPr lang="en-US" sz="2200">
                <a:latin typeface="PT Sans"/>
              </a:rPr>
              <a:t>Standards and Regulations </a:t>
            </a:r>
          </a:p>
          <a:p>
            <a:pPr lvl="1">
              <a:buFont typeface="Courier New" panose="02070309020205020404" pitchFamily="49" charset="0"/>
              <a:buChar char="o"/>
            </a:pPr>
            <a:r>
              <a:rPr lang="en-US" sz="2200">
                <a:latin typeface="PT Sans"/>
              </a:rPr>
              <a:t>Pre-conversion Golf Car Preparation </a:t>
            </a:r>
          </a:p>
          <a:p>
            <a:pPr lvl="2"/>
            <a:endParaRPr lang="en-US">
              <a:latin typeface="PT Sans"/>
            </a:endParaRPr>
          </a:p>
          <a:p>
            <a:pPr lvl="1">
              <a:buFont typeface="Courier New" panose="02070309020205020404" pitchFamily="49" charset="0"/>
              <a:buChar char="o"/>
            </a:pPr>
            <a:endParaRPr lang="en-US" sz="2000">
              <a:latin typeface="PT Sans"/>
            </a:endParaRPr>
          </a:p>
          <a:p>
            <a:pPr lvl="1"/>
            <a:endParaRPr lang="en-US">
              <a:latin typeface="PT Sans"/>
            </a:endParaRPr>
          </a:p>
        </p:txBody>
      </p:sp>
      <p:sp>
        <p:nvSpPr>
          <p:cNvPr id="4" name="Slide Number Placeholder 3">
            <a:extLst>
              <a:ext uri="{FF2B5EF4-FFF2-40B4-BE49-F238E27FC236}">
                <a16:creationId xmlns:a16="http://schemas.microsoft.com/office/drawing/2014/main" id="{4E828ED0-946A-462B-BD69-9A86C93F55C2}"/>
              </a:ext>
            </a:extLst>
          </p:cNvPr>
          <p:cNvSpPr>
            <a:spLocks noGrp="1"/>
          </p:cNvSpPr>
          <p:nvPr>
            <p:ph type="sldNum" sz="quarter" idx="12"/>
          </p:nvPr>
        </p:nvSpPr>
        <p:spPr/>
        <p:txBody>
          <a:bodyPr/>
          <a:lstStyle/>
          <a:p>
            <a:fld id="{4072BC8D-D296-40C7-BB87-C3ACFF7B6C6E}" type="slidenum">
              <a:rPr lang="en-US" smtClean="0"/>
              <a:pPr/>
              <a:t>28</a:t>
            </a:fld>
            <a:endParaRPr lang="en-US"/>
          </a:p>
        </p:txBody>
      </p:sp>
    </p:spTree>
    <p:extLst>
      <p:ext uri="{BB962C8B-B14F-4D97-AF65-F5344CB8AC3E}">
        <p14:creationId xmlns:p14="http://schemas.microsoft.com/office/powerpoint/2010/main" val="2848255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FDE8AA5453C843BB79289872E42DF1" ma:contentTypeVersion="6" ma:contentTypeDescription="Create a new document." ma:contentTypeScope="" ma:versionID="6a4544915a46b705d14860dcdaa96c30">
  <xsd:schema xmlns:xsd="http://www.w3.org/2001/XMLSchema" xmlns:xs="http://www.w3.org/2001/XMLSchema" xmlns:p="http://schemas.microsoft.com/office/2006/metadata/properties" xmlns:ns3="b964a3c2-eaa6-4dcb-80af-fdb8b8d62d68" targetNamespace="http://schemas.microsoft.com/office/2006/metadata/properties" ma:root="true" ma:fieldsID="7125578d4a1483fcbb6af1dc303af24f" ns3:_="">
    <xsd:import namespace="b964a3c2-eaa6-4dcb-80af-fdb8b8d62d68"/>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964a3c2-eaa6-4dcb-80af-fdb8b8d62d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b964a3c2-eaa6-4dcb-80af-fdb8b8d62d68" xsi:nil="true"/>
  </documentManagement>
</p:properties>
</file>

<file path=customXml/itemProps1.xml><?xml version="1.0" encoding="utf-8"?>
<ds:datastoreItem xmlns:ds="http://schemas.openxmlformats.org/officeDocument/2006/customXml" ds:itemID="{83F532B0-F25A-4E2F-B3F4-570FBDAA1A96}">
  <ds:schemaRefs>
    <ds:schemaRef ds:uri="b964a3c2-eaa6-4dcb-80af-fdb8b8d62d6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A5EF2CC-503B-4FC8-AA5C-A70788433C58}">
  <ds:schemaRefs>
    <ds:schemaRef ds:uri="http://schemas.microsoft.com/sharepoint/v3/contenttype/forms"/>
  </ds:schemaRefs>
</ds:datastoreItem>
</file>

<file path=customXml/itemProps3.xml><?xml version="1.0" encoding="utf-8"?>
<ds:datastoreItem xmlns:ds="http://schemas.openxmlformats.org/officeDocument/2006/customXml" ds:itemID="{5FC94C8E-1D7B-47AB-8849-6FE1FA4B2678}">
  <ds:schemaRefs>
    <ds:schemaRef ds:uri="http://purl.org/dc/elements/1.1/"/>
    <ds:schemaRef ds:uri="http://schemas.microsoft.com/office/infopath/2007/PartnerControls"/>
    <ds:schemaRef ds:uri="http://schemas.microsoft.com/office/2006/metadata/properties"/>
    <ds:schemaRef ds:uri="http://schemas.openxmlformats.org/package/2006/metadata/core-properties"/>
    <ds:schemaRef ds:uri="http://schemas.microsoft.com/office/2006/documentManagement/types"/>
    <ds:schemaRef ds:uri="http://purl.org/dc/dcmitype/"/>
    <ds:schemaRef ds:uri="http://purl.org/dc/terms/"/>
    <ds:schemaRef ds:uri="b964a3c2-eaa6-4dcb-80af-fdb8b8d62d68"/>
    <ds:schemaRef ds:uri="http://www.w3.org/XML/1998/namespace"/>
  </ds:schemaRefs>
</ds:datastoreItem>
</file>

<file path=docMetadata/LabelInfo.xml><?xml version="1.0" encoding="utf-8"?>
<clbl:labelList xmlns:clbl="http://schemas.microsoft.com/office/2020/mipLabelMetadata">
  <clbl:label id="{66fecaf8-3dc0-4d2c-b8b8-eff0ddea46f0}" enabled="0" method="" siteId="{66fecaf8-3dc0-4d2c-b8b8-eff0ddea46f0}" removed="1"/>
</clbl:labelList>
</file>

<file path=docProps/app.xml><?xml version="1.0" encoding="utf-8"?>
<Properties xmlns="http://schemas.openxmlformats.org/officeDocument/2006/extended-properties" xmlns:vt="http://schemas.openxmlformats.org/officeDocument/2006/docPropsVTypes">
  <TotalTime>0</TotalTime>
  <Words>1397</Words>
  <Application>Microsoft Office PowerPoint</Application>
  <PresentationFormat>Widescreen</PresentationFormat>
  <Paragraphs>432</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Arial</vt:lpstr>
      <vt:lpstr>Calibri</vt:lpstr>
      <vt:lpstr>Courier New</vt:lpstr>
      <vt:lpstr>Courier New,monospace</vt:lpstr>
      <vt:lpstr>PT Sans</vt:lpstr>
      <vt:lpstr>Wingdings</vt:lpstr>
      <vt:lpstr>Office Theme</vt:lpstr>
      <vt:lpstr>Solar-Power Conversion Kit</vt:lpstr>
      <vt:lpstr>Outline</vt:lpstr>
      <vt:lpstr>Background</vt:lpstr>
      <vt:lpstr>Stakeholders</vt:lpstr>
      <vt:lpstr>Problem Formulation</vt:lpstr>
      <vt:lpstr>Standards and Regulations</vt:lpstr>
      <vt:lpstr>Broader Impacts</vt:lpstr>
      <vt:lpstr>Broader Impacts</vt:lpstr>
      <vt:lpstr>Existing Solutions</vt:lpstr>
      <vt:lpstr>Solar Panel Comparison</vt:lpstr>
      <vt:lpstr>Battery Comparison</vt:lpstr>
      <vt:lpstr>Block Diagram</vt:lpstr>
      <vt:lpstr>Solution Operation</vt:lpstr>
      <vt:lpstr>Detailed Design Subsystems</vt:lpstr>
      <vt:lpstr>Vehicle Preparation: Pre-conversion </vt:lpstr>
      <vt:lpstr>Vehicle Preparation: Specifications &amp; Constraints</vt:lpstr>
      <vt:lpstr>Vehicle Preparation: Overview </vt:lpstr>
      <vt:lpstr>Vehicle Preparation: Interface with Other Subsystems</vt:lpstr>
      <vt:lpstr>Battery Installation</vt:lpstr>
      <vt:lpstr>Battery Installation</vt:lpstr>
      <vt:lpstr>Structural Frame Design </vt:lpstr>
      <vt:lpstr>Structural Frame Design - Constraints</vt:lpstr>
      <vt:lpstr>Structural Frame Design - Overview</vt:lpstr>
      <vt:lpstr>Power Management Subsystem</vt:lpstr>
      <vt:lpstr>Power Management Subsystem</vt:lpstr>
      <vt:lpstr>Solar Energy Subsystem</vt:lpstr>
      <vt:lpstr>Solar Energy Subsystem</vt:lpstr>
      <vt:lpstr>Statement of Contributions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Johnson, Christopher</dc:creator>
  <cp:lastModifiedBy>Snodgrass, Alec (asnodgras42)</cp:lastModifiedBy>
  <cp:revision>1</cp:revision>
  <dcterms:created xsi:type="dcterms:W3CDTF">2025-08-19T14:42:12Z</dcterms:created>
  <dcterms:modified xsi:type="dcterms:W3CDTF">2026-05-04T18:41:12Z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0x0101006AFDE8AA5453C843BB79289872E42DF1</vt:lpwstr>
  </property>
</Properties>
</file>